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0b5b658f5a4594" /><Relationship Type="http://schemas.openxmlformats.org/officeDocument/2006/relationships/extended-properties" Target="/docProps/app.xml" Id="R7a98db454fac4595" /><Relationship Type="http://schemas.openxmlformats.org/officeDocument/2006/relationships/officeDocument" Target="/ppt/presentation.xml" Id="Ra9e01fc435384c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13855cfbaa4d2d"/>
  </p:sldMasterIdLst>
  <p:notesMasterIdLst>
    <p:notesMasterId xmlns:r="http://schemas.openxmlformats.org/officeDocument/2006/relationships" r:id="Radbeaf2baafe475f"/>
  </p:notesMasterIdLst>
  <p:sldIdLst>
    <p:sldId xmlns:r="http://schemas.openxmlformats.org/officeDocument/2006/relationships" id="256" r:id="R46ceb09227034c7e"/>
    <p:sldId xmlns:r="http://schemas.openxmlformats.org/officeDocument/2006/relationships" id="257" r:id="Rd9e0e77daca64b5d"/>
    <p:sldId xmlns:r="http://schemas.openxmlformats.org/officeDocument/2006/relationships" id="258" r:id="R227adc2370cd4cb8"/>
    <p:sldId xmlns:r="http://schemas.openxmlformats.org/officeDocument/2006/relationships" id="259" r:id="R249a53be68794a12"/>
    <p:sldId xmlns:r="http://schemas.openxmlformats.org/officeDocument/2006/relationships" id="260" r:id="R0616f65398fc4c5c"/>
    <p:sldId xmlns:r="http://schemas.openxmlformats.org/officeDocument/2006/relationships" id="261" r:id="R997f9d2f7470454f"/>
    <p:sldId xmlns:r="http://schemas.openxmlformats.org/officeDocument/2006/relationships" id="262" r:id="R15a7a20b206d4048"/>
    <p:sldId xmlns:r="http://schemas.openxmlformats.org/officeDocument/2006/relationships" id="263" r:id="Rd3d2bdb2a304440a"/>
  </p:sldIdLst>
  <p:sldSz cx="10287000" cy="128587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378e8fa06741c0" /><Relationship Type="http://schemas.openxmlformats.org/officeDocument/2006/relationships/slideMaster" Target="/ppt/slideMasters/slideMaster1.xml" Id="R7f13855cfbaa4d2d" /><Relationship Type="http://schemas.openxmlformats.org/officeDocument/2006/relationships/notesMaster" Target="/ppt/notesMasters/notesMaster1.xml" Id="Radbeaf2baafe475f" /><Relationship Type="http://schemas.openxmlformats.org/officeDocument/2006/relationships/presProps" Target="/ppt/presProps.xml" Id="Rb6505a1a85ba49d1" /><Relationship Type="http://schemas.openxmlformats.org/officeDocument/2006/relationships/viewProps" Target="/ppt/viewProps.xml" Id="R125792fd8e844087" /><Relationship Type="http://schemas.openxmlformats.org/officeDocument/2006/relationships/tableStyles" Target="/ppt/tableStyles.xml" Id="Rb7b15e36fe4a4f90" /><Relationship Type="http://schemas.openxmlformats.org/officeDocument/2006/relationships/slide" Target="/ppt/slides/slide1.xml" Id="R46ceb09227034c7e" /><Relationship Type="http://schemas.openxmlformats.org/officeDocument/2006/relationships/slide" Target="/ppt/slides/slide2.xml" Id="Rd9e0e77daca64b5d" /><Relationship Type="http://schemas.openxmlformats.org/officeDocument/2006/relationships/slide" Target="/ppt/slides/slide3.xml" Id="R227adc2370cd4cb8" /><Relationship Type="http://schemas.openxmlformats.org/officeDocument/2006/relationships/slide" Target="/ppt/slides/slide4.xml" Id="R249a53be68794a12" /><Relationship Type="http://schemas.openxmlformats.org/officeDocument/2006/relationships/slide" Target="/ppt/slides/slide5.xml" Id="R0616f65398fc4c5c" /><Relationship Type="http://schemas.openxmlformats.org/officeDocument/2006/relationships/slide" Target="/ppt/slides/slide6.xml" Id="R997f9d2f7470454f" /><Relationship Type="http://schemas.openxmlformats.org/officeDocument/2006/relationships/slide" Target="/ppt/slides/slide7.xml" Id="R15a7a20b206d4048" /><Relationship Type="http://schemas.openxmlformats.org/officeDocument/2006/relationships/slide" Target="/ppt/slides/slide8.xml" Id="Rd3d2bdb2a30444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f0977ab9ab44c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84b210974649e6" /><Relationship Type="http://schemas.openxmlformats.org/officeDocument/2006/relationships/notesMaster" Target="/ppt/notesMasters/notesMaster1.xml" Id="R18e9419905d24e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8ad289e1ec456d" /><Relationship Type="http://schemas.openxmlformats.org/officeDocument/2006/relationships/notesMaster" Target="/ppt/notesMasters/notesMaster1.xml" Id="Rf8e6d590807e44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cbfc109d84436c" /><Relationship Type="http://schemas.openxmlformats.org/officeDocument/2006/relationships/notesMaster" Target="/ppt/notesMasters/notesMaster1.xml" Id="R3eba8910410548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54683972b44e45" /><Relationship Type="http://schemas.openxmlformats.org/officeDocument/2006/relationships/notesMaster" Target="/ppt/notesMasters/notesMaster1.xml" Id="R139d08036a9c47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6d783a7b614b98" /><Relationship Type="http://schemas.openxmlformats.org/officeDocument/2006/relationships/notesMaster" Target="/ppt/notesMasters/notesMaster1.xml" Id="Ra536926b01ab4dd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422397a65549ab" /><Relationship Type="http://schemas.openxmlformats.org/officeDocument/2006/relationships/notesMaster" Target="/ppt/notesMasters/notesMaster1.xml" Id="Rdfb3a1da62c74b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b3a1c62ecb54ae2" /><Relationship Type="http://schemas.openxmlformats.org/officeDocument/2006/relationships/notesMaster" Target="/ppt/notesMasters/notesMaster1.xml" Id="R4727ef225ee843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c3fd741c854426e" /><Relationship Type="http://schemas.openxmlformats.org/officeDocument/2006/relationships/notesMaster" Target="/ppt/notesMasters/notesMaster1.xml" Id="Rd28db4deb58546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BI dashboard image: Power BI/Screenshot 2026-08-31 111930.png</a:t>
            </a:r>
          </a:p>
          <a:p xmlns:a="http://schemas.openxmlformats.org/drawingml/2006/main">
            <a:r>
              <a:t>- Cleaned dataset: cleaned_transportation_logistics_data.xlsx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Logistics_EDA.ipynb: project scope, analytical dimensions, and business questions</a:t>
            </a:r>
          </a:p>
          <a:p xmlns:a="http://schemas.openxmlformats.org/drawingml/2006/main">
            <a:r>
              <a:t>- cleaned_transportation_logistics_data.xlsx: shipment, supplier, customer, vehicle, route, and GPS fields</a:t>
            </a:r>
          </a:p>
          <a:p xmlns:a="http://schemas.openxmlformats.org/drawingml/2006/main">
            <a:r>
              <a:t>- storytelling.txt: business-problem narrative</a:t>
            </a:r>
          </a:p>
          <a:p xmlns:a="http://schemas.openxmlformats.org/drawingml/2006/main">
            <a:r>
              <a:t>- AI-generated conceptual logistics bottleneck visual created for this case study; no factual claims are encoded in the image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cleaned_transportation_logistics_data.xlsx: 6,773 total records; 4,263 delayed; 2,510 on-time</a:t>
            </a:r>
          </a:p>
          <a:p xmlns:a="http://schemas.openxmlformats.org/drawingml/2006/main">
            <a:r>
              <a:t>- Logistics_EDA.ipynb: delivery-status definition and delay analysis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Project_ERD.html: complete 13-table entity relationship model and documented relationships</a:t>
            </a:r>
          </a:p>
          <a:p xmlns:a="http://schemas.openxmlformats.org/drawingml/2006/main">
            <a:r>
              <a:t>- SQL/SQL_Script_Final.sql: final SQL Server schema and Q1-Q10 analytical queries</a:t>
            </a:r>
          </a:p>
          <a:p xmlns:a="http://schemas.openxmlformats.org/drawingml/2006/main">
            <a:r>
              <a:t>- SQL/Tables/*.csv: source tables used by the relational database</a:t>
            </a:r>
          </a:p>
          <a:p xmlns:a="http://schemas.openxmlformats.org/drawingml/2006/main">
            <a:r>
              <a:t>- Note: TrackingEvents, DeliveryAttempts, Payments, and ProofOfDelivery are assumed/demo transactional data used to test the proposed database and query layer; they are separate from the historical EDA KPI dataset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Delay Analysis dashboard page</a:t>
            </a:r>
          </a:p>
          <a:p xmlns:a="http://schemas.openxmlformats.org/drawingml/2006/main">
            <a:r>
              <a:t>- Power BI/🚛 Suppliers &amp; Customers.png: Suppliers and Customers dashboard page</a:t>
            </a:r>
          </a:p>
          <a:p xmlns:a="http://schemas.openxmlformats.org/drawingml/2006/main">
            <a:r>
              <a:t>- Power BI/📡🚗 Fleet &amp; GPS.png: Fleet and GPS dashboard page</a:t>
            </a:r>
          </a:p>
          <a:p xmlns:a="http://schemas.openxmlformats.org/drawingml/2006/main">
            <a:r>
              <a:t>- cleaned_transportation_logistics_data.xlsx: 6,773 shipments and March 2019–September 2020 analysis period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10 months at or above the 96% delay threshold within the July 2019–May 2020 window; April 2020 has no shipment records</a:t>
            </a:r>
          </a:p>
          <a:p xmlns:a="http://schemas.openxmlformats.org/drawingml/2006/main">
            <a:r>
              <a:t>- Power BI/⏱️ Delay Analysis.png: distance-segment and GPS-provider delay rates</a:t>
            </a:r>
          </a:p>
          <a:p xmlns:a="http://schemas.openxmlformats.org/drawingml/2006/main">
            <a:r>
              <a:t>- Power BI/📡🚗 Fleet &amp; GPS.png: vehicle-type volume and delay rates</a:t>
            </a:r>
          </a:p>
          <a:p xmlns:a="http://schemas.openxmlformats.org/drawingml/2006/main">
            <a:r>
              <a:t>- Power BI/🚛 Suppliers &amp; Customers.png: supplier and customer delay rates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distance and GPS-provider risk evidence</a:t>
            </a:r>
          </a:p>
          <a:p xmlns:a="http://schemas.openxmlformats.org/drawingml/2006/main">
            <a:r>
              <a:t>- Power BI/📡🚗 Fleet &amp; GPS.png: vehicle-type delay evidence</a:t>
            </a:r>
          </a:p>
          <a:p xmlns:a="http://schemas.openxmlformats.org/drawingml/2006/main">
            <a:r>
              <a:t>- Power BI/🚛 Suppliers &amp; Customers.png: partner delay evidence and 737 unknown supplier records</a:t>
            </a:r>
          </a:p>
          <a:p xmlns:a="http://schemas.openxmlformats.org/drawingml/2006/main">
            <a:r>
              <a:t>- Recommendations are analytical proposals derived from the documented findings; no unverified performance targets are asserted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repository URL provided by the project author: https://github.com/Mohamedtarek00212/Transportation-Logistics</a:t>
            </a:r>
          </a:p>
          <a:p xmlns:a="http://schemas.openxmlformats.org/drawingml/2006/main">
            <a:r>
              <a:t>- LinkedIn profile URL provided by the project author: https://www.linkedin.com/in/mohamedtarek-aboelkhir/</a:t>
            </a:r>
          </a:p>
          <a:p xmlns:a="http://schemas.openxmlformats.org/drawingml/2006/main">
            <a:r>
              <a:t>- Public Power BI report verified on 2026-08-31: https://app.powerbi.com/view?r=eyJrIjoiNDc1N2JkOTAtNjk1OS00NTg5LTg5ZDEtZTUzY2VhMDQ4YThlIiwidCI6IjJiYjZlNWJjLWMxMDktNDdmYi05NDMzLWMxYzZmNGZhMzNmZiIsImMiOjl9</a:t>
            </a:r>
          </a:p>
          <a:p xmlns:a="http://schemas.openxmlformats.org/drawingml/2006/main">
            <a:r>
              <a:t>- Project scope derived from the user-provided notebook, cleaned dataset, SQL files, screenshots, report, and storytelling file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13f97928c941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cda881628e04eee" /><Relationship Type="http://schemas.openxmlformats.org/officeDocument/2006/relationships/slideLayout" Target="/ppt/slideLayouts/slideLayout1.xml" Id="R65e57f2367fe4fb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e57f2367fe4f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c47415c814c4c" /><Relationship Type="http://schemas.openxmlformats.org/officeDocument/2006/relationships/image" Target="/ppt/media/image.png" Id="R5881782d2620436d" /><Relationship Type="http://schemas.openxmlformats.org/officeDocument/2006/relationships/notesSlide" Target="/ppt/notesSlides/notesSlide1.xml" Id="R07df51c7c3e541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c47359017445c" /><Relationship Type="http://schemas.openxmlformats.org/officeDocument/2006/relationships/image" Target="/ppt/media/image2.png" Id="R25625869d2394d59" /><Relationship Type="http://schemas.openxmlformats.org/officeDocument/2006/relationships/notesSlide" Target="/ppt/notesSlides/notesSlide2.xml" Id="R79d7f68c8f264e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e288698484df5" /><Relationship Type="http://schemas.openxmlformats.org/officeDocument/2006/relationships/chart" Target="/ppt/slides/charts/chart1.xml" Id="R7958cd4e289347b2" /><Relationship Type="http://schemas.openxmlformats.org/officeDocument/2006/relationships/notesSlide" Target="/ppt/notesSlides/notesSlide3.xml" Id="Rebf2ba43930341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81468bcac46f8" /><Relationship Type="http://schemas.openxmlformats.org/officeDocument/2006/relationships/notesSlide" Target="/ppt/notesSlides/notesSlide4.xml" Id="Rf37acc8507af41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ee67a1339540da" /><Relationship Type="http://schemas.openxmlformats.org/officeDocument/2006/relationships/image" Target="/ppt/media/image3.png" Id="Rb51dc94a18714e05" /><Relationship Type="http://schemas.openxmlformats.org/officeDocument/2006/relationships/image" Target="/ppt/media/image4.png" Id="R5f258adfc6cb4e56" /><Relationship Type="http://schemas.openxmlformats.org/officeDocument/2006/relationships/image" Target="/ppt/media/image5.png" Id="R2fc67bab2b7041e5" /><Relationship Type="http://schemas.openxmlformats.org/officeDocument/2006/relationships/notesSlide" Target="/ppt/notesSlides/notesSlide5.xml" Id="R77ab7c9f1ed042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f87ff1c3941da" /><Relationship Type="http://schemas.openxmlformats.org/officeDocument/2006/relationships/notesSlide" Target="/ppt/notesSlides/notesSlide6.xml" Id="R17994b373db045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3c50e5e7cd4f25" /><Relationship Type="http://schemas.openxmlformats.org/officeDocument/2006/relationships/notesSlide" Target="/ppt/notesSlides/notesSlide7.xml" Id="Rb45434cf9e70425b" /></Relationships>
</file>

<file path=ppt/slides/_rels/slide8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c6c764f526cf48db" /><Relationship Type="http://schemas.openxmlformats.org/officeDocument/2006/relationships/notesSlide" Target="/ppt/notesSlides/notesSlide8.xml" Id="R1b681da4f6e54e0b" /><Relationship Id="rId5" Type="http://schemas.openxmlformats.org/officeDocument/2006/relationships/hyperlink" Target="https://app.powerbi.com/view?r=eyJrIjoiNDc1N2JkOTAtNjk1OS00NTg5LTg5ZDEtZTUzY2VhMDQ4YThlIiwidCI6IjJiYjZlNWJjLWMxMDktNDdmYi05NDMzLWMxYzZmNGZhMzNmZiIsImMiOjl9" TargetMode="External" /><Relationship Id="rId3" Type="http://schemas.openxmlformats.org/officeDocument/2006/relationships/hyperlink" Target="https://github.com/Mohamedtarek00212/Transportation-Logistics" TargetMode="External" /><Relationship Id="rId4" Type="http://schemas.openxmlformats.org/officeDocument/2006/relationships/hyperlink" Target="https://www.linkedin.com/in/mohamedtarek-aboelkhir/" TargetMode="External" /></Relationships>
</file>

<file path=ppt/slides/charts/chart1.xml><?xml version="1.0" encoding="utf-8"?>
<c:chartSpace xmlns:c="http://schemas.openxmlformats.org/drawingml/2006/chart">
  <c:lang val="en-US"/>
  <c:roundedCorners val="1"/>
  <c:style val="2"/>
  <c:chart>
    <c:autoTitleDeleted val="1"/>
    <c:plotArea>
      <c:doughnutChart>
        <c:ser>
          <c:idx val="0"/>
          <c:order val="0"/>
          <c:tx>
            <c:v>Shipments</c:v>
          </c:tx>
          <c:dPt>
            <c:idx val="0"/>
            <c:spPr>
              <a:solidFill xmlns:a="http://schemas.openxmlformats.org/drawingml/2006/main">
                <a:srgbClr val="D20A1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3F6B2A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2"/>
              <c:pt idx="0">
                <c:v>Delayed</c:v>
              </c:pt>
              <c:pt idx="1">
                <c:v>On-Time</c:v>
              </c:pt>
            </c:strLit>
          </c:cat>
          <c:val>
            <c:numLit>
              <c:formatCode>General</c:formatCode>
              <c:ptCount val="2"/>
              <c:pt idx="0">
                <c:v>4263</c:v>
              </c:pt>
              <c:pt idx="1">
                <c:v>2510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270"/>
        <c:holeSize val="68"/>
      </c:doughnutChart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accent-line">
            <a:extLst xmlns:a="http://schemas.openxmlformats.org/drawingml/2006/main">
              <a:ext uri="{FF2B5EF4-FFF2-40B4-BE49-F238E27FC236}">
                <a16:creationId xmlns:a16="http://schemas.microsoft.com/office/drawing/2014/main" id="{AAF80B67-1ED6-45CD-AE81-1D5210A1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ase-study-eyebrow">
            <a:extLst xmlns:a="http://schemas.openxmlformats.org/drawingml/2006/main">
              <a:ext uri="{FF2B5EF4-FFF2-40B4-BE49-F238E27FC236}">
                <a16:creationId xmlns:a16="http://schemas.microsoft.com/office/drawing/2014/main" id="{2102C503-3451-461A-8244-AE57C172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END-TO-END DATA ANALYTICS &amp; BI CASE STUDY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70E37AF-ADEC-4E74-BA5A-85AD87B4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01 / 08</a:t>
            </a:r>
          </a:p>
        </p:txBody>
      </p:sp>
      <p:sp>
        <p:nvSpPr>
          <p:cNvPr id="4" name="title-line-one">
            <a:extLst xmlns:a="http://schemas.openxmlformats.org/drawingml/2006/main">
              <a:ext uri="{FF2B5EF4-FFF2-40B4-BE49-F238E27FC236}">
                <a16:creationId xmlns:a16="http://schemas.microsoft.com/office/drawing/2014/main" id="{35E79AAA-A19F-41B7-A7AB-73BD9846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275" b="1">
                <a:solidFill>
                  <a:srgbClr val="082653"/>
                </a:solidFill>
              </a:defRPr>
            </a:pPr>
            <a:r>
              <a:rPr sz="4275" b="1">
                <a:solidFill>
                  <a:srgbClr val="082653"/>
                </a:solidFill>
              </a:rPr>
              <a:t>TRANSPORTATION &amp;</a:t>
            </a:r>
          </a:p>
        </p:txBody>
      </p:sp>
      <p:sp>
        <p:nvSpPr>
          <p:cNvPr id="5" name="title-line-two">
            <a:extLst xmlns:a="http://schemas.openxmlformats.org/drawingml/2006/main">
              <a:ext uri="{FF2B5EF4-FFF2-40B4-BE49-F238E27FC236}">
                <a16:creationId xmlns:a16="http://schemas.microsoft.com/office/drawing/2014/main" id="{90F9F28B-85DE-4EE1-BFAB-CE651B3F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6300" b="1">
                <a:solidFill>
                  <a:srgbClr val="1554A3"/>
                </a:solidFill>
              </a:defRPr>
            </a:pPr>
            <a:r>
              <a:rPr sz="6300" b="1">
                <a:solidFill>
                  <a:srgbClr val="1554A3"/>
                </a:solidFill>
              </a:rPr>
              <a:t>LOGISTICS</a:t>
            </a:r>
          </a:p>
        </p:txBody>
      </p:sp>
      <p:sp>
        <p:nvSpPr>
          <p:cNvPr id="6" name="title-line-three">
            <a:extLst xmlns:a="http://schemas.openxmlformats.org/drawingml/2006/main">
              <a:ext uri="{FF2B5EF4-FFF2-40B4-BE49-F238E27FC236}">
                <a16:creationId xmlns:a16="http://schemas.microsoft.com/office/drawing/2014/main" id="{601CF435-ADBF-4F24-8151-CF3A7F4E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750" b="1">
                <a:solidFill>
                  <a:srgbClr val="1E2D42"/>
                </a:solidFill>
              </a:defRPr>
            </a:pPr>
            <a:r>
              <a:rPr sz="3750" b="1">
                <a:solidFill>
                  <a:srgbClr val="1E2D42"/>
                </a:solidFill>
              </a:rPr>
              <a:t>ANALYTICS DASHBOARD</a:t>
            </a:r>
          </a:p>
        </p:txBody>
      </p:sp>
      <p:sp>
        <p:nvSpPr>
          <p:cNvPr id="7" name="subtitle">
            <a:extLst xmlns:a="http://schemas.openxmlformats.org/drawingml/2006/main">
              <a:ext uri="{FF2B5EF4-FFF2-40B4-BE49-F238E27FC236}">
                <a16:creationId xmlns:a16="http://schemas.microsoft.com/office/drawing/2014/main" id="{7C9FF731-47B5-46DF-955B-C85C3FDE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1E2D42"/>
                </a:solidFill>
              </a:defRPr>
            </a:pPr>
            <a:r>
              <a:rPr sz="1950">
                <a:solidFill>
                  <a:srgbClr val="1E2D42"/>
                </a:solidFill>
              </a:rPr>
              <a:t>Exploring shipment delays, operational bottlenecks, and performance drivers through data.</a:t>
            </a:r>
          </a:p>
        </p:txBody>
      </p:sp>
      <p:sp>
        <p:nvSpPr>
          <p:cNvPr id="8" name="metadata-rule">
            <a:extLst xmlns:a="http://schemas.openxmlformats.org/drawingml/2006/main">
              <a:ext uri="{FF2B5EF4-FFF2-40B4-BE49-F238E27FC236}">
                <a16:creationId xmlns:a16="http://schemas.microsoft.com/office/drawing/2014/main" id="{6A933DCB-887A-48C3-98E9-5EC4720A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891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eriod-and-volume">
            <a:extLst xmlns:a="http://schemas.openxmlformats.org/drawingml/2006/main">
              <a:ext uri="{FF2B5EF4-FFF2-40B4-BE49-F238E27FC236}">
                <a16:creationId xmlns:a16="http://schemas.microsoft.com/office/drawing/2014/main" id="{3C07AACD-0514-4618-9A3B-BB29E9D0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6,773 SHIPMENTS  |  MARCH 2019 - SEPTEMBER 2020</a:t>
            </a:r>
          </a:p>
        </p:txBody>
      </p:sp>
      <p:sp>
        <p:nvSpPr>
          <p:cNvPr id="10" name="tools">
            <a:extLst xmlns:a="http://schemas.openxmlformats.org/drawingml/2006/main">
              <a:ext uri="{FF2B5EF4-FFF2-40B4-BE49-F238E27FC236}">
                <a16:creationId xmlns:a16="http://schemas.microsoft.com/office/drawing/2014/main" id="{F426C310-97CC-416C-AE60-965A3849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67400"/>
            <a:ext cx="302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425" b="1">
                <a:solidFill>
                  <a:srgbClr val="1554A3"/>
                </a:solidFill>
              </a:defRPr>
            </a:pPr>
            <a:r>
              <a:rPr sz="1425" b="1">
                <a:solidFill>
                  <a:srgbClr val="1554A3"/>
                </a:solidFill>
              </a:rPr>
              <a:t>PYTHON  |  SQL  |  POWER BI</a:t>
            </a:r>
          </a:p>
        </p:txBody>
      </p:sp>
      <p:sp>
        <p:nvSpPr>
          <p:cNvPr id="11" name="dashboard-shadow">
            <a:extLst xmlns:a="http://schemas.openxmlformats.org/drawingml/2006/main">
              <a:ext uri="{FF2B5EF4-FFF2-40B4-BE49-F238E27FC236}">
                <a16:creationId xmlns:a16="http://schemas.microsoft.com/office/drawing/2014/main" id="{02D2578B-A729-4FDD-9D9E-C38B0B95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62750"/>
            <a:ext cx="8915400" cy="50292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D5DFED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Picture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81782d2620436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6667500"/>
            <a:ext cx="8915400" cy="5029200"/>
          </a:xfrm>
          <a:prstGeom xmlns:a="http://schemas.openxmlformats.org/drawingml/2006/main" prst="roundRect">
            <a:avLst>
              <a:gd name="adj" fmla="val 2273"/>
            </a:avLst>
          </a:prstGeom>
        </p:spPr>
      </p:pic>
      <p:sp>
        <p:nvSpPr>
          <p:cNvPr id="13" name="author">
            <a:extLst xmlns:a="http://schemas.openxmlformats.org/drawingml/2006/main">
              <a:ext uri="{FF2B5EF4-FFF2-40B4-BE49-F238E27FC236}">
                <a16:creationId xmlns:a16="http://schemas.microsoft.com/office/drawing/2014/main" id="{4ADCE895-95C4-46A4-8EBC-CE754C1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MOHAMED TAREK  |  DATA ANALYST</a:t>
            </a:r>
          </a:p>
        </p:txBody>
      </p:sp>
      <p:sp>
        <p:nvSpPr>
          <p:cNvPr id="14" name="github">
            <a:extLst xmlns:a="http://schemas.openxmlformats.org/drawingml/2006/main">
              <a:ext uri="{FF2B5EF4-FFF2-40B4-BE49-F238E27FC236}">
                <a16:creationId xmlns:a16="http://schemas.microsoft.com/office/drawing/2014/main" id="{98CE4BF5-1368-4698-9552-249295C5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219200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github.com/Mohamedtarek00212/Transportation-Logistics</a:t>
            </a:r>
          </a:p>
        </p:txBody>
      </p:sp>
    </p:spTree>
    <p:extLst>
      <p:ext uri="{BB962C8B-B14F-4D97-AF65-F5344CB8AC3E}">
        <p14:creationId xmlns:p14="http://schemas.microsoft.com/office/powerpoint/2010/main" val="13235894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02-accent-line">
            <a:extLst xmlns:a="http://schemas.openxmlformats.org/drawingml/2006/main">
              <a:ext uri="{FF2B5EF4-FFF2-40B4-BE49-F238E27FC236}">
                <a16:creationId xmlns:a16="http://schemas.microsoft.com/office/drawing/2014/main" id="{390BB1AA-5D29-4386-B036-A063171E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2-eyebrow">
            <a:extLst xmlns:a="http://schemas.openxmlformats.org/drawingml/2006/main">
              <a:ext uri="{FF2B5EF4-FFF2-40B4-BE49-F238E27FC236}">
                <a16:creationId xmlns:a16="http://schemas.microsoft.com/office/drawing/2014/main" id="{455758F2-58F0-48EE-8567-B282E9EB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BUSINESS PROBLEM</a:t>
            </a:r>
          </a:p>
        </p:txBody>
      </p:sp>
      <p:sp>
        <p:nvSpPr>
          <p:cNvPr id="3" name="slide-02-number">
            <a:extLst xmlns:a="http://schemas.openxmlformats.org/drawingml/2006/main">
              <a:ext uri="{FF2B5EF4-FFF2-40B4-BE49-F238E27FC236}">
                <a16:creationId xmlns:a16="http://schemas.microsoft.com/office/drawing/2014/main" id="{DC8B1DCA-652F-4532-80C8-EA373455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8667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02 / 08</a:t>
            </a:r>
          </a:p>
        </p:txBody>
      </p:sp>
      <p:sp>
        <p:nvSpPr>
          <p:cNvPr id="4" name="slide-02-title-line-one">
            <a:extLst xmlns:a="http://schemas.openxmlformats.org/drawingml/2006/main">
              <a:ext uri="{FF2B5EF4-FFF2-40B4-BE49-F238E27FC236}">
                <a16:creationId xmlns:a16="http://schemas.microsoft.com/office/drawing/2014/main" id="{DBCD2464-CFFE-429C-8E1F-F092943E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57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082653"/>
                </a:solidFill>
              </a:defRPr>
            </a:pPr>
            <a:r>
              <a:rPr sz="3900" b="1">
                <a:solidFill>
                  <a:srgbClr val="082653"/>
                </a:solidFill>
              </a:rPr>
              <a:t>WHY ARE SHIPMENTS</a:t>
            </a:r>
          </a:p>
        </p:txBody>
      </p:sp>
      <p:sp>
        <p:nvSpPr>
          <p:cNvPr id="5" name="slide-02-title-line-two">
            <a:extLst xmlns:a="http://schemas.openxmlformats.org/drawingml/2006/main">
              <a:ext uri="{FF2B5EF4-FFF2-40B4-BE49-F238E27FC236}">
                <a16:creationId xmlns:a16="http://schemas.microsoft.com/office/drawing/2014/main" id="{3D526238-2333-4B68-8408-64E1772E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90725"/>
            <a:ext cx="857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D20A16"/>
                </a:solidFill>
              </a:defRPr>
            </a:pPr>
            <a:r>
              <a:rPr sz="5550" b="1">
                <a:solidFill>
                  <a:srgbClr val="D20A16"/>
                </a:solidFill>
              </a:rPr>
              <a:t>DELAYED?</a:t>
            </a:r>
          </a:p>
        </p:txBody>
      </p:sp>
      <p:sp>
        <p:nvSpPr>
          <p:cNvPr id="6" name="slide-02-problem-copy">
            <a:extLst xmlns:a="http://schemas.openxmlformats.org/drawingml/2006/main">
              <a:ext uri="{FF2B5EF4-FFF2-40B4-BE49-F238E27FC236}">
                <a16:creationId xmlns:a16="http://schemas.microsoft.com/office/drawing/2014/main" id="{6A17B598-F5D0-4F9E-BD3B-47C8E94D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891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1E2D42"/>
                </a:solidFill>
              </a:defRPr>
            </a:pPr>
            <a:r>
              <a:rPr sz="1800">
                <a:solidFill>
                  <a:srgbClr val="1E2D42"/>
                </a:solidFill>
              </a:rPr>
              <a:t>Operational data was scattered across suppliers, vehicles, routes, GPS providers, and delivery events. Without one connected view, teams could see delays but not where the operation was breaking down.</a:t>
            </a:r>
          </a:p>
        </p:txBody>
      </p:sp>
      <p:pic>
        <p:nvPicPr>
          <p:cNvPr id="25" name="Picture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625869d2394d5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4095750"/>
            <a:ext cx="8915400" cy="7715250"/>
          </a:xfrm>
          <a:prstGeom xmlns:a="http://schemas.openxmlformats.org/drawingml/2006/main" prst="roundRect">
            <a:avLst>
              <a:gd name="adj" fmla="val 1481"/>
            </a:avLst>
          </a:prstGeom>
        </p:spPr>
      </p:pic>
      <p:sp>
        <p:nvSpPr>
          <p:cNvPr id="8" name="analysis-question-band">
            <a:extLst xmlns:a="http://schemas.openxmlformats.org/drawingml/2006/main">
              <a:ext uri="{FF2B5EF4-FFF2-40B4-BE49-F238E27FC236}">
                <a16:creationId xmlns:a16="http://schemas.microsoft.com/office/drawing/2014/main" id="{5ADCB907-8E4A-4B05-976D-AE5CA52D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0"/>
            <a:ext cx="89154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nalysis-question-one-label">
            <a:extLst xmlns:a="http://schemas.openxmlformats.org/drawingml/2006/main">
              <a:ext uri="{FF2B5EF4-FFF2-40B4-BE49-F238E27FC236}">
                <a16:creationId xmlns:a16="http://schemas.microsoft.com/office/drawing/2014/main" id="{6CE30DB2-4F79-4127-BA36-F4BCA7AD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0325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WHERE?</a:t>
            </a:r>
          </a:p>
        </p:txBody>
      </p:sp>
      <p:sp>
        <p:nvSpPr>
          <p:cNvPr id="10" name="analysis-question-one">
            <a:extLst xmlns:a="http://schemas.openxmlformats.org/drawingml/2006/main">
              <a:ext uri="{FF2B5EF4-FFF2-40B4-BE49-F238E27FC236}">
                <a16:creationId xmlns:a16="http://schemas.microsoft.com/office/drawing/2014/main" id="{73C8223E-F3AF-4C5E-AE77-39CFCEAD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Where do delays concentrate?</a:t>
            </a:r>
          </a:p>
        </p:txBody>
      </p:sp>
      <p:sp>
        <p:nvSpPr>
          <p:cNvPr id="11" name="analysis-question-two-label">
            <a:extLst xmlns:a="http://schemas.openxmlformats.org/drawingml/2006/main">
              <a:ext uri="{FF2B5EF4-FFF2-40B4-BE49-F238E27FC236}">
                <a16:creationId xmlns:a16="http://schemas.microsoft.com/office/drawing/2014/main" id="{7AFDA225-11F3-46F5-A3DA-FD9C1572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0325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47B2A"/>
                </a:solidFill>
              </a:defRPr>
            </a:pPr>
            <a:r>
              <a:rPr sz="1500" b="1">
                <a:solidFill>
                  <a:srgbClr val="F47B2A"/>
                </a:solidFill>
              </a:rPr>
              <a:t>WHO?</a:t>
            </a:r>
          </a:p>
        </p:txBody>
      </p:sp>
      <p:sp>
        <p:nvSpPr>
          <p:cNvPr id="12" name="analysis-question-two">
            <a:extLst xmlns:a="http://schemas.openxmlformats.org/drawingml/2006/main">
              <a:ext uri="{FF2B5EF4-FFF2-40B4-BE49-F238E27FC236}">
                <a16:creationId xmlns:a16="http://schemas.microsoft.com/office/drawing/2014/main" id="{B966022D-CB79-4766-8C30-59F588C9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Who drives the greatest risk?</a:t>
            </a:r>
          </a:p>
        </p:txBody>
      </p:sp>
      <p:sp>
        <p:nvSpPr>
          <p:cNvPr id="13" name="analysis-question-three-label">
            <a:extLst xmlns:a="http://schemas.openxmlformats.org/drawingml/2006/main">
              <a:ext uri="{FF2B5EF4-FFF2-40B4-BE49-F238E27FC236}">
                <a16:creationId xmlns:a16="http://schemas.microsoft.com/office/drawing/2014/main" id="{09C968DE-4FD7-47AB-9611-A26BC247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3251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D20A16"/>
                </a:solidFill>
              </a:defRPr>
            </a:pPr>
            <a:r>
              <a:rPr sz="1500" b="1">
                <a:solidFill>
                  <a:srgbClr val="D20A16"/>
                </a:solidFill>
              </a:rPr>
              <a:t>WHAT NEXT?</a:t>
            </a:r>
          </a:p>
        </p:txBody>
      </p:sp>
      <p:sp>
        <p:nvSpPr>
          <p:cNvPr id="14" name="analysis-question-three">
            <a:extLst xmlns:a="http://schemas.openxmlformats.org/drawingml/2006/main">
              <a:ext uri="{FF2B5EF4-FFF2-40B4-BE49-F238E27FC236}">
                <a16:creationId xmlns:a16="http://schemas.microsoft.com/office/drawing/2014/main" id="{E4CCC49B-6C83-4353-BD41-B91733F2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What should change operationally?</a:t>
            </a:r>
          </a:p>
        </p:txBody>
      </p:sp>
      <p:sp>
        <p:nvSpPr>
          <p:cNvPr id="15" name="slide-02-footer-left">
            <a:extLst xmlns:a="http://schemas.openxmlformats.org/drawingml/2006/main">
              <a:ext uri="{FF2B5EF4-FFF2-40B4-BE49-F238E27FC236}">
                <a16:creationId xmlns:a16="http://schemas.microsoft.com/office/drawing/2014/main" id="{EBDFF049-C742-4C7B-9146-7C822862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16" name="slide-02-footer-right">
            <a:extLst xmlns:a="http://schemas.openxmlformats.org/drawingml/2006/main">
              <a:ext uri="{FF2B5EF4-FFF2-40B4-BE49-F238E27FC236}">
                <a16:creationId xmlns:a16="http://schemas.microsoft.com/office/drawing/2014/main" id="{3E4525A4-1817-4513-A9EB-863DF658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1602183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slide-03-accent-line">
            <a:extLst xmlns:a="http://schemas.openxmlformats.org/drawingml/2006/main">
              <a:ext uri="{FF2B5EF4-FFF2-40B4-BE49-F238E27FC236}">
                <a16:creationId xmlns:a16="http://schemas.microsoft.com/office/drawing/2014/main" id="{55AD9F85-5D94-45F7-9621-DF17FAEC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3-eyebrow">
            <a:extLst xmlns:a="http://schemas.openxmlformats.org/drawingml/2006/main">
              <a:ext uri="{FF2B5EF4-FFF2-40B4-BE49-F238E27FC236}">
                <a16:creationId xmlns:a16="http://schemas.microsoft.com/office/drawing/2014/main" id="{25B45BE3-B469-4C7D-ADD2-9D89F42F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EXPLORATORY DATA ANALYSIS</a:t>
            </a:r>
          </a:p>
        </p:txBody>
      </p:sp>
      <p:sp>
        <p:nvSpPr>
          <p:cNvPr id="3" name="slide-03-number">
            <a:extLst xmlns:a="http://schemas.openxmlformats.org/drawingml/2006/main">
              <a:ext uri="{FF2B5EF4-FFF2-40B4-BE49-F238E27FC236}">
                <a16:creationId xmlns:a16="http://schemas.microsoft.com/office/drawing/2014/main" id="{93DD730C-CEFD-4FAB-B7A3-54EDB265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8667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03 / 08</a:t>
            </a:r>
          </a:p>
        </p:txBody>
      </p:sp>
      <p:sp>
        <p:nvSpPr>
          <p:cNvPr id="4" name="slide-03-title-line-one">
            <a:extLst xmlns:a="http://schemas.openxmlformats.org/drawingml/2006/main">
              <a:ext uri="{FF2B5EF4-FFF2-40B4-BE49-F238E27FC236}">
                <a16:creationId xmlns:a16="http://schemas.microsoft.com/office/drawing/2014/main" id="{01DF7B79-3E79-4944-8F79-712DE5ED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082653"/>
                </a:solidFill>
              </a:defRPr>
            </a:pPr>
            <a:r>
              <a:rPr sz="3900" b="1">
                <a:solidFill>
                  <a:srgbClr val="082653"/>
                </a:solidFill>
              </a:rPr>
              <a:t>62.9% OF SHIPMENTS</a:t>
            </a:r>
          </a:p>
        </p:txBody>
      </p:sp>
      <p:sp>
        <p:nvSpPr>
          <p:cNvPr id="5" name="slide-03-title-line-two">
            <a:extLst xmlns:a="http://schemas.openxmlformats.org/drawingml/2006/main">
              <a:ext uri="{FF2B5EF4-FFF2-40B4-BE49-F238E27FC236}">
                <a16:creationId xmlns:a16="http://schemas.microsoft.com/office/drawing/2014/main" id="{DE76D00B-6E59-4E1F-B7C1-3FC0CF90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857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800" b="1">
                <a:solidFill>
                  <a:srgbClr val="D20A16"/>
                </a:solidFill>
              </a:defRPr>
            </a:pPr>
            <a:r>
              <a:rPr sz="4800" b="1">
                <a:solidFill>
                  <a:srgbClr val="D20A16"/>
                </a:solidFill>
              </a:rPr>
              <a:t>WERE DELAYED</a:t>
            </a:r>
          </a:p>
        </p:txBody>
      </p:sp>
      <p:sp>
        <p:nvSpPr>
          <p:cNvPr id="6" name="slide-03-subtitle">
            <a:extLst xmlns:a="http://schemas.openxmlformats.org/drawingml/2006/main">
              <a:ext uri="{FF2B5EF4-FFF2-40B4-BE49-F238E27FC236}">
                <a16:creationId xmlns:a16="http://schemas.microsoft.com/office/drawing/2014/main" id="{C39363FF-B0CB-4E0F-AEDB-E53E569C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891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The data revealed a systemic delivery performance problem, not isolated exceptions.</a:t>
            </a:r>
          </a:p>
        </p:txBody>
      </p:sp>
      <p:sp>
        <p:nvSpPr>
          <p:cNvPr id="7" name="eda-visual-background">
            <a:extLst xmlns:a="http://schemas.openxmlformats.org/drawingml/2006/main">
              <a:ext uri="{FF2B5EF4-FFF2-40B4-BE49-F238E27FC236}">
                <a16:creationId xmlns:a16="http://schemas.microsoft.com/office/drawing/2014/main" id="{5A3F78A0-73B3-496D-9192-00977A05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286250" cy="70485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8" name="eda-visual-label">
            <a:extLst xmlns:a="http://schemas.openxmlformats.org/drawingml/2006/main">
              <a:ext uri="{FF2B5EF4-FFF2-40B4-BE49-F238E27FC236}">
                <a16:creationId xmlns:a16="http://schemas.microsoft.com/office/drawing/2014/main" id="{0944F68D-7273-4AD3-B821-3AE0574A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DELIVERY STATUS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857250" y="4591050"/>
          <a:ext xmlns:a="http://schemas.openxmlformats.org/drawingml/2006/main" cx="39433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58cd4e289347b2"/>
          </a:graphicData>
        </a:graphic>
      </p:graphicFrame>
      <p:sp>
        <p:nvSpPr>
          <p:cNvPr id="10" name="eda-donut-value">
            <a:extLst xmlns:a="http://schemas.openxmlformats.org/drawingml/2006/main">
              <a:ext uri="{FF2B5EF4-FFF2-40B4-BE49-F238E27FC236}">
                <a16:creationId xmlns:a16="http://schemas.microsoft.com/office/drawing/2014/main" id="{242A1C05-F7F3-41D3-91E1-DC9D6842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895975"/>
            <a:ext cx="257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D20A16"/>
                </a:solidFill>
              </a:defRPr>
            </a:pPr>
            <a:r>
              <a:rPr sz="4350" b="1">
                <a:solidFill>
                  <a:srgbClr val="D20A16"/>
                </a:solidFill>
              </a:rPr>
              <a:t>62.9%</a:t>
            </a:r>
          </a:p>
        </p:txBody>
      </p:sp>
      <p:sp>
        <p:nvSpPr>
          <p:cNvPr id="11" name="eda-donut-label">
            <a:extLst xmlns:a="http://schemas.openxmlformats.org/drawingml/2006/main">
              <a:ext uri="{FF2B5EF4-FFF2-40B4-BE49-F238E27FC236}">
                <a16:creationId xmlns:a16="http://schemas.microsoft.com/office/drawing/2014/main" id="{B324EAE2-7718-496E-9922-BA7F0AD4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6657975"/>
            <a:ext cx="226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82653"/>
                </a:solidFill>
              </a:defRPr>
            </a:pPr>
            <a:r>
              <a:rPr sz="1500" b="1">
                <a:solidFill>
                  <a:srgbClr val="082653"/>
                </a:solidFill>
              </a:rPr>
              <a:t>DELAYED</a:t>
            </a:r>
          </a:p>
        </p:txBody>
      </p:sp>
      <p:sp>
        <p:nvSpPr>
          <p:cNvPr id="12" name="delayed-legend-dot">
            <a:extLst xmlns:a="http://schemas.openxmlformats.org/drawingml/2006/main">
              <a:ext uri="{FF2B5EF4-FFF2-40B4-BE49-F238E27FC236}">
                <a16:creationId xmlns:a16="http://schemas.microsoft.com/office/drawing/2014/main" id="{96CF1038-ABC3-410B-BE1B-00A2343C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610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elayed-legend">
            <a:extLst xmlns:a="http://schemas.openxmlformats.org/drawingml/2006/main">
              <a:ext uri="{FF2B5EF4-FFF2-40B4-BE49-F238E27FC236}">
                <a16:creationId xmlns:a16="http://schemas.microsoft.com/office/drawing/2014/main" id="{D15ADEC6-5BEC-4EB2-91C6-CAD97875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85058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2D42"/>
                </a:solidFill>
              </a:defRPr>
            </a:pPr>
            <a:r>
              <a:rPr sz="1500" b="1">
                <a:solidFill>
                  <a:srgbClr val="1E2D42"/>
                </a:solidFill>
              </a:rPr>
              <a:t>Delayed  4,263  |  62.9%</a:t>
            </a:r>
          </a:p>
        </p:txBody>
      </p:sp>
      <p:sp>
        <p:nvSpPr>
          <p:cNvPr id="14" name="ontime-legend-dot">
            <a:extLst xmlns:a="http://schemas.openxmlformats.org/drawingml/2006/main">
              <a:ext uri="{FF2B5EF4-FFF2-40B4-BE49-F238E27FC236}">
                <a16:creationId xmlns:a16="http://schemas.microsoft.com/office/drawing/2014/main" id="{9F2F8B41-F5AB-41EF-998E-E488B615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096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ntime-legend">
            <a:extLst xmlns:a="http://schemas.openxmlformats.org/drawingml/2006/main">
              <a:ext uri="{FF2B5EF4-FFF2-40B4-BE49-F238E27FC236}">
                <a16:creationId xmlns:a16="http://schemas.microsoft.com/office/drawing/2014/main" id="{3DF89EDC-2F42-4E49-8A8F-258C4EA5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89916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2D42"/>
                </a:solidFill>
              </a:defRPr>
            </a:pPr>
            <a:r>
              <a:rPr sz="1500" b="1">
                <a:solidFill>
                  <a:srgbClr val="1E2D42"/>
                </a:solidFill>
              </a:rPr>
              <a:t>On-Time  2,510  |  37.1%</a:t>
            </a:r>
          </a:p>
        </p:txBody>
      </p:sp>
      <p:sp>
        <p:nvSpPr>
          <p:cNvPr id="16" name="methodology-accent">
            <a:extLst xmlns:a="http://schemas.openxmlformats.org/drawingml/2006/main">
              <a:ext uri="{FF2B5EF4-FFF2-40B4-BE49-F238E27FC236}">
                <a16:creationId xmlns:a16="http://schemas.microsoft.com/office/drawing/2014/main" id="{13EE3ED7-388B-412B-B872-DAB42199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9753600"/>
            <a:ext cx="57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ethodology-label">
            <a:extLst xmlns:a="http://schemas.openxmlformats.org/drawingml/2006/main">
              <a:ext uri="{FF2B5EF4-FFF2-40B4-BE49-F238E27FC236}">
                <a16:creationId xmlns:a16="http://schemas.microsoft.com/office/drawing/2014/main" id="{1DC3803A-B001-4D9F-B75C-E9B57646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696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718096"/>
                </a:solidFill>
              </a:defRPr>
            </a:pPr>
            <a:r>
              <a:rPr sz="1200" b="1">
                <a:solidFill>
                  <a:srgbClr val="718096"/>
                </a:solidFill>
              </a:rPr>
              <a:t>DELAY DEFINITION</a:t>
            </a:r>
          </a:p>
        </p:txBody>
      </p:sp>
      <p:sp>
        <p:nvSpPr>
          <p:cNvPr id="18" name="methodology-copy">
            <a:extLst xmlns:a="http://schemas.openxmlformats.org/drawingml/2006/main">
              <a:ext uri="{FF2B5EF4-FFF2-40B4-BE49-F238E27FC236}">
                <a16:creationId xmlns:a16="http://schemas.microsoft.com/office/drawing/2014/main" id="{6B87AA4D-6688-4BCC-96E2-E3479072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0488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82653"/>
                </a:solidFill>
              </a:defRPr>
            </a:pPr>
            <a:r>
              <a:rPr sz="1650" b="1">
                <a:solidFill>
                  <a:srgbClr val="082653"/>
                </a:solidFill>
              </a:rPr>
              <a:t>Actual ETA &gt; Planned ETA</a:t>
            </a:r>
          </a:p>
        </p:txBody>
      </p:sp>
      <p:sp>
        <p:nvSpPr>
          <p:cNvPr id="19" name="eda-meaning-label">
            <a:extLst xmlns:a="http://schemas.openxmlformats.org/drawingml/2006/main">
              <a:ext uri="{FF2B5EF4-FFF2-40B4-BE49-F238E27FC236}">
                <a16:creationId xmlns:a16="http://schemas.microsoft.com/office/drawing/2014/main" id="{B46E5E97-2B01-4E22-AD03-06A8F6FC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005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54A3"/>
                </a:solidFill>
              </a:defRPr>
            </a:pPr>
            <a:r>
              <a:rPr sz="1350" b="1">
                <a:solidFill>
                  <a:srgbClr val="1554A3"/>
                </a:solidFill>
              </a:rPr>
              <a:t>WHAT THIS MEANS</a:t>
            </a:r>
          </a:p>
        </p:txBody>
      </p:sp>
      <p:sp>
        <p:nvSpPr>
          <p:cNvPr id="20" name="eda-primary-meaning">
            <a:extLst xmlns:a="http://schemas.openxmlformats.org/drawingml/2006/main">
              <a:ext uri="{FF2B5EF4-FFF2-40B4-BE49-F238E27FC236}">
                <a16:creationId xmlns:a16="http://schemas.microsoft.com/office/drawing/2014/main" id="{1AEF3885-1290-41CD-944C-596324E1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514850"/>
            <a:ext cx="4000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82653"/>
                </a:solidFill>
              </a:defRPr>
            </a:pPr>
            <a:r>
              <a:rPr sz="2850" b="1">
                <a:solidFill>
                  <a:srgbClr val="082653"/>
                </a:solidFill>
              </a:rPr>
              <a:t>Nearly 2 in every 3 shipments missed the planned ETA.</a:t>
            </a:r>
          </a:p>
        </p:txBody>
      </p:sp>
      <p:sp>
        <p:nvSpPr>
          <p:cNvPr id="21" name="eda-divider-one">
            <a:extLst xmlns:a="http://schemas.openxmlformats.org/drawingml/2006/main">
              <a:ext uri="{FF2B5EF4-FFF2-40B4-BE49-F238E27FC236}">
                <a16:creationId xmlns:a16="http://schemas.microsoft.com/office/drawing/2014/main" id="{7621FDE9-CE11-461E-B18D-0391C057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17220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eda-insight-one-label">
            <a:extLst xmlns:a="http://schemas.openxmlformats.org/drawingml/2006/main">
              <a:ext uri="{FF2B5EF4-FFF2-40B4-BE49-F238E27FC236}">
                <a16:creationId xmlns:a16="http://schemas.microsoft.com/office/drawing/2014/main" id="{9E4ED580-42F8-4E62-B27B-E75737A1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4579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D20A16"/>
                </a:solidFill>
              </a:defRPr>
            </a:pPr>
            <a:r>
              <a:rPr sz="1275" b="1">
                <a:solidFill>
                  <a:srgbClr val="D20A16"/>
                </a:solidFill>
              </a:rPr>
              <a:t>SYSTEM-WIDE ISSUE</a:t>
            </a:r>
          </a:p>
        </p:txBody>
      </p:sp>
      <p:sp>
        <p:nvSpPr>
          <p:cNvPr id="23" name="eda-insight-one-copy">
            <a:extLst xmlns:a="http://schemas.openxmlformats.org/drawingml/2006/main">
              <a:ext uri="{FF2B5EF4-FFF2-40B4-BE49-F238E27FC236}">
                <a16:creationId xmlns:a16="http://schemas.microsoft.com/office/drawing/2014/main" id="{596DF8FD-94F4-4A55-A380-164F68C8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858000"/>
            <a:ext cx="3905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4,263 of 6,773 cleaned shipment records were classified as delayed.</a:t>
            </a:r>
          </a:p>
        </p:txBody>
      </p:sp>
      <p:sp>
        <p:nvSpPr>
          <p:cNvPr id="24" name="eda-divider-two">
            <a:extLst xmlns:a="http://schemas.openxmlformats.org/drawingml/2006/main">
              <a:ext uri="{FF2B5EF4-FFF2-40B4-BE49-F238E27FC236}">
                <a16:creationId xmlns:a16="http://schemas.microsoft.com/office/drawing/2014/main" id="{0D8D43FD-7E0A-4A83-B5A6-23423510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794385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eda-insight-two-label">
            <a:extLst xmlns:a="http://schemas.openxmlformats.org/drawingml/2006/main">
              <a:ext uri="{FF2B5EF4-FFF2-40B4-BE49-F238E27FC236}">
                <a16:creationId xmlns:a16="http://schemas.microsoft.com/office/drawing/2014/main" id="{DCD4F380-2A4E-4274-B115-57EC031F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82296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47B2A"/>
                </a:solidFill>
              </a:defRPr>
            </a:pPr>
            <a:r>
              <a:rPr sz="1275" b="1">
                <a:solidFill>
                  <a:srgbClr val="F47B2A"/>
                </a:solidFill>
              </a:rPr>
              <a:t>NOT ISOLATED EXCEPTIONS</a:t>
            </a:r>
          </a:p>
        </p:txBody>
      </p:sp>
      <p:sp>
        <p:nvSpPr>
          <p:cNvPr id="26" name="eda-insight-two-copy">
            <a:extLst xmlns:a="http://schemas.openxmlformats.org/drawingml/2006/main">
              <a:ext uri="{FF2B5EF4-FFF2-40B4-BE49-F238E27FC236}">
                <a16:creationId xmlns:a16="http://schemas.microsoft.com/office/drawing/2014/main" id="{1C4932E5-F715-40FB-B656-80918BB2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8629650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Delay patterns shifted across time, distance, suppliers, vehicle types, and GPS providers.</a:t>
            </a:r>
          </a:p>
        </p:txBody>
      </p:sp>
      <p:sp>
        <p:nvSpPr>
          <p:cNvPr id="27" name="eda-next-step-band">
            <a:extLst xmlns:a="http://schemas.openxmlformats.org/drawingml/2006/main">
              <a:ext uri="{FF2B5EF4-FFF2-40B4-BE49-F238E27FC236}">
                <a16:creationId xmlns:a16="http://schemas.microsoft.com/office/drawing/2014/main" id="{99BC15F1-BF8C-46AD-9397-FB1E4AD4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0039350"/>
            <a:ext cx="4324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eda-next-step-label">
            <a:extLst xmlns:a="http://schemas.openxmlformats.org/drawingml/2006/main">
              <a:ext uri="{FF2B5EF4-FFF2-40B4-BE49-F238E27FC236}">
                <a16:creationId xmlns:a16="http://schemas.microsoft.com/office/drawing/2014/main" id="{E0D8379D-2576-480F-B3FE-5DE4BDD3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0239375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47B2A"/>
                </a:solidFill>
              </a:defRPr>
            </a:pPr>
            <a:r>
              <a:rPr sz="1200" b="1">
                <a:solidFill>
                  <a:srgbClr val="F47B2A"/>
                </a:solidFill>
              </a:rPr>
              <a:t>NEXT</a:t>
            </a:r>
          </a:p>
        </p:txBody>
      </p:sp>
      <p:sp>
        <p:nvSpPr>
          <p:cNvPr id="29" name="eda-next-step-copy">
            <a:extLst xmlns:a="http://schemas.openxmlformats.org/drawingml/2006/main">
              <a:ext uri="{FF2B5EF4-FFF2-40B4-BE49-F238E27FC236}">
                <a16:creationId xmlns:a16="http://schemas.microsoft.com/office/drawing/2014/main" id="{21944762-13D8-4D30-AC67-91704222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0572750"/>
            <a:ext cx="3733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Structure the operation for deeper SQL analysis.</a:t>
            </a:r>
          </a:p>
        </p:txBody>
      </p:sp>
      <p:sp>
        <p:nvSpPr>
          <p:cNvPr id="30" name="slide-03-footer-left">
            <a:extLst xmlns:a="http://schemas.openxmlformats.org/drawingml/2006/main">
              <a:ext uri="{FF2B5EF4-FFF2-40B4-BE49-F238E27FC236}">
                <a16:creationId xmlns:a16="http://schemas.microsoft.com/office/drawing/2014/main" id="{BB24BD08-365F-44D0-9CE6-F899941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31" name="slide-03-footer-right">
            <a:extLst xmlns:a="http://schemas.openxmlformats.org/drawingml/2006/main">
              <a:ext uri="{FF2B5EF4-FFF2-40B4-BE49-F238E27FC236}">
                <a16:creationId xmlns:a16="http://schemas.microsoft.com/office/drawing/2014/main" id="{4572BA8F-1D7C-4D98-9245-E83ACF30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9316873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slide-04-top-accent">
            <a:extLst xmlns:a="http://schemas.openxmlformats.org/drawingml/2006/main">
              <a:ext uri="{FF2B5EF4-FFF2-40B4-BE49-F238E27FC236}">
                <a16:creationId xmlns:a16="http://schemas.microsoft.com/office/drawing/2014/main" id="{1D43D28A-6FDD-4CEE-B26C-2B3D5532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4-eyebrow">
            <a:extLst xmlns:a="http://schemas.openxmlformats.org/drawingml/2006/main">
              <a:ext uri="{FF2B5EF4-FFF2-40B4-BE49-F238E27FC236}">
                <a16:creationId xmlns:a16="http://schemas.microsoft.com/office/drawing/2014/main" id="{4EE5BB69-B6DB-4E3C-AF3B-2E8131A2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THE SQL SOLUTION</a:t>
            </a:r>
          </a:p>
        </p:txBody>
      </p:sp>
      <p:sp>
        <p:nvSpPr>
          <p:cNvPr id="3" name="slide-04-number">
            <a:extLst xmlns:a="http://schemas.openxmlformats.org/drawingml/2006/main">
              <a:ext uri="{FF2B5EF4-FFF2-40B4-BE49-F238E27FC236}">
                <a16:creationId xmlns:a16="http://schemas.microsoft.com/office/drawing/2014/main" id="{2C96FF00-E287-4CD2-925F-58907E11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04 / 08</a:t>
            </a:r>
          </a:p>
        </p:txBody>
      </p:sp>
      <p:sp>
        <p:nvSpPr>
          <p:cNvPr id="4" name="slide-04-title">
            <a:extLst xmlns:a="http://schemas.openxmlformats.org/drawingml/2006/main">
              <a:ext uri="{FF2B5EF4-FFF2-40B4-BE49-F238E27FC236}">
                <a16:creationId xmlns:a16="http://schemas.microsoft.com/office/drawing/2014/main" id="{9ACD87E2-7C44-4039-9DBE-3CE92DE1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75" b="1">
                <a:solidFill>
                  <a:srgbClr val="082653"/>
                </a:solidFill>
              </a:defRPr>
            </a:pPr>
            <a:r>
              <a:rPr sz="3075" b="1">
                <a:solidFill>
                  <a:srgbClr val="082653"/>
                </a:solidFill>
              </a:rPr>
              <a:t>A CONNECTED DATABASE FOR</a:t>
            </a:r>
          </a:p>
          <a:p xmlns:a="http://schemas.openxmlformats.org/drawingml/2006/main">
            <a:pPr>
              <a:buNone/>
              <a:defRPr sz="3075" b="1">
                <a:solidFill>
                  <a:srgbClr val="082653"/>
                </a:solidFill>
              </a:defRPr>
            </a:pPr>
            <a:r>
              <a:rPr sz="3075" b="1">
                <a:solidFill>
                  <a:srgbClr val="082653"/>
                </a:solidFill>
              </a:rPr>
              <a:t>END-TO-END SHIPMENT CONTROL</a:t>
            </a:r>
          </a:p>
        </p:txBody>
      </p:sp>
      <p:sp>
        <p:nvSpPr>
          <p:cNvPr id="5" name="slide-04-subtitle">
            <a:extLst xmlns:a="http://schemas.openxmlformats.org/drawingml/2006/main">
              <a:ext uri="{FF2B5EF4-FFF2-40B4-BE49-F238E27FC236}">
                <a16:creationId xmlns:a16="http://schemas.microsoft.com/office/drawing/2014/main" id="{5E9B83C8-6678-43A5-92AC-9DAAFA37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The solution transforms fragmented logistics records into a structured SQL Server data foundation.</a:t>
            </a:r>
          </a:p>
        </p:txBody>
      </p:sp>
      <p:sp>
        <p:nvSpPr>
          <p:cNvPr id="6" name="schema-panel">
            <a:extLst xmlns:a="http://schemas.openxmlformats.org/drawingml/2006/main">
              <a:ext uri="{FF2B5EF4-FFF2-40B4-BE49-F238E27FC236}">
                <a16:creationId xmlns:a16="http://schemas.microsoft.com/office/drawing/2014/main" id="{AD803DFD-1124-4D17-A7C0-53230ED4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4305300" cy="725805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7" name="schema-label">
            <a:extLst xmlns:a="http://schemas.openxmlformats.org/drawingml/2006/main">
              <a:ext uri="{FF2B5EF4-FFF2-40B4-BE49-F238E27FC236}">
                <a16:creationId xmlns:a16="http://schemas.microsoft.com/office/drawing/2014/main" id="{6732F318-9577-44A7-9C64-5F2A5956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SOLUTION ARCHITECTURE</a:t>
            </a:r>
          </a:p>
        </p:txBody>
      </p:sp>
      <p:sp>
        <p:nvSpPr>
          <p:cNvPr id="8" name="architecture-group-0">
            <a:extLst xmlns:a="http://schemas.openxmlformats.org/drawingml/2006/main">
              <a:ext uri="{FF2B5EF4-FFF2-40B4-BE49-F238E27FC236}">
                <a16:creationId xmlns:a16="http://schemas.microsoft.com/office/drawing/2014/main" id="{A7E2C079-44A5-4814-B3CA-19EAB7B5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3848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4FC"/>
          </a:solidFill>
          <a:ln xmlns:a="http://schemas.openxmlformats.org/drawingml/2006/main" w="19050">
            <a:solidFill>
              <a:srgbClr val="2F80ED"/>
            </a:solidFill>
            <a:prstDash val="solid"/>
          </a:ln>
        </p:spPr>
      </p:sp>
      <p:sp>
        <p:nvSpPr>
          <p:cNvPr id="9" name="architecture-group-0-title">
            <a:extLst xmlns:a="http://schemas.openxmlformats.org/drawingml/2006/main">
              <a:ext uri="{FF2B5EF4-FFF2-40B4-BE49-F238E27FC236}">
                <a16:creationId xmlns:a16="http://schemas.microsoft.com/office/drawing/2014/main" id="{0348EDAC-CF2A-4FDC-81A5-4BE9DEAC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434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2F80ED"/>
                </a:solidFill>
              </a:defRPr>
            </a:pPr>
            <a:r>
              <a:rPr sz="975" b="1">
                <a:solidFill>
                  <a:srgbClr val="2F80ED"/>
                </a:solidFill>
              </a:rPr>
              <a:t>REFERENCE DATA</a:t>
            </a:r>
          </a:p>
        </p:txBody>
      </p:sp>
      <p:sp>
        <p:nvSpPr>
          <p:cNvPr id="10" name="architecture-chip-0-0">
            <a:extLst xmlns:a="http://schemas.openxmlformats.org/drawingml/2006/main">
              <a:ext uri="{FF2B5EF4-FFF2-40B4-BE49-F238E27FC236}">
                <a16:creationId xmlns:a16="http://schemas.microsoft.com/office/drawing/2014/main" id="{CAAF6F59-E7B6-447D-BFFE-9D9A0EB8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1" name="architecture-chip-0-0-text">
            <a:extLst xmlns:a="http://schemas.openxmlformats.org/drawingml/2006/main">
              <a:ext uri="{FF2B5EF4-FFF2-40B4-BE49-F238E27FC236}">
                <a16:creationId xmlns:a16="http://schemas.microsoft.com/office/drawing/2014/main" id="{39F24CE7-CC1D-4D3C-916B-82632454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053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Countries</a:t>
            </a:r>
          </a:p>
        </p:txBody>
      </p:sp>
      <p:sp>
        <p:nvSpPr>
          <p:cNvPr id="12" name="architecture-chip-0-1">
            <a:extLst xmlns:a="http://schemas.openxmlformats.org/drawingml/2006/main">
              <a:ext uri="{FF2B5EF4-FFF2-40B4-BE49-F238E27FC236}">
                <a16:creationId xmlns:a16="http://schemas.microsoft.com/office/drawing/2014/main" id="{7F29AD6D-9913-491C-A962-FF03237A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291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3" name="architecture-chip-0-1-text">
            <a:extLst xmlns:a="http://schemas.openxmlformats.org/drawingml/2006/main">
              <a:ext uri="{FF2B5EF4-FFF2-40B4-BE49-F238E27FC236}">
                <a16:creationId xmlns:a16="http://schemas.microsoft.com/office/drawing/2014/main" id="{C4BCBAAF-1691-46CF-8B16-2C953677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053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Shipment Status</a:t>
            </a:r>
          </a:p>
        </p:txBody>
      </p:sp>
      <p:sp>
        <p:nvSpPr>
          <p:cNvPr id="14" name="architecture-chip-0-2">
            <a:extLst xmlns:a="http://schemas.openxmlformats.org/drawingml/2006/main">
              <a:ext uri="{FF2B5EF4-FFF2-40B4-BE49-F238E27FC236}">
                <a16:creationId xmlns:a16="http://schemas.microsoft.com/office/drawing/2014/main" id="{C340A8A6-E74D-4FE2-8A95-464940B3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673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5" name="architecture-chip-0-2-text">
            <a:extLst xmlns:a="http://schemas.openxmlformats.org/drawingml/2006/main">
              <a:ext uri="{FF2B5EF4-FFF2-40B4-BE49-F238E27FC236}">
                <a16:creationId xmlns:a16="http://schemas.microsoft.com/office/drawing/2014/main" id="{45F61144-EB33-4B19-9862-B0741874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Material</a:t>
            </a:r>
          </a:p>
        </p:txBody>
      </p:sp>
      <p:sp>
        <p:nvSpPr>
          <p:cNvPr id="16" name="architecture-chip-0-3">
            <a:extLst xmlns:a="http://schemas.openxmlformats.org/drawingml/2006/main">
              <a:ext uri="{FF2B5EF4-FFF2-40B4-BE49-F238E27FC236}">
                <a16:creationId xmlns:a16="http://schemas.microsoft.com/office/drawing/2014/main" id="{439EF914-301C-472F-91C9-32554B27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673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7" name="architecture-chip-0-3-text">
            <a:extLst xmlns:a="http://schemas.openxmlformats.org/drawingml/2006/main">
              <a:ext uri="{FF2B5EF4-FFF2-40B4-BE49-F238E27FC236}">
                <a16:creationId xmlns:a16="http://schemas.microsoft.com/office/drawing/2014/main" id="{B9F3F673-1AAC-4AFC-BC0D-3EA695D2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1435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Failure Reasons</a:t>
            </a:r>
          </a:p>
        </p:txBody>
      </p:sp>
      <p:sp>
        <p:nvSpPr>
          <p:cNvPr id="18" name="architecture-group-1">
            <a:extLst xmlns:a="http://schemas.openxmlformats.org/drawingml/2006/main">
              <a:ext uri="{FF2B5EF4-FFF2-40B4-BE49-F238E27FC236}">
                <a16:creationId xmlns:a16="http://schemas.microsoft.com/office/drawing/2014/main" id="{342EB1B1-6D3E-45ED-A861-8880F1A1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62600"/>
            <a:ext cx="3848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19050">
            <a:solidFill>
              <a:srgbClr val="1554A3"/>
            </a:solidFill>
            <a:prstDash val="solid"/>
          </a:ln>
        </p:spPr>
      </p:sp>
      <p:sp>
        <p:nvSpPr>
          <p:cNvPr id="19" name="architecture-group-1-title">
            <a:extLst xmlns:a="http://schemas.openxmlformats.org/drawingml/2006/main">
              <a:ext uri="{FF2B5EF4-FFF2-40B4-BE49-F238E27FC236}">
                <a16:creationId xmlns:a16="http://schemas.microsoft.com/office/drawing/2014/main" id="{E17E10A6-B71A-4204-8DE3-37E16E5D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95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554A3"/>
                </a:solidFill>
              </a:defRPr>
            </a:pPr>
            <a:r>
              <a:rPr sz="975" b="1">
                <a:solidFill>
                  <a:srgbClr val="1554A3"/>
                </a:solidFill>
              </a:rPr>
              <a:t>BUSINESS ENTITIES</a:t>
            </a:r>
          </a:p>
        </p:txBody>
      </p:sp>
      <p:sp>
        <p:nvSpPr>
          <p:cNvPr id="20" name="architecture-chip-1-0">
            <a:extLst xmlns:a="http://schemas.openxmlformats.org/drawingml/2006/main">
              <a:ext uri="{FF2B5EF4-FFF2-40B4-BE49-F238E27FC236}">
                <a16:creationId xmlns:a16="http://schemas.microsoft.com/office/drawing/2014/main" id="{792C9633-7784-4442-BD31-41BFD985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817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1" name="architecture-chip-1-0-text">
            <a:extLst xmlns:a="http://schemas.openxmlformats.org/drawingml/2006/main">
              <a:ext uri="{FF2B5EF4-FFF2-40B4-BE49-F238E27FC236}">
                <a16:creationId xmlns:a16="http://schemas.microsoft.com/office/drawing/2014/main" id="{06358FDB-A9AE-485B-B073-DD36B0B7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0579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Customers</a:t>
            </a:r>
          </a:p>
        </p:txBody>
      </p:sp>
      <p:sp>
        <p:nvSpPr>
          <p:cNvPr id="22" name="architecture-chip-1-1">
            <a:extLst xmlns:a="http://schemas.openxmlformats.org/drawingml/2006/main">
              <a:ext uri="{FF2B5EF4-FFF2-40B4-BE49-F238E27FC236}">
                <a16:creationId xmlns:a16="http://schemas.microsoft.com/office/drawing/2014/main" id="{F33F3D07-8157-4CC2-A9C7-C0293491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9817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3" name="architecture-chip-1-1-text">
            <a:extLst xmlns:a="http://schemas.openxmlformats.org/drawingml/2006/main">
              <a:ext uri="{FF2B5EF4-FFF2-40B4-BE49-F238E27FC236}">
                <a16:creationId xmlns:a16="http://schemas.microsoft.com/office/drawing/2014/main" id="{B95322F3-7E3C-41BB-B622-A5E6493A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60579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Hubs</a:t>
            </a:r>
          </a:p>
        </p:txBody>
      </p:sp>
      <p:sp>
        <p:nvSpPr>
          <p:cNvPr id="24" name="architecture-chip-1-2">
            <a:extLst xmlns:a="http://schemas.openxmlformats.org/drawingml/2006/main">
              <a:ext uri="{FF2B5EF4-FFF2-40B4-BE49-F238E27FC236}">
                <a16:creationId xmlns:a16="http://schemas.microsoft.com/office/drawing/2014/main" id="{ECBF3ED2-D8AD-4164-B1F5-47BA4971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4198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5" name="architecture-chip-1-2-text">
            <a:extLst xmlns:a="http://schemas.openxmlformats.org/drawingml/2006/main">
              <a:ext uri="{FF2B5EF4-FFF2-40B4-BE49-F238E27FC236}">
                <a16:creationId xmlns:a16="http://schemas.microsoft.com/office/drawing/2014/main" id="{78137861-0F63-4590-802E-C1E29E6E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4960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Employees</a:t>
            </a:r>
          </a:p>
        </p:txBody>
      </p:sp>
      <p:sp>
        <p:nvSpPr>
          <p:cNvPr id="26" name="architecture-chip-1-3">
            <a:extLst xmlns:a="http://schemas.openxmlformats.org/drawingml/2006/main">
              <a:ext uri="{FF2B5EF4-FFF2-40B4-BE49-F238E27FC236}">
                <a16:creationId xmlns:a16="http://schemas.microsoft.com/office/drawing/2014/main" id="{A089C376-12F0-4E31-8F64-5F7CE5A9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198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7" name="architecture-chip-1-3-text">
            <a:extLst xmlns:a="http://schemas.openxmlformats.org/drawingml/2006/main">
              <a:ext uri="{FF2B5EF4-FFF2-40B4-BE49-F238E27FC236}">
                <a16:creationId xmlns:a16="http://schemas.microsoft.com/office/drawing/2014/main" id="{7E1D696C-D424-4DD5-A2C7-E337006D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64960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Couriers</a:t>
            </a:r>
          </a:p>
        </p:txBody>
      </p:sp>
      <p:sp>
        <p:nvSpPr>
          <p:cNvPr id="28" name="architecture-group-2">
            <a:extLst xmlns:a="http://schemas.openxmlformats.org/drawingml/2006/main">
              <a:ext uri="{FF2B5EF4-FFF2-40B4-BE49-F238E27FC236}">
                <a16:creationId xmlns:a16="http://schemas.microsoft.com/office/drawing/2014/main" id="{4EB31928-7C05-4538-9D68-C8E6D8BB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53400"/>
            <a:ext cx="38481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7F1"/>
          </a:solidFill>
          <a:ln xmlns:a="http://schemas.openxmlformats.org/drawingml/2006/main" w="19050">
            <a:solidFill>
              <a:srgbClr val="F47B2A"/>
            </a:solidFill>
            <a:prstDash val="solid"/>
          </a:ln>
        </p:spPr>
      </p:sp>
      <p:sp>
        <p:nvSpPr>
          <p:cNvPr id="29" name="architecture-group-2-title">
            <a:extLst xmlns:a="http://schemas.openxmlformats.org/drawingml/2006/main">
              <a:ext uri="{FF2B5EF4-FFF2-40B4-BE49-F238E27FC236}">
                <a16:creationId xmlns:a16="http://schemas.microsoft.com/office/drawing/2014/main" id="{D1491100-EF32-4EF5-85EA-15FBD912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82867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47B2A"/>
                </a:solidFill>
              </a:defRPr>
            </a:pPr>
            <a:r>
              <a:rPr sz="975" b="1">
                <a:solidFill>
                  <a:srgbClr val="F47B2A"/>
                </a:solidFill>
              </a:rPr>
              <a:t>CONNECTED OPERATIONS</a:t>
            </a:r>
          </a:p>
        </p:txBody>
      </p:sp>
      <p:sp>
        <p:nvSpPr>
          <p:cNvPr id="30" name="architecture-chip-2-0">
            <a:extLst xmlns:a="http://schemas.openxmlformats.org/drawingml/2006/main">
              <a:ext uri="{FF2B5EF4-FFF2-40B4-BE49-F238E27FC236}">
                <a16:creationId xmlns:a16="http://schemas.microsoft.com/office/drawing/2014/main" id="{719426D3-4F2D-4BCE-A7DF-8EF82A17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5725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1" name="architecture-chip-2-0-text">
            <a:extLst xmlns:a="http://schemas.openxmlformats.org/drawingml/2006/main">
              <a:ext uri="{FF2B5EF4-FFF2-40B4-BE49-F238E27FC236}">
                <a16:creationId xmlns:a16="http://schemas.microsoft.com/office/drawing/2014/main" id="{7BDFA5AF-1744-406B-81F2-03EF730A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6487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Tracking Events</a:t>
            </a:r>
          </a:p>
        </p:txBody>
      </p:sp>
      <p:sp>
        <p:nvSpPr>
          <p:cNvPr id="32" name="architecture-chip-2-1">
            <a:extLst xmlns:a="http://schemas.openxmlformats.org/drawingml/2006/main">
              <a:ext uri="{FF2B5EF4-FFF2-40B4-BE49-F238E27FC236}">
                <a16:creationId xmlns:a16="http://schemas.microsoft.com/office/drawing/2014/main" id="{F04BF392-1A93-4E76-B072-4D626D46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85725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3" name="architecture-chip-2-1-text">
            <a:extLst xmlns:a="http://schemas.openxmlformats.org/drawingml/2006/main">
              <a:ext uri="{FF2B5EF4-FFF2-40B4-BE49-F238E27FC236}">
                <a16:creationId xmlns:a16="http://schemas.microsoft.com/office/drawing/2014/main" id="{025CA8BD-61A6-4EDC-8623-38E306BD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86487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Delivery Attempts</a:t>
            </a:r>
          </a:p>
        </p:txBody>
      </p:sp>
      <p:sp>
        <p:nvSpPr>
          <p:cNvPr id="34" name="architecture-chip-2-2">
            <a:extLst xmlns:a="http://schemas.openxmlformats.org/drawingml/2006/main">
              <a:ext uri="{FF2B5EF4-FFF2-40B4-BE49-F238E27FC236}">
                <a16:creationId xmlns:a16="http://schemas.microsoft.com/office/drawing/2014/main" id="{0C7C080C-5061-405E-AEAD-D0E214AE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0106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5" name="architecture-chip-2-2-text">
            <a:extLst xmlns:a="http://schemas.openxmlformats.org/drawingml/2006/main">
              <a:ext uri="{FF2B5EF4-FFF2-40B4-BE49-F238E27FC236}">
                <a16:creationId xmlns:a16="http://schemas.microsoft.com/office/drawing/2014/main" id="{344EF33A-9B7A-4CB4-9B73-215487B2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868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Payments</a:t>
            </a:r>
          </a:p>
        </p:txBody>
      </p:sp>
      <p:sp>
        <p:nvSpPr>
          <p:cNvPr id="36" name="architecture-chip-2-3">
            <a:extLst xmlns:a="http://schemas.openxmlformats.org/drawingml/2006/main">
              <a:ext uri="{FF2B5EF4-FFF2-40B4-BE49-F238E27FC236}">
                <a16:creationId xmlns:a16="http://schemas.microsoft.com/office/drawing/2014/main" id="{BB95C13C-C09C-44B2-AC27-559F0CC4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90106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7" name="architecture-chip-2-3-text">
            <a:extLst xmlns:a="http://schemas.openxmlformats.org/drawingml/2006/main">
              <a:ext uri="{FF2B5EF4-FFF2-40B4-BE49-F238E27FC236}">
                <a16:creationId xmlns:a16="http://schemas.microsoft.com/office/drawing/2014/main" id="{B12B22D2-B70A-4A12-B6CF-24420E7F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90868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Proof of Delivery</a:t>
            </a:r>
          </a:p>
        </p:txBody>
      </p:sp>
      <p:sp>
        <p:nvSpPr>
          <p:cNvPr id="38" name="reference-to-core-line">
            <a:extLst xmlns:a="http://schemas.openxmlformats.org/drawingml/2006/main">
              <a:ext uri="{FF2B5EF4-FFF2-40B4-BE49-F238E27FC236}">
                <a16:creationId xmlns:a16="http://schemas.microsoft.com/office/drawing/2014/main" id="{9092DFF7-7F1E-46CA-A2C0-0E41968C2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391150"/>
            <a:ext cx="38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entities-to-shipment-line">
            <a:extLst xmlns:a="http://schemas.openxmlformats.org/drawingml/2006/main">
              <a:ext uri="{FF2B5EF4-FFF2-40B4-BE49-F238E27FC236}">
                <a16:creationId xmlns:a16="http://schemas.microsoft.com/office/drawing/2014/main" id="{FED6A732-A290-4483-8E8F-40CD19E9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67437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entities-to-shipment-arrow">
            <a:extLst xmlns:a="http://schemas.openxmlformats.org/drawingml/2006/main">
              <a:ext uri="{FF2B5EF4-FFF2-40B4-BE49-F238E27FC236}">
                <a16:creationId xmlns:a16="http://schemas.microsoft.com/office/drawing/2014/main" id="{3303A54C-0A0F-484C-A53C-63830F7F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6858000"/>
            <a:ext cx="2476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shipments-core">
            <a:extLst xmlns:a="http://schemas.openxmlformats.org/drawingml/2006/main">
              <a:ext uri="{FF2B5EF4-FFF2-40B4-BE49-F238E27FC236}">
                <a16:creationId xmlns:a16="http://schemas.microsoft.com/office/drawing/2014/main" id="{50161818-BFAF-4A37-B8C2-63055A08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029450"/>
            <a:ext cx="35433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19050">
            <a:solidFill>
              <a:srgbClr val="1554A3"/>
            </a:solidFill>
            <a:prstDash val="solid"/>
          </a:ln>
        </p:spPr>
      </p:sp>
      <p:sp>
        <p:nvSpPr>
          <p:cNvPr id="42" name="shipments-core-icon">
            <a:extLst xmlns:a="http://schemas.openxmlformats.org/drawingml/2006/main">
              <a:ext uri="{FF2B5EF4-FFF2-40B4-BE49-F238E27FC236}">
                <a16:creationId xmlns:a16="http://schemas.microsoft.com/office/drawing/2014/main" id="{EB658102-99DB-4EDC-A8D3-32B552EB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71818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shipments-core-icon-text">
            <a:extLst xmlns:a="http://schemas.openxmlformats.org/drawingml/2006/main">
              <a:ext uri="{FF2B5EF4-FFF2-40B4-BE49-F238E27FC236}">
                <a16:creationId xmlns:a16="http://schemas.microsoft.com/office/drawing/2014/main" id="{590DE88D-F908-4227-94B5-4A780BF7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735330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44" name="shipments-core-title">
            <a:extLst xmlns:a="http://schemas.openxmlformats.org/drawingml/2006/main">
              <a:ext uri="{FF2B5EF4-FFF2-40B4-BE49-F238E27FC236}">
                <a16:creationId xmlns:a16="http://schemas.microsoft.com/office/drawing/2014/main" id="{57CD2B7D-2360-4E4C-9CD3-4B69D4AA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7143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SHIPMENTS</a:t>
            </a:r>
          </a:p>
        </p:txBody>
      </p:sp>
      <p:sp>
        <p:nvSpPr>
          <p:cNvPr id="45" name="shipments-core-copy">
            <a:extLst xmlns:a="http://schemas.openxmlformats.org/drawingml/2006/main">
              <a:ext uri="{FF2B5EF4-FFF2-40B4-BE49-F238E27FC236}">
                <a16:creationId xmlns:a16="http://schemas.microsoft.com/office/drawing/2014/main" id="{3018B144-D1A5-425B-B8B6-5FA778EE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7467600"/>
            <a:ext cx="2266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Connects sender, receiver, hubs, status, material, and failure reason.</a:t>
            </a:r>
          </a:p>
        </p:txBody>
      </p:sp>
      <p:sp>
        <p:nvSpPr>
          <p:cNvPr id="46" name="shipment-to-operations-line">
            <a:extLst xmlns:a="http://schemas.openxmlformats.org/drawingml/2006/main">
              <a:ext uri="{FF2B5EF4-FFF2-40B4-BE49-F238E27FC236}">
                <a16:creationId xmlns:a16="http://schemas.microsoft.com/office/drawing/2014/main" id="{636421DD-32B1-429F-ABCE-1A79628F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79248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shipment-to-operations-arrow">
            <a:extLst xmlns:a="http://schemas.openxmlformats.org/drawingml/2006/main">
              <a:ext uri="{FF2B5EF4-FFF2-40B4-BE49-F238E27FC236}">
                <a16:creationId xmlns:a16="http://schemas.microsoft.com/office/drawing/2014/main" id="{265D50B4-1E6B-4320-BB14-BB7605A4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8039100"/>
            <a:ext cx="2476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architecture-count">
            <a:extLst xmlns:a="http://schemas.openxmlformats.org/drawingml/2006/main">
              <a:ext uri="{FF2B5EF4-FFF2-40B4-BE49-F238E27FC236}">
                <a16:creationId xmlns:a16="http://schemas.microsoft.com/office/drawing/2014/main" id="{E971E40F-F39A-4BFD-9BEE-66D29BF2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97917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82653"/>
                </a:solidFill>
              </a:defRPr>
            </a:pPr>
            <a:r>
              <a:rPr sz="1050" b="1">
                <a:solidFill>
                  <a:srgbClr val="082653"/>
                </a:solidFill>
              </a:rPr>
              <a:t>13 tables connected through primary and foreign keys</a:t>
            </a:r>
          </a:p>
        </p:txBody>
      </p:sp>
      <p:sp>
        <p:nvSpPr>
          <p:cNvPr id="49" name="architecture-caption">
            <a:extLst xmlns:a="http://schemas.openxmlformats.org/drawingml/2006/main">
              <a:ext uri="{FF2B5EF4-FFF2-40B4-BE49-F238E27FC236}">
                <a16:creationId xmlns:a16="http://schemas.microsoft.com/office/drawing/2014/main" id="{63159608-FD2C-4DDD-ADD2-F11B7BBF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01346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>
                <a:solidFill>
                  <a:srgbClr val="718096"/>
                </a:solidFill>
              </a:defRPr>
            </a:pPr>
            <a:r>
              <a:rPr sz="975">
                <a:solidFill>
                  <a:srgbClr val="718096"/>
                </a:solidFill>
              </a:rPr>
              <a:t>Simplified solution view  ·  Full ERD documented in the project</a:t>
            </a:r>
          </a:p>
        </p:txBody>
      </p:sp>
      <p:sp>
        <p:nvSpPr>
          <p:cNvPr id="50" name="model-intro">
            <a:extLst xmlns:a="http://schemas.openxmlformats.org/drawingml/2006/main">
              <a:ext uri="{FF2B5EF4-FFF2-40B4-BE49-F238E27FC236}">
                <a16:creationId xmlns:a16="http://schemas.microsoft.com/office/drawing/2014/main" id="{E7473BCD-AF61-4997-9DDB-F9196C38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43300"/>
            <a:ext cx="4191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E2D42"/>
                </a:solidFill>
              </a:defRPr>
            </a:pPr>
            <a:r>
              <a:rPr sz="1650" b="1">
                <a:solidFill>
                  <a:srgbClr val="1E2D42"/>
                </a:solidFill>
              </a:rPr>
              <a:t>I designed a relational SQL Server database to turn disconnected records into one traceable logistics system.</a:t>
            </a:r>
          </a:p>
        </p:txBody>
      </p:sp>
      <p:sp>
        <p:nvSpPr>
          <p:cNvPr id="51" name="metric-tables">
            <a:extLst xmlns:a="http://schemas.openxmlformats.org/drawingml/2006/main">
              <a:ext uri="{FF2B5EF4-FFF2-40B4-BE49-F238E27FC236}">
                <a16:creationId xmlns:a16="http://schemas.microsoft.com/office/drawing/2014/main" id="{C404F265-D74E-4A38-9F6A-A0DA2B1F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629150"/>
            <a:ext cx="19621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metric-tables-value">
            <a:extLst xmlns:a="http://schemas.openxmlformats.org/drawingml/2006/main">
              <a:ext uri="{FF2B5EF4-FFF2-40B4-BE49-F238E27FC236}">
                <a16:creationId xmlns:a16="http://schemas.microsoft.com/office/drawing/2014/main" id="{0C8A1D57-49A2-4128-B060-2EEA9375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7625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53" name="metric-tables-label">
            <a:extLst xmlns:a="http://schemas.openxmlformats.org/drawingml/2006/main">
              <a:ext uri="{FF2B5EF4-FFF2-40B4-BE49-F238E27FC236}">
                <a16:creationId xmlns:a16="http://schemas.microsoft.com/office/drawing/2014/main" id="{E056BC77-5FD4-410D-8DF9-E0233041B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3149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RELATIONAL TABLES</a:t>
            </a:r>
          </a:p>
        </p:txBody>
      </p:sp>
      <p:sp>
        <p:nvSpPr>
          <p:cNvPr id="54" name="metric-queries">
            <a:extLst xmlns:a="http://schemas.openxmlformats.org/drawingml/2006/main">
              <a:ext uri="{FF2B5EF4-FFF2-40B4-BE49-F238E27FC236}">
                <a16:creationId xmlns:a16="http://schemas.microsoft.com/office/drawing/2014/main" id="{CEF31DDE-A812-4D78-B6E7-E536836E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29150"/>
            <a:ext cx="2038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metric-queries-value">
            <a:extLst xmlns:a="http://schemas.openxmlformats.org/drawingml/2006/main">
              <a:ext uri="{FF2B5EF4-FFF2-40B4-BE49-F238E27FC236}">
                <a16:creationId xmlns:a16="http://schemas.microsoft.com/office/drawing/2014/main" id="{776D401E-AC59-4CB3-830D-911C1AD5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76250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6" name="metric-queries-label">
            <a:extLst xmlns:a="http://schemas.openxmlformats.org/drawingml/2006/main">
              <a:ext uri="{FF2B5EF4-FFF2-40B4-BE49-F238E27FC236}">
                <a16:creationId xmlns:a16="http://schemas.microsoft.com/office/drawing/2014/main" id="{657B687D-8601-459B-87D3-FFC9CF69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ANALYTICAL QUERIES</a:t>
            </a:r>
          </a:p>
        </p:txBody>
      </p:sp>
      <p:sp>
        <p:nvSpPr>
          <p:cNvPr id="57" name="point-01">
            <a:extLst xmlns:a="http://schemas.openxmlformats.org/drawingml/2006/main">
              <a:ext uri="{FF2B5EF4-FFF2-40B4-BE49-F238E27FC236}">
                <a16:creationId xmlns:a16="http://schemas.microsoft.com/office/drawing/2014/main" id="{E18D92B9-2793-4C13-9AB8-AC11BAD0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61150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point-01-number">
            <a:extLst xmlns:a="http://schemas.openxmlformats.org/drawingml/2006/main">
              <a:ext uri="{FF2B5EF4-FFF2-40B4-BE49-F238E27FC236}">
                <a16:creationId xmlns:a16="http://schemas.microsoft.com/office/drawing/2014/main" id="{9FB5F10B-A03B-4FEA-BD54-0CBA768D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61912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59" name="point-01-heading">
            <a:extLst xmlns:a="http://schemas.openxmlformats.org/drawingml/2006/main">
              <a:ext uri="{FF2B5EF4-FFF2-40B4-BE49-F238E27FC236}">
                <a16:creationId xmlns:a16="http://schemas.microsoft.com/office/drawing/2014/main" id="{5E377CF0-FB10-4FAF-A3A4-CA39B69F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610552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SINGLE SOURCE OF TRUTH</a:t>
            </a:r>
          </a:p>
        </p:txBody>
      </p:sp>
      <p:sp>
        <p:nvSpPr>
          <p:cNvPr id="60" name="point-01-body">
            <a:extLst xmlns:a="http://schemas.openxmlformats.org/drawingml/2006/main">
              <a:ext uri="{FF2B5EF4-FFF2-40B4-BE49-F238E27FC236}">
                <a16:creationId xmlns:a16="http://schemas.microsoft.com/office/drawing/2014/main" id="{4489E8AF-BB3C-439F-91E7-A49DCA3E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643890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Customers, hubs, reference data, and shipments are connected through validated relationships.</a:t>
            </a:r>
          </a:p>
        </p:txBody>
      </p:sp>
      <p:sp>
        <p:nvSpPr>
          <p:cNvPr id="61" name="point-02">
            <a:extLst xmlns:a="http://schemas.openxmlformats.org/drawingml/2006/main">
              <a:ext uri="{FF2B5EF4-FFF2-40B4-BE49-F238E27FC236}">
                <a16:creationId xmlns:a16="http://schemas.microsoft.com/office/drawing/2014/main" id="{EEE16CE5-E3EC-48A2-B90E-4DA331D9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7467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oint-02-number">
            <a:extLst xmlns:a="http://schemas.openxmlformats.org/drawingml/2006/main">
              <a:ext uri="{FF2B5EF4-FFF2-40B4-BE49-F238E27FC236}">
                <a16:creationId xmlns:a16="http://schemas.microsoft.com/office/drawing/2014/main" id="{64737315-7ED9-435A-8AA9-223C70F6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7543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3" name="point-02-heading">
            <a:extLst xmlns:a="http://schemas.openxmlformats.org/drawingml/2006/main">
              <a:ext uri="{FF2B5EF4-FFF2-40B4-BE49-F238E27FC236}">
                <a16:creationId xmlns:a16="http://schemas.microsoft.com/office/drawing/2014/main" id="{6022D270-3447-4582-9E46-7C8BB783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745807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END-TO-END TRACEABILITY</a:t>
            </a:r>
          </a:p>
        </p:txBody>
      </p:sp>
      <p:sp>
        <p:nvSpPr>
          <p:cNvPr id="64" name="point-02-body">
            <a:extLst xmlns:a="http://schemas.openxmlformats.org/drawingml/2006/main">
              <a:ext uri="{FF2B5EF4-FFF2-40B4-BE49-F238E27FC236}">
                <a16:creationId xmlns:a16="http://schemas.microsoft.com/office/drawing/2014/main" id="{9F2C5D70-57E4-4FCA-B085-F74C8DF6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779145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Every tracking event, delivery attempt, payment, and proof of delivery remains linked to its shipment.</a:t>
            </a:r>
          </a:p>
        </p:txBody>
      </p:sp>
      <p:sp>
        <p:nvSpPr>
          <p:cNvPr id="65" name="point-03">
            <a:extLst xmlns:a="http://schemas.openxmlformats.org/drawingml/2006/main">
              <a:ext uri="{FF2B5EF4-FFF2-40B4-BE49-F238E27FC236}">
                <a16:creationId xmlns:a16="http://schemas.microsoft.com/office/drawing/2014/main" id="{464E090F-C172-41B2-A131-5CFD67B7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88201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point-03-number">
            <a:extLst xmlns:a="http://schemas.openxmlformats.org/drawingml/2006/main">
              <a:ext uri="{FF2B5EF4-FFF2-40B4-BE49-F238E27FC236}">
                <a16:creationId xmlns:a16="http://schemas.microsoft.com/office/drawing/2014/main" id="{91CD7983-7622-4B04-8DA3-A228A3DF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88963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67" name="point-03-heading">
            <a:extLst xmlns:a="http://schemas.openxmlformats.org/drawingml/2006/main">
              <a:ext uri="{FF2B5EF4-FFF2-40B4-BE49-F238E27FC236}">
                <a16:creationId xmlns:a16="http://schemas.microsoft.com/office/drawing/2014/main" id="{84291D7B-69D1-40C0-8B91-0933B197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881062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DECISION-READY FOUNDATION</a:t>
            </a:r>
          </a:p>
        </p:txBody>
      </p:sp>
      <p:sp>
        <p:nvSpPr>
          <p:cNvPr id="68" name="point-03-body">
            <a:extLst xmlns:a="http://schemas.openxmlformats.org/drawingml/2006/main">
              <a:ext uri="{FF2B5EF4-FFF2-40B4-BE49-F238E27FC236}">
                <a16:creationId xmlns:a16="http://schemas.microsoft.com/office/drawing/2014/main" id="{354939BC-743C-4CB4-9D8D-AA2F1F4AF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914400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Ten reusable queries expose delays, courier performance, hub throughput, stuck shipments, POD, and revenue.</a:t>
            </a:r>
          </a:p>
        </p:txBody>
      </p:sp>
      <p:sp>
        <p:nvSpPr>
          <p:cNvPr id="69" name="slide-04-result-band">
            <a:extLst xmlns:a="http://schemas.openxmlformats.org/drawingml/2006/main">
              <a:ext uri="{FF2B5EF4-FFF2-40B4-BE49-F238E27FC236}">
                <a16:creationId xmlns:a16="http://schemas.microsoft.com/office/drawing/2014/main" id="{060754A9-E398-4AB0-AEFE-361A8C37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0191750"/>
            <a:ext cx="4191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FFAD2466-7808-4B3C-84B6-123EA801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03441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RESULT</a:t>
            </a:r>
          </a:p>
        </p:txBody>
      </p:sp>
      <p:sp>
        <p:nvSpPr>
          <p:cNvPr id="71" name="result-copy">
            <a:extLst xmlns:a="http://schemas.openxmlformats.org/drawingml/2006/main">
              <a:ext uri="{FF2B5EF4-FFF2-40B4-BE49-F238E27FC236}">
                <a16:creationId xmlns:a16="http://schemas.microsoft.com/office/drawing/2014/main" id="{40A10B3E-3CFB-474F-BA11-62BA4BF8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0648950"/>
            <a:ext cx="3657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 trusted SQL foundation for operational monitoring and Power BI.</a:t>
            </a:r>
          </a:p>
        </p:txBody>
      </p:sp>
      <p:sp>
        <p:nvSpPr>
          <p:cNvPr id="72" name="slide-04-footer-left">
            <a:extLst xmlns:a="http://schemas.openxmlformats.org/drawingml/2006/main">
              <a:ext uri="{FF2B5EF4-FFF2-40B4-BE49-F238E27FC236}">
                <a16:creationId xmlns:a16="http://schemas.microsoft.com/office/drawing/2014/main" id="{F785E759-1630-4058-B892-48F7D1B8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3" name="slide-04-footer-right">
            <a:extLst xmlns:a="http://schemas.openxmlformats.org/drawingml/2006/main">
              <a:ext uri="{FF2B5EF4-FFF2-40B4-BE49-F238E27FC236}">
                <a16:creationId xmlns:a16="http://schemas.microsoft.com/office/drawing/2014/main" id="{D78BC2DD-6D33-492B-A945-2A352DEF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1220020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05-top-accent">
            <a:extLst xmlns:a="http://schemas.openxmlformats.org/drawingml/2006/main">
              <a:ext uri="{FF2B5EF4-FFF2-40B4-BE49-F238E27FC236}">
                <a16:creationId xmlns:a16="http://schemas.microsoft.com/office/drawing/2014/main" id="{4A641DE1-AF93-4012-952C-B92130DE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5-eyebrow">
            <a:extLst xmlns:a="http://schemas.openxmlformats.org/drawingml/2006/main">
              <a:ext uri="{FF2B5EF4-FFF2-40B4-BE49-F238E27FC236}">
                <a16:creationId xmlns:a16="http://schemas.microsoft.com/office/drawing/2014/main" id="{E978A7C6-CD4F-41A9-BEB7-E6A269C7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POWER BI DASHBOARD</a:t>
            </a:r>
          </a:p>
        </p:txBody>
      </p:sp>
      <p:sp>
        <p:nvSpPr>
          <p:cNvPr id="3" name="slide-05-number">
            <a:extLst xmlns:a="http://schemas.openxmlformats.org/drawingml/2006/main">
              <a:ext uri="{FF2B5EF4-FFF2-40B4-BE49-F238E27FC236}">
                <a16:creationId xmlns:a16="http://schemas.microsoft.com/office/drawing/2014/main" id="{38B7AC07-5923-46FC-8E6E-00A4FE4D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05 / 08</a:t>
            </a:r>
          </a:p>
        </p:txBody>
      </p:sp>
      <p:sp>
        <p:nvSpPr>
          <p:cNvPr id="4" name="slide-05-title">
            <a:extLst xmlns:a="http://schemas.openxmlformats.org/drawingml/2006/main">
              <a:ext uri="{FF2B5EF4-FFF2-40B4-BE49-F238E27FC236}">
                <a16:creationId xmlns:a16="http://schemas.microsoft.com/office/drawing/2014/main" id="{19F1715F-4B4F-4461-8C48-D5A092D4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ONE DASHBOARD. THREE</a:t>
            </a:r>
          </a:p>
          <a:p xmlns:a="http://schemas.openxmlformats.org/drawingml/2006/main">
            <a:pPr>
              <a:buNone/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OPERATIONAL VIEWS.</a:t>
            </a:r>
          </a:p>
        </p:txBody>
      </p:sp>
      <p:sp>
        <p:nvSpPr>
          <p:cNvPr id="5" name="slide-05-subtitle">
            <a:extLst xmlns:a="http://schemas.openxmlformats.org/drawingml/2006/main">
              <a:ext uri="{FF2B5EF4-FFF2-40B4-BE49-F238E27FC236}">
                <a16:creationId xmlns:a16="http://schemas.microsoft.com/office/drawing/2014/main" id="{63CEB309-C9A2-4FC2-A89B-3B1CD9BC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Interactive pages move from the overall delay problem to the supplier, customer, vehicle, and GPS drivers behind it.</a:t>
            </a:r>
          </a:p>
        </p:txBody>
      </p:sp>
      <p:sp>
        <p:nvSpPr>
          <p:cNvPr id="6" name="delay-dashboard-frame">
            <a:extLst xmlns:a="http://schemas.openxmlformats.org/drawingml/2006/main">
              <a:ext uri="{FF2B5EF4-FFF2-40B4-BE49-F238E27FC236}">
                <a16:creationId xmlns:a16="http://schemas.microsoft.com/office/drawing/2014/main" id="{A74E1EDA-CFDF-41C5-AFB9-256EDA27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8915400" cy="495300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33" name="Picture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1dc94a18714e05"/>
          <a:stretch xmlns:a="http://schemas.openxmlformats.org/drawingml/2006/main"/>
        </p:blipFill>
        <p:spPr>
          <a:xfrm xmlns:a="http://schemas.openxmlformats.org/drawingml/2006/main">
            <a:off x="800100" y="3619500"/>
            <a:ext cx="8686800" cy="4886325"/>
          </a:xfrm>
          <a:prstGeom xmlns:a="http://schemas.openxmlformats.org/drawingml/2006/main" prst="rect">
            <a:avLst/>
          </a:prstGeom>
        </p:spPr>
      </p:pic>
      <p:sp>
        <p:nvSpPr>
          <p:cNvPr id="8" name="delay-dashboard-label-bg">
            <a:extLst xmlns:a="http://schemas.openxmlformats.org/drawingml/2006/main">
              <a:ext uri="{FF2B5EF4-FFF2-40B4-BE49-F238E27FC236}">
                <a16:creationId xmlns:a16="http://schemas.microsoft.com/office/drawing/2014/main" id="{94C77EB5-102A-4B67-91CD-3117E1183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4907"/>
            <a:ext cx="3162300" cy="352425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elay-dashboard-label">
            <a:extLst xmlns:a="http://schemas.openxmlformats.org/drawingml/2006/main">
              <a:ext uri="{FF2B5EF4-FFF2-40B4-BE49-F238E27FC236}">
                <a16:creationId xmlns:a16="http://schemas.microsoft.com/office/drawing/2014/main" id="{623A7E91-2A50-4D68-B76B-A0F7C1B1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8157"/>
            <a:ext cx="278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01  DELAY ANALYSIS</a:t>
            </a:r>
          </a:p>
        </p:txBody>
      </p:sp>
      <p:sp>
        <p:nvSpPr>
          <p:cNvPr id="10" name="supplier-dashboard-frame">
            <a:extLst xmlns:a="http://schemas.openxmlformats.org/drawingml/2006/main">
              <a:ext uri="{FF2B5EF4-FFF2-40B4-BE49-F238E27FC236}">
                <a16:creationId xmlns:a16="http://schemas.microsoft.com/office/drawing/2014/main" id="{82DDBFD4-6D9E-4D80-9D00-110E4D65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43950"/>
            <a:ext cx="4305300" cy="24193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37" name="Picture 3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58adfc6cb4e56"/>
          <a:stretch xmlns:a="http://schemas.openxmlformats.org/drawingml/2006/main"/>
        </p:blipFill>
        <p:spPr>
          <a:xfrm xmlns:a="http://schemas.openxmlformats.org/drawingml/2006/main">
            <a:off x="762000" y="8820150"/>
            <a:ext cx="4152900" cy="2333625"/>
          </a:xfrm>
          <a:prstGeom xmlns:a="http://schemas.openxmlformats.org/drawingml/2006/main" prst="rect">
            <a:avLst/>
          </a:prstGeom>
        </p:spPr>
      </p:pic>
      <p:sp>
        <p:nvSpPr>
          <p:cNvPr id="12" name="supplier-label-bg">
            <a:extLst xmlns:a="http://schemas.openxmlformats.org/drawingml/2006/main">
              <a:ext uri="{FF2B5EF4-FFF2-40B4-BE49-F238E27FC236}">
                <a16:creationId xmlns:a16="http://schemas.microsoft.com/office/drawing/2014/main" id="{C3199CF9-3F26-4E9A-A48F-310753796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527993"/>
            <a:ext cx="2324100" cy="253016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upplier-label">
            <a:extLst xmlns:a="http://schemas.openxmlformats.org/drawingml/2006/main">
              <a:ext uri="{FF2B5EF4-FFF2-40B4-BE49-F238E27FC236}">
                <a16:creationId xmlns:a16="http://schemas.microsoft.com/office/drawing/2014/main" id="{A8A460D1-88B1-43DE-A577-10D4EFD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495259"/>
            <a:ext cx="2076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02  SUPPLIERS &amp; CUSTOMERS</a:t>
            </a:r>
          </a:p>
        </p:txBody>
      </p:sp>
      <p:sp>
        <p:nvSpPr>
          <p:cNvPr id="14" name="fleet-dashboard-frame">
            <a:extLst xmlns:a="http://schemas.openxmlformats.org/drawingml/2006/main">
              <a:ext uri="{FF2B5EF4-FFF2-40B4-BE49-F238E27FC236}">
                <a16:creationId xmlns:a16="http://schemas.microsoft.com/office/drawing/2014/main" id="{BACD1C70-3182-42F7-977D-848DA380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8743950"/>
            <a:ext cx="4305300" cy="24193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41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c67bab2b7041e5"/>
          <a:stretch xmlns:a="http://schemas.openxmlformats.org/drawingml/2006/main"/>
        </p:blipFill>
        <p:spPr>
          <a:xfrm xmlns:a="http://schemas.openxmlformats.org/drawingml/2006/main">
            <a:off x="5372100" y="8820150"/>
            <a:ext cx="4152900" cy="2333625"/>
          </a:xfrm>
          <a:prstGeom xmlns:a="http://schemas.openxmlformats.org/drawingml/2006/main" prst="rect">
            <a:avLst/>
          </a:prstGeom>
        </p:spPr>
      </p:pic>
      <p:sp>
        <p:nvSpPr>
          <p:cNvPr id="16" name="fleet-label-bg">
            <a:extLst xmlns:a="http://schemas.openxmlformats.org/drawingml/2006/main">
              <a:ext uri="{FF2B5EF4-FFF2-40B4-BE49-F238E27FC236}">
                <a16:creationId xmlns:a16="http://schemas.microsoft.com/office/drawing/2014/main" id="{BD21E21A-87C9-4EF8-BFB8-1B96E36E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8527994"/>
            <a:ext cx="2476500" cy="269646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5B3B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leet-label">
            <a:extLst xmlns:a="http://schemas.openxmlformats.org/drawingml/2006/main">
              <a:ext uri="{FF2B5EF4-FFF2-40B4-BE49-F238E27FC236}">
                <a16:creationId xmlns:a16="http://schemas.microsoft.com/office/drawing/2014/main" id="{EA7CF6C5-C3CF-4151-81C4-B82A4191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8511890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03  FLEET &amp; GPS</a:t>
            </a:r>
          </a:p>
        </p:txBody>
      </p:sp>
      <p:sp>
        <p:nvSpPr>
          <p:cNvPr id="18" name="slide-05-summary-band">
            <a:extLst xmlns:a="http://schemas.openxmlformats.org/drawingml/2006/main">
              <a:ext uri="{FF2B5EF4-FFF2-40B4-BE49-F238E27FC236}">
                <a16:creationId xmlns:a16="http://schemas.microsoft.com/office/drawing/2014/main" id="{A6961476-31FB-4C28-937F-4733D90C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68100"/>
            <a:ext cx="89154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lide-05-summary-label">
            <a:extLst xmlns:a="http://schemas.openxmlformats.org/drawingml/2006/main">
              <a:ext uri="{FF2B5EF4-FFF2-40B4-BE49-F238E27FC236}">
                <a16:creationId xmlns:a16="http://schemas.microsoft.com/office/drawing/2014/main" id="{E2F5B96F-62A7-425E-9377-A49C1AE7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6395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FROM SQL MODEL TO INTERACTIVE MONITORING</a:t>
            </a:r>
          </a:p>
        </p:txBody>
      </p:sp>
      <p:sp>
        <p:nvSpPr>
          <p:cNvPr id="20" name="slide-05-summary-stats">
            <a:extLst xmlns:a="http://schemas.openxmlformats.org/drawingml/2006/main">
              <a:ext uri="{FF2B5EF4-FFF2-40B4-BE49-F238E27FC236}">
                <a16:creationId xmlns:a16="http://schemas.microsoft.com/office/drawing/2014/main" id="{B63AF221-2455-4D0F-9600-7D20F6DA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16395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47B2A"/>
                </a:solidFill>
              </a:defRPr>
            </a:pPr>
            <a:r>
              <a:rPr sz="975" b="1">
                <a:solidFill>
                  <a:srgbClr val="F47B2A"/>
                </a:solidFill>
              </a:rPr>
              <a:t>6,773 SHIPMENTS  ·  32 FEATURES  ·  MAR 2019–SEP 2020</a:t>
            </a:r>
          </a:p>
        </p:txBody>
      </p:sp>
      <p:sp>
        <p:nvSpPr>
          <p:cNvPr id="21" name="slide-05-footer-left">
            <a:extLst xmlns:a="http://schemas.openxmlformats.org/drawingml/2006/main">
              <a:ext uri="{FF2B5EF4-FFF2-40B4-BE49-F238E27FC236}">
                <a16:creationId xmlns:a16="http://schemas.microsoft.com/office/drawing/2014/main" id="{6E7C035D-81D1-4957-B960-39C0E7C2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22" name="slide-05-footer-right">
            <a:extLst xmlns:a="http://schemas.openxmlformats.org/drawingml/2006/main">
              <a:ext uri="{FF2B5EF4-FFF2-40B4-BE49-F238E27FC236}">
                <a16:creationId xmlns:a16="http://schemas.microsoft.com/office/drawing/2014/main" id="{C591E40B-45AB-4D25-984B-DCCB4DDB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6322171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slide-06-top-accent">
            <a:extLst xmlns:a="http://schemas.openxmlformats.org/drawingml/2006/main">
              <a:ext uri="{FF2B5EF4-FFF2-40B4-BE49-F238E27FC236}">
                <a16:creationId xmlns:a16="http://schemas.microsoft.com/office/drawing/2014/main" id="{0CCD8CC6-308E-4C72-BBE7-34D91052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6-eyebrow">
            <a:extLst xmlns:a="http://schemas.openxmlformats.org/drawingml/2006/main">
              <a:ext uri="{FF2B5EF4-FFF2-40B4-BE49-F238E27FC236}">
                <a16:creationId xmlns:a16="http://schemas.microsoft.com/office/drawing/2014/main" id="{4E4C31FB-8305-40FE-AA10-F6C2B5B8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KEY INSIGHTS</a:t>
            </a:r>
          </a:p>
        </p:txBody>
      </p:sp>
      <p:sp>
        <p:nvSpPr>
          <p:cNvPr id="3" name="slide-06-number">
            <a:extLst xmlns:a="http://schemas.openxmlformats.org/drawingml/2006/main">
              <a:ext uri="{FF2B5EF4-FFF2-40B4-BE49-F238E27FC236}">
                <a16:creationId xmlns:a16="http://schemas.microsoft.com/office/drawing/2014/main" id="{DEFB1B4E-BD69-4A19-B0D1-4D8994A6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06 / 08</a:t>
            </a:r>
          </a:p>
        </p:txBody>
      </p:sp>
      <p:sp>
        <p:nvSpPr>
          <p:cNvPr id="4" name="slide-06-title">
            <a:extLst xmlns:a="http://schemas.openxmlformats.org/drawingml/2006/main">
              <a:ext uri="{FF2B5EF4-FFF2-40B4-BE49-F238E27FC236}">
                <a16:creationId xmlns:a16="http://schemas.microsoft.com/office/drawing/2014/main" id="{64A17B34-F69C-4F05-9857-2042CCD0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82653"/>
                </a:solidFill>
              </a:defRPr>
            </a:pPr>
            <a:r>
              <a:rPr sz="3225" b="1">
                <a:solidFill>
                  <a:srgbClr val="082653"/>
                </a:solidFill>
              </a:rPr>
              <a:t>THE DELAY PROBLEM HAS</a:t>
            </a:r>
          </a:p>
          <a:p xmlns:a="http://schemas.openxmlformats.org/drawingml/2006/main">
            <a:pPr>
              <a:buNone/>
              <a:defRPr sz="3225" b="1">
                <a:solidFill>
                  <a:srgbClr val="082653"/>
                </a:solidFill>
              </a:defRPr>
            </a:pPr>
            <a:r>
              <a:rPr sz="3225" b="1">
                <a:solidFill>
                  <a:srgbClr val="082653"/>
                </a:solidFill>
              </a:rPr>
              <a:t>CLEAR OPERATIONAL DRIVERS</a:t>
            </a:r>
          </a:p>
        </p:txBody>
      </p:sp>
      <p:sp>
        <p:nvSpPr>
          <p:cNvPr id="5" name="slide-06-subtitle">
            <a:extLst xmlns:a="http://schemas.openxmlformats.org/drawingml/2006/main">
              <a:ext uri="{FF2B5EF4-FFF2-40B4-BE49-F238E27FC236}">
                <a16:creationId xmlns:a16="http://schemas.microsoft.com/office/drawing/2014/main" id="{FC16B057-DDC5-4A24-972E-ABD2E4C2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The risk is concentrated across time, distance, tracking quality, vehicle type, and partner performance.</a:t>
            </a:r>
          </a:p>
        </p:txBody>
      </p:sp>
      <p:sp>
        <p:nvSpPr>
          <p:cNvPr id="6" name="crisis-band">
            <a:extLst xmlns:a="http://schemas.openxmlformats.org/drawingml/2006/main">
              <a:ext uri="{FF2B5EF4-FFF2-40B4-BE49-F238E27FC236}">
                <a16:creationId xmlns:a16="http://schemas.microsoft.com/office/drawing/2014/main" id="{2BDC5968-476C-4139-87FB-D0DD5EA8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89154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risis-label">
            <a:extLst xmlns:a="http://schemas.openxmlformats.org/drawingml/2006/main">
              <a:ext uri="{FF2B5EF4-FFF2-40B4-BE49-F238E27FC236}">
                <a16:creationId xmlns:a16="http://schemas.microsoft.com/office/drawing/2014/main" id="{B1FA56D2-1C38-4F75-84D4-2E6903B5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CRISIS MONTHS</a:t>
            </a:r>
          </a:p>
        </p:txBody>
      </p:sp>
      <p:sp>
        <p:nvSpPr>
          <p:cNvPr id="8" name="crisis-value">
            <a:extLst xmlns:a="http://schemas.openxmlformats.org/drawingml/2006/main">
              <a:ext uri="{FF2B5EF4-FFF2-40B4-BE49-F238E27FC236}">
                <a16:creationId xmlns:a16="http://schemas.microsoft.com/office/drawing/2014/main" id="{35D6A82E-906C-40EF-B5E1-E7930CDA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814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9" name="crisis-copy">
            <a:extLst xmlns:a="http://schemas.openxmlformats.org/drawingml/2006/main">
              <a:ext uri="{FF2B5EF4-FFF2-40B4-BE49-F238E27FC236}">
                <a16:creationId xmlns:a16="http://schemas.microsoft.com/office/drawing/2014/main" id="{4CC5AC97-B589-48BB-9E45-6D8515166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100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monthly delay rate reached 96–100%</a:t>
            </a:r>
          </a:p>
        </p:txBody>
      </p:sp>
      <p:sp>
        <p:nvSpPr>
          <p:cNvPr id="10" name="crisis-period">
            <a:extLst xmlns:a="http://schemas.openxmlformats.org/drawingml/2006/main">
              <a:ext uri="{FF2B5EF4-FFF2-40B4-BE49-F238E27FC236}">
                <a16:creationId xmlns:a16="http://schemas.microsoft.com/office/drawing/2014/main" id="{D1D2B580-D977-4DF1-893A-E579E037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05250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FE7E8"/>
                </a:solidFill>
              </a:defRPr>
            </a:pPr>
            <a:r>
              <a:rPr sz="1125" b="1">
                <a:solidFill>
                  <a:srgbClr val="FFE7E8"/>
                </a:solidFill>
              </a:rPr>
              <a:t>JUL '19 – MAY '20 WINDOW</a:t>
            </a:r>
          </a:p>
        </p:txBody>
      </p:sp>
      <p:sp>
        <p:nvSpPr>
          <p:cNvPr id="11" name="distance-card">
            <a:extLst xmlns:a="http://schemas.openxmlformats.org/drawingml/2006/main">
              <a:ext uri="{FF2B5EF4-FFF2-40B4-BE49-F238E27FC236}">
                <a16:creationId xmlns:a16="http://schemas.microsoft.com/office/drawing/2014/main" id="{13A7B5F1-F821-4C6B-B526-E63BD4BB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4305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12" name="distance-title">
            <a:extLst xmlns:a="http://schemas.openxmlformats.org/drawingml/2006/main">
              <a:ext uri="{FF2B5EF4-FFF2-40B4-BE49-F238E27FC236}">
                <a16:creationId xmlns:a16="http://schemas.microsoft.com/office/drawing/2014/main" id="{48343F0D-1C65-4EE8-9BDD-6DD448C1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53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01  DISTANCE RISK</a:t>
            </a:r>
          </a:p>
        </p:txBody>
      </p:sp>
      <p:sp>
        <p:nvSpPr>
          <p:cNvPr id="13" name="distance-copy">
            <a:extLst xmlns:a="http://schemas.openxmlformats.org/drawingml/2006/main">
              <a:ext uri="{FF2B5EF4-FFF2-40B4-BE49-F238E27FC236}">
                <a16:creationId xmlns:a16="http://schemas.microsoft.com/office/drawing/2014/main" id="{124CCFD9-2C59-4135-8729-83B01D37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578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1E2D42"/>
                </a:solidFill>
              </a:defRPr>
            </a:pPr>
            <a:r>
              <a:rPr sz="1200">
                <a:solidFill>
                  <a:srgbClr val="1E2D42"/>
                </a:solidFill>
              </a:rPr>
              <a:t>Very long and short routes show the highest delay rates.</a:t>
            </a:r>
          </a:p>
        </p:txBody>
      </p:sp>
      <p:sp>
        <p:nvSpPr>
          <p:cNvPr id="14" name="distance-label-0">
            <a:extLst xmlns:a="http://schemas.openxmlformats.org/drawingml/2006/main">
              <a:ext uri="{FF2B5EF4-FFF2-40B4-BE49-F238E27FC236}">
                <a16:creationId xmlns:a16="http://schemas.microsoft.com/office/drawing/2014/main" id="{2530E16A-9F61-4B4F-AF42-20251CB3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VERY LONG</a:t>
            </a:r>
          </a:p>
        </p:txBody>
      </p:sp>
      <p:sp>
        <p:nvSpPr>
          <p:cNvPr id="15" name="distance-track-0">
            <a:extLst xmlns:a="http://schemas.openxmlformats.org/drawingml/2006/main">
              <a:ext uri="{FF2B5EF4-FFF2-40B4-BE49-F238E27FC236}">
                <a16:creationId xmlns:a16="http://schemas.microsoft.com/office/drawing/2014/main" id="{238CB831-1E12-4A47-9EA4-7B8160FF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912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istance-bar-0">
            <a:extLst xmlns:a="http://schemas.openxmlformats.org/drawingml/2006/main">
              <a:ext uri="{FF2B5EF4-FFF2-40B4-BE49-F238E27FC236}">
                <a16:creationId xmlns:a16="http://schemas.microsoft.com/office/drawing/2014/main" id="{78FC0140-55A6-495C-B6EC-93A98232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91250"/>
            <a:ext cx="1899826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istance-value-0">
            <a:extLst xmlns:a="http://schemas.openxmlformats.org/drawingml/2006/main">
              <a:ext uri="{FF2B5EF4-FFF2-40B4-BE49-F238E27FC236}">
                <a16:creationId xmlns:a16="http://schemas.microsoft.com/office/drawing/2014/main" id="{A9E95398-A1AE-4A10-BC1B-AAD0F9D1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2007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81.08%</a:t>
            </a:r>
          </a:p>
        </p:txBody>
      </p:sp>
      <p:sp>
        <p:nvSpPr>
          <p:cNvPr id="18" name="distance-label-1">
            <a:extLst xmlns:a="http://schemas.openxmlformats.org/drawingml/2006/main">
              <a:ext uri="{FF2B5EF4-FFF2-40B4-BE49-F238E27FC236}">
                <a16:creationId xmlns:a16="http://schemas.microsoft.com/office/drawing/2014/main" id="{18EA2815-ACEA-45CE-8673-7DD17D3D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341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SHORT</a:t>
            </a:r>
          </a:p>
        </p:txBody>
      </p:sp>
      <p:sp>
        <p:nvSpPr>
          <p:cNvPr id="19" name="distance-track-1">
            <a:extLst xmlns:a="http://schemas.openxmlformats.org/drawingml/2006/main">
              <a:ext uri="{FF2B5EF4-FFF2-40B4-BE49-F238E27FC236}">
                <a16:creationId xmlns:a16="http://schemas.microsoft.com/office/drawing/2014/main" id="{4F39D769-E14D-4EB9-B4D2-FA0C2A58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151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distance-bar-1">
            <a:extLst xmlns:a="http://schemas.openxmlformats.org/drawingml/2006/main">
              <a:ext uri="{FF2B5EF4-FFF2-40B4-BE49-F238E27FC236}">
                <a16:creationId xmlns:a16="http://schemas.microsoft.com/office/drawing/2014/main" id="{05602BAB-FC2D-405D-81AC-6389187C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15100"/>
            <a:ext cx="1712374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distance-value-1">
            <a:extLst xmlns:a="http://schemas.openxmlformats.org/drawingml/2006/main">
              <a:ext uri="{FF2B5EF4-FFF2-40B4-BE49-F238E27FC236}">
                <a16:creationId xmlns:a16="http://schemas.microsoft.com/office/drawing/2014/main" id="{756EA508-EE32-4E93-B24D-B6F9C84C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5246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73.08%</a:t>
            </a:r>
          </a:p>
        </p:txBody>
      </p:sp>
      <p:sp>
        <p:nvSpPr>
          <p:cNvPr id="22" name="distance-label-2">
            <a:extLst xmlns:a="http://schemas.openxmlformats.org/drawingml/2006/main">
              <a:ext uri="{FF2B5EF4-FFF2-40B4-BE49-F238E27FC236}">
                <a16:creationId xmlns:a16="http://schemas.microsoft.com/office/drawing/2014/main" id="{11EDF957-A18D-40BE-BA26-4B06A21E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LONG</a:t>
            </a:r>
          </a:p>
        </p:txBody>
      </p:sp>
      <p:sp>
        <p:nvSpPr>
          <p:cNvPr id="23" name="distance-track-2">
            <a:extLst xmlns:a="http://schemas.openxmlformats.org/drawingml/2006/main">
              <a:ext uri="{FF2B5EF4-FFF2-40B4-BE49-F238E27FC236}">
                <a16:creationId xmlns:a16="http://schemas.microsoft.com/office/drawing/2014/main" id="{372BDBA5-E81A-476A-9873-A2DE5DBF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8389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istance-bar-2">
            <a:extLst xmlns:a="http://schemas.openxmlformats.org/drawingml/2006/main">
              <a:ext uri="{FF2B5EF4-FFF2-40B4-BE49-F238E27FC236}">
                <a16:creationId xmlns:a16="http://schemas.microsoft.com/office/drawing/2014/main" id="{2321369B-006B-4784-B8EF-FB7ABC93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838950"/>
            <a:ext cx="1226873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5A2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istance-value-2">
            <a:extLst xmlns:a="http://schemas.openxmlformats.org/drawingml/2006/main">
              <a:ext uri="{FF2B5EF4-FFF2-40B4-BE49-F238E27FC236}">
                <a16:creationId xmlns:a16="http://schemas.microsoft.com/office/drawing/2014/main" id="{1262AB01-5DDE-4DAB-9952-B863DA8C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8484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52.36%</a:t>
            </a:r>
          </a:p>
        </p:txBody>
      </p:sp>
      <p:sp>
        <p:nvSpPr>
          <p:cNvPr id="26" name="distance-label-3">
            <a:extLst xmlns:a="http://schemas.openxmlformats.org/drawingml/2006/main">
              <a:ext uri="{FF2B5EF4-FFF2-40B4-BE49-F238E27FC236}">
                <a16:creationId xmlns:a16="http://schemas.microsoft.com/office/drawing/2014/main" id="{567D3C5B-1EA9-4AE8-A4FD-1A6ACA9E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181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MEDIUM</a:t>
            </a:r>
          </a:p>
        </p:txBody>
      </p:sp>
      <p:sp>
        <p:nvSpPr>
          <p:cNvPr id="27" name="distance-track-3">
            <a:extLst xmlns:a="http://schemas.openxmlformats.org/drawingml/2006/main">
              <a:ext uri="{FF2B5EF4-FFF2-40B4-BE49-F238E27FC236}">
                <a16:creationId xmlns:a16="http://schemas.microsoft.com/office/drawing/2014/main" id="{48418DC7-166C-4991-B0CD-0871D327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1628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distance-bar-3">
            <a:extLst xmlns:a="http://schemas.openxmlformats.org/drawingml/2006/main">
              <a:ext uri="{FF2B5EF4-FFF2-40B4-BE49-F238E27FC236}">
                <a16:creationId xmlns:a16="http://schemas.microsoft.com/office/drawing/2014/main" id="{286CF238-B02B-4E9E-B376-356A8397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162800"/>
            <a:ext cx="1010366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istance-value-3">
            <a:extLst xmlns:a="http://schemas.openxmlformats.org/drawingml/2006/main">
              <a:ext uri="{FF2B5EF4-FFF2-40B4-BE49-F238E27FC236}">
                <a16:creationId xmlns:a16="http://schemas.microsoft.com/office/drawing/2014/main" id="{9CD929FF-10B3-4A75-99C4-56EAE588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71723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43.12%</a:t>
            </a:r>
          </a:p>
        </p:txBody>
      </p:sp>
      <p:sp>
        <p:nvSpPr>
          <p:cNvPr id="30" name="gps-card">
            <a:extLst xmlns:a="http://schemas.openxmlformats.org/drawingml/2006/main">
              <a:ext uri="{FF2B5EF4-FFF2-40B4-BE49-F238E27FC236}">
                <a16:creationId xmlns:a16="http://schemas.microsoft.com/office/drawing/2014/main" id="{4C28319F-7BCD-47D7-8C18-6D84B8E5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43500"/>
            <a:ext cx="4305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1" name="gps-title">
            <a:extLst xmlns:a="http://schemas.openxmlformats.org/drawingml/2006/main">
              <a:ext uri="{FF2B5EF4-FFF2-40B4-BE49-F238E27FC236}">
                <a16:creationId xmlns:a16="http://schemas.microsoft.com/office/drawing/2014/main" id="{FB89A988-DCF0-4FE8-ADA4-5A932117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353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02  GPS PROVIDER GAP</a:t>
            </a:r>
          </a:p>
        </p:txBody>
      </p:sp>
      <p:sp>
        <p:nvSpPr>
          <p:cNvPr id="32" name="gps-copy">
            <a:extLst xmlns:a="http://schemas.openxmlformats.org/drawingml/2006/main">
              <a:ext uri="{FF2B5EF4-FFF2-40B4-BE49-F238E27FC236}">
                <a16:creationId xmlns:a16="http://schemas.microsoft.com/office/drawing/2014/main" id="{3086A238-22F8-4EF6-A057-7BF87578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6578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1E2D42"/>
                </a:solidFill>
              </a:defRPr>
            </a:pPr>
            <a:r>
              <a:rPr sz="1200">
                <a:solidFill>
                  <a:srgbClr val="1E2D42"/>
                </a:solidFill>
              </a:rPr>
              <a:t>Tracking-provider performance varies dramatically.</a:t>
            </a:r>
          </a:p>
        </p:txBody>
      </p:sp>
      <p:sp>
        <p:nvSpPr>
          <p:cNvPr id="33" name="gps-label-0">
            <a:extLst xmlns:a="http://schemas.openxmlformats.org/drawingml/2006/main">
              <a:ext uri="{FF2B5EF4-FFF2-40B4-BE49-F238E27FC236}">
                <a16:creationId xmlns:a16="http://schemas.microsoft.com/office/drawing/2014/main" id="{4426F2F9-3110-4143-8840-A0572E66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2103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MANUAL</a:t>
            </a:r>
          </a:p>
        </p:txBody>
      </p:sp>
      <p:sp>
        <p:nvSpPr>
          <p:cNvPr id="34" name="gps-track-0">
            <a:extLst xmlns:a="http://schemas.openxmlformats.org/drawingml/2006/main">
              <a:ext uri="{FF2B5EF4-FFF2-40B4-BE49-F238E27FC236}">
                <a16:creationId xmlns:a16="http://schemas.microsoft.com/office/drawing/2014/main" id="{3F85D9BA-A2BA-42C2-9834-52737A79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1912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gps-bar-0">
            <a:extLst xmlns:a="http://schemas.openxmlformats.org/drawingml/2006/main">
              <a:ext uri="{FF2B5EF4-FFF2-40B4-BE49-F238E27FC236}">
                <a16:creationId xmlns:a16="http://schemas.microsoft.com/office/drawing/2014/main" id="{B86F330E-99D4-4DD7-B75B-57759B93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191250"/>
            <a:ext cx="2319719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gps-value-0">
            <a:extLst xmlns:a="http://schemas.openxmlformats.org/drawingml/2006/main">
              <a:ext uri="{FF2B5EF4-FFF2-40B4-BE49-F238E27FC236}">
                <a16:creationId xmlns:a16="http://schemas.microsoft.com/office/drawing/2014/main" id="{F4F9B29C-EA72-4599-95FD-C06BAA78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2007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37" name="gps-label-1">
            <a:extLst xmlns:a="http://schemas.openxmlformats.org/drawingml/2006/main">
              <a:ext uri="{FF2B5EF4-FFF2-40B4-BE49-F238E27FC236}">
                <a16:creationId xmlns:a16="http://schemas.microsoft.com/office/drawing/2014/main" id="{B1E671A4-6782-4319-894E-D6445A79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5341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CONSENT</a:t>
            </a:r>
          </a:p>
        </p:txBody>
      </p:sp>
      <p:sp>
        <p:nvSpPr>
          <p:cNvPr id="38" name="gps-track-1">
            <a:extLst xmlns:a="http://schemas.openxmlformats.org/drawingml/2006/main">
              <a:ext uri="{FF2B5EF4-FFF2-40B4-BE49-F238E27FC236}">
                <a16:creationId xmlns:a16="http://schemas.microsoft.com/office/drawing/2014/main" id="{02D0F391-96F3-4747-A034-E4294B30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5151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gps-bar-1">
            <a:extLst xmlns:a="http://schemas.openxmlformats.org/drawingml/2006/main">
              <a:ext uri="{FF2B5EF4-FFF2-40B4-BE49-F238E27FC236}">
                <a16:creationId xmlns:a16="http://schemas.microsoft.com/office/drawing/2014/main" id="{C9864B64-292E-4053-9F34-844DD9BF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515100"/>
            <a:ext cx="2038541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gps-value-1">
            <a:extLst xmlns:a="http://schemas.openxmlformats.org/drawingml/2006/main">
              <a:ext uri="{FF2B5EF4-FFF2-40B4-BE49-F238E27FC236}">
                <a16:creationId xmlns:a16="http://schemas.microsoft.com/office/drawing/2014/main" id="{B8BEC355-EE41-420B-8C3F-8F0D7A70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5246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87%</a:t>
            </a:r>
          </a:p>
        </p:txBody>
      </p:sp>
      <p:sp>
        <p:nvSpPr>
          <p:cNvPr id="41" name="gps-label-2">
            <a:extLst xmlns:a="http://schemas.openxmlformats.org/drawingml/2006/main">
              <a:ext uri="{FF2B5EF4-FFF2-40B4-BE49-F238E27FC236}">
                <a16:creationId xmlns:a16="http://schemas.microsoft.com/office/drawing/2014/main" id="{41ABCC0A-27E3-4CD5-9A48-36BCB4FE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8580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EKTA</a:t>
            </a:r>
          </a:p>
        </p:txBody>
      </p:sp>
      <p:sp>
        <p:nvSpPr>
          <p:cNvPr id="42" name="gps-track-2">
            <a:extLst xmlns:a="http://schemas.openxmlformats.org/drawingml/2006/main">
              <a:ext uri="{FF2B5EF4-FFF2-40B4-BE49-F238E27FC236}">
                <a16:creationId xmlns:a16="http://schemas.microsoft.com/office/drawing/2014/main" id="{A01A6C03-F2BA-43F3-94E9-FD0DE52C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8389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gps-bar-2">
            <a:extLst xmlns:a="http://schemas.openxmlformats.org/drawingml/2006/main">
              <a:ext uri="{FF2B5EF4-FFF2-40B4-BE49-F238E27FC236}">
                <a16:creationId xmlns:a16="http://schemas.microsoft.com/office/drawing/2014/main" id="{6095F3CD-33B8-4AB3-9A2C-39DC7976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838950"/>
            <a:ext cx="1663637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gps-value-2">
            <a:extLst xmlns:a="http://schemas.openxmlformats.org/drawingml/2006/main">
              <a:ext uri="{FF2B5EF4-FFF2-40B4-BE49-F238E27FC236}">
                <a16:creationId xmlns:a16="http://schemas.microsoft.com/office/drawing/2014/main" id="{2B049E4D-CC1E-4628-A295-7B9C8E5FB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8484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71%</a:t>
            </a:r>
          </a:p>
        </p:txBody>
      </p:sp>
      <p:sp>
        <p:nvSpPr>
          <p:cNvPr id="45" name="gps-label-3">
            <a:extLst xmlns:a="http://schemas.openxmlformats.org/drawingml/2006/main">
              <a:ext uri="{FF2B5EF4-FFF2-40B4-BE49-F238E27FC236}">
                <a16:creationId xmlns:a16="http://schemas.microsoft.com/office/drawing/2014/main" id="{0766BFB8-4EC0-4E44-AD68-68E392C5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7181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VAMOSYS</a:t>
            </a:r>
          </a:p>
        </p:txBody>
      </p:sp>
      <p:sp>
        <p:nvSpPr>
          <p:cNvPr id="46" name="gps-track-3">
            <a:extLst xmlns:a="http://schemas.openxmlformats.org/drawingml/2006/main">
              <a:ext uri="{FF2B5EF4-FFF2-40B4-BE49-F238E27FC236}">
                <a16:creationId xmlns:a16="http://schemas.microsoft.com/office/drawing/2014/main" id="{B1A70582-158F-4052-827E-78C0CAEE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71628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gps-bar-3">
            <a:extLst xmlns:a="http://schemas.openxmlformats.org/drawingml/2006/main">
              <a:ext uri="{FF2B5EF4-FFF2-40B4-BE49-F238E27FC236}">
                <a16:creationId xmlns:a16="http://schemas.microsoft.com/office/drawing/2014/main" id="{DFF75682-A6BB-4BC1-89FE-48C7EDA39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7162800"/>
            <a:ext cx="281178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gps-value-3">
            <a:extLst xmlns:a="http://schemas.openxmlformats.org/drawingml/2006/main">
              <a:ext uri="{FF2B5EF4-FFF2-40B4-BE49-F238E27FC236}">
                <a16:creationId xmlns:a16="http://schemas.microsoft.com/office/drawing/2014/main" id="{F9445F50-E121-476B-9F3A-FF07A2A6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71723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12%</a:t>
            </a:r>
          </a:p>
        </p:txBody>
      </p:sp>
      <p:sp>
        <p:nvSpPr>
          <p:cNvPr id="49" name="vehicle-card">
            <a:extLst xmlns:a="http://schemas.openxmlformats.org/drawingml/2006/main">
              <a:ext uri="{FF2B5EF4-FFF2-40B4-BE49-F238E27FC236}">
                <a16:creationId xmlns:a16="http://schemas.microsoft.com/office/drawing/2014/main" id="{FAC10399-E87C-4D0F-BE94-A4352F26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62900"/>
            <a:ext cx="43053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0" name="vehicle-title">
            <a:extLst xmlns:a="http://schemas.openxmlformats.org/drawingml/2006/main">
              <a:ext uri="{FF2B5EF4-FFF2-40B4-BE49-F238E27FC236}">
                <a16:creationId xmlns:a16="http://schemas.microsoft.com/office/drawing/2014/main" id="{D235DC97-A619-4612-BAC5-10025345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72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03  VEHICLE PRESSURE</a:t>
            </a:r>
          </a:p>
        </p:txBody>
      </p:sp>
      <p:sp>
        <p:nvSpPr>
          <p:cNvPr id="51" name="vehicle-value-a">
            <a:extLst xmlns:a="http://schemas.openxmlformats.org/drawingml/2006/main">
              <a:ext uri="{FF2B5EF4-FFF2-40B4-BE49-F238E27FC236}">
                <a16:creationId xmlns:a16="http://schemas.microsoft.com/office/drawing/2014/main" id="{4E32B26A-2121-4BB1-A6C3-276EB3FC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6296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D20A16"/>
                </a:solidFill>
              </a:defRPr>
            </a:pPr>
            <a:r>
              <a:rPr sz="2850" b="1">
                <a:solidFill>
                  <a:srgbClr val="D20A16"/>
                </a:solidFill>
              </a:rPr>
              <a:t>81.53%</a:t>
            </a:r>
          </a:p>
        </p:txBody>
      </p:sp>
      <p:sp>
        <p:nvSpPr>
          <p:cNvPr id="52" name="vehicle-label-a">
            <a:extLst xmlns:a="http://schemas.openxmlformats.org/drawingml/2006/main">
              <a:ext uri="{FF2B5EF4-FFF2-40B4-BE49-F238E27FC236}">
                <a16:creationId xmlns:a16="http://schemas.microsoft.com/office/drawing/2014/main" id="{16B5B515-CC75-4841-88DD-FC48AD01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24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32 FT SINGLE-AXLE 7MT</a:t>
            </a:r>
          </a:p>
        </p:txBody>
      </p:sp>
      <p:sp>
        <p:nvSpPr>
          <p:cNvPr id="53" name="vehicle-value-b">
            <a:extLst xmlns:a="http://schemas.openxmlformats.org/drawingml/2006/main">
              <a:ext uri="{FF2B5EF4-FFF2-40B4-BE49-F238E27FC236}">
                <a16:creationId xmlns:a16="http://schemas.microsoft.com/office/drawing/2014/main" id="{1A4984BE-70E1-438C-950E-A69B678D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86296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7B2A"/>
                </a:solidFill>
              </a:defRPr>
            </a:pPr>
            <a:r>
              <a:rPr sz="2850" b="1">
                <a:solidFill>
                  <a:srgbClr val="F47B2A"/>
                </a:solidFill>
              </a:rPr>
              <a:t>80.81%</a:t>
            </a:r>
          </a:p>
        </p:txBody>
      </p:sp>
      <p:sp>
        <p:nvSpPr>
          <p:cNvPr id="54" name="vehicle-label-b">
            <a:extLst xmlns:a="http://schemas.openxmlformats.org/drawingml/2006/main">
              <a:ext uri="{FF2B5EF4-FFF2-40B4-BE49-F238E27FC236}">
                <a16:creationId xmlns:a16="http://schemas.microsoft.com/office/drawing/2014/main" id="{3DBED11D-91B4-47E8-9D85-125DC2EA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9124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40 FT 3XL TRAILER 35MT</a:t>
            </a:r>
          </a:p>
        </p:txBody>
      </p:sp>
      <p:sp>
        <p:nvSpPr>
          <p:cNvPr id="55" name="vehicle-volume-strip">
            <a:extLst xmlns:a="http://schemas.openxmlformats.org/drawingml/2006/main">
              <a:ext uri="{FF2B5EF4-FFF2-40B4-BE49-F238E27FC236}">
                <a16:creationId xmlns:a16="http://schemas.microsoft.com/office/drawing/2014/main" id="{368608F1-8C0B-4A6D-A03A-F9698D68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63100"/>
            <a:ext cx="36957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EF4FC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56" name="vehicle-volume">
            <a:extLst xmlns:a="http://schemas.openxmlformats.org/drawingml/2006/main">
              <a:ext uri="{FF2B5EF4-FFF2-40B4-BE49-F238E27FC236}">
                <a16:creationId xmlns:a16="http://schemas.microsoft.com/office/drawing/2014/main" id="{F21B6410-A8CB-470E-9E89-68B0A9FD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696450"/>
            <a:ext cx="3390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554A3"/>
                </a:solidFill>
              </a:defRPr>
            </a:pPr>
            <a:r>
              <a:rPr sz="975" b="1">
                <a:solidFill>
                  <a:srgbClr val="1554A3"/>
                </a:solidFill>
              </a:rPr>
              <a:t>2,559 trips on the highest-volume 40 FT 3XL trailer</a:t>
            </a:r>
          </a:p>
        </p:txBody>
      </p:sp>
      <p:sp>
        <p:nvSpPr>
          <p:cNvPr id="57" name="partner-card">
            <a:extLst xmlns:a="http://schemas.openxmlformats.org/drawingml/2006/main">
              <a:ext uri="{FF2B5EF4-FFF2-40B4-BE49-F238E27FC236}">
                <a16:creationId xmlns:a16="http://schemas.microsoft.com/office/drawing/2014/main" id="{ADAC46F0-779B-4C9D-A8A2-D7AD23B9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7962900"/>
            <a:ext cx="43053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8" name="partner-title">
            <a:extLst xmlns:a="http://schemas.openxmlformats.org/drawingml/2006/main">
              <a:ext uri="{FF2B5EF4-FFF2-40B4-BE49-F238E27FC236}">
                <a16:creationId xmlns:a16="http://schemas.microsoft.com/office/drawing/2014/main" id="{F484979D-7D9B-4573-9084-80D2B92D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172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04  PARTNER HOTSPOTS</a:t>
            </a:r>
          </a:p>
        </p:txBody>
      </p:sp>
      <p:sp>
        <p:nvSpPr>
          <p:cNvPr id="59" name="supplier-risk-label">
            <a:extLst xmlns:a="http://schemas.openxmlformats.org/drawingml/2006/main">
              <a:ext uri="{FF2B5EF4-FFF2-40B4-BE49-F238E27FC236}">
                <a16:creationId xmlns:a16="http://schemas.microsoft.com/office/drawing/2014/main" id="{88BB4939-089A-4927-BB44-37A6563A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6677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SUPPLIER</a:t>
            </a:r>
          </a:p>
        </p:txBody>
      </p:sp>
      <p:sp>
        <p:nvSpPr>
          <p:cNvPr id="60" name="supplier-risk-value">
            <a:extLst xmlns:a="http://schemas.openxmlformats.org/drawingml/2006/main">
              <a:ext uri="{FF2B5EF4-FFF2-40B4-BE49-F238E27FC236}">
                <a16:creationId xmlns:a16="http://schemas.microsoft.com/office/drawing/2014/main" id="{2AC06F66-9719-4F51-854A-53EB9D87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89635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D20A16"/>
                </a:solidFill>
              </a:defRPr>
            </a:pPr>
            <a:r>
              <a:rPr sz="2700" b="1">
                <a:solidFill>
                  <a:srgbClr val="D20A16"/>
                </a:solidFill>
              </a:rPr>
              <a:t>95.38%</a:t>
            </a:r>
          </a:p>
        </p:txBody>
      </p:sp>
      <p:sp>
        <p:nvSpPr>
          <p:cNvPr id="61" name="supplier-risk-name">
            <a:extLst xmlns:a="http://schemas.openxmlformats.org/drawingml/2006/main">
              <a:ext uri="{FF2B5EF4-FFF2-40B4-BE49-F238E27FC236}">
                <a16:creationId xmlns:a16="http://schemas.microsoft.com/office/drawing/2014/main" id="{C5FE07A2-BDA5-49B7-9302-0FE746D7A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9334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2D42"/>
                </a:solidFill>
              </a:defRPr>
            </a:pPr>
            <a:r>
              <a:rPr sz="1050" b="1">
                <a:solidFill>
                  <a:srgbClr val="1E2D42"/>
                </a:solidFill>
              </a:rPr>
              <a:t>K. Ramachandran</a:t>
            </a:r>
          </a:p>
        </p:txBody>
      </p:sp>
      <p:sp>
        <p:nvSpPr>
          <p:cNvPr id="62" name="customer-risk-label">
            <a:extLst xmlns:a="http://schemas.openxmlformats.org/drawingml/2006/main">
              <a:ext uri="{FF2B5EF4-FFF2-40B4-BE49-F238E27FC236}">
                <a16:creationId xmlns:a16="http://schemas.microsoft.com/office/drawing/2014/main" id="{8EA0783A-165B-44AA-9E20-05AD6C48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6677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CUSTOMER</a:t>
            </a:r>
          </a:p>
        </p:txBody>
      </p:sp>
      <p:sp>
        <p:nvSpPr>
          <p:cNvPr id="63" name="customer-risk-value">
            <a:extLst xmlns:a="http://schemas.openxmlformats.org/drawingml/2006/main">
              <a:ext uri="{FF2B5EF4-FFF2-40B4-BE49-F238E27FC236}">
                <a16:creationId xmlns:a16="http://schemas.microsoft.com/office/drawing/2014/main" id="{04A5FC98-A3B4-4D53-A22E-93F3E4C1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89635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F47B2A"/>
                </a:solidFill>
              </a:defRPr>
            </a:pPr>
            <a:r>
              <a:rPr sz="2700" b="1">
                <a:solidFill>
                  <a:srgbClr val="F47B2A"/>
                </a:solidFill>
              </a:rPr>
              <a:t>73.35%</a:t>
            </a:r>
          </a:p>
        </p:txBody>
      </p:sp>
      <p:sp>
        <p:nvSpPr>
          <p:cNvPr id="64" name="customer-risk-name">
            <a:extLst xmlns:a="http://schemas.openxmlformats.org/drawingml/2006/main">
              <a:ext uri="{FF2B5EF4-FFF2-40B4-BE49-F238E27FC236}">
                <a16:creationId xmlns:a16="http://schemas.microsoft.com/office/drawing/2014/main" id="{DFFF5375-50FD-410C-B972-ECB64601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9334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2D42"/>
                </a:solidFill>
              </a:defRPr>
            </a:pPr>
            <a:r>
              <a:rPr sz="1050" b="1">
                <a:solidFill>
                  <a:srgbClr val="1E2D42"/>
                </a:solidFill>
              </a:rPr>
              <a:t>Ford India</a:t>
            </a:r>
          </a:p>
        </p:txBody>
      </p:sp>
      <p:sp>
        <p:nvSpPr>
          <p:cNvPr id="65" name="partner-note">
            <a:extLst xmlns:a="http://schemas.openxmlformats.org/drawingml/2006/main">
              <a:ext uri="{FF2B5EF4-FFF2-40B4-BE49-F238E27FC236}">
                <a16:creationId xmlns:a16="http://schemas.microsoft.com/office/drawing/2014/main" id="{38C75C6E-FB16-4DCD-AFCF-A77EFD7D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97345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Delay risk is concentrated, not evenly distributed across partners.</a:t>
            </a:r>
          </a:p>
        </p:txBody>
      </p:sp>
      <p:sp>
        <p:nvSpPr>
          <p:cNvPr id="66" name="slide-06-takeaway-band">
            <a:extLst xmlns:a="http://schemas.openxmlformats.org/drawingml/2006/main">
              <a:ext uri="{FF2B5EF4-FFF2-40B4-BE49-F238E27FC236}">
                <a16:creationId xmlns:a16="http://schemas.microsoft.com/office/drawing/2014/main" id="{E39ED28B-3E04-4653-BB78-26F72998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534650"/>
            <a:ext cx="89154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takeaway-label">
            <a:extLst xmlns:a="http://schemas.openxmlformats.org/drawingml/2006/main">
              <a:ext uri="{FF2B5EF4-FFF2-40B4-BE49-F238E27FC236}">
                <a16:creationId xmlns:a16="http://schemas.microsoft.com/office/drawing/2014/main" id="{64CF9176-8E44-4B7E-9BD5-E1AF6502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6870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TAKEAWAY</a:t>
            </a:r>
          </a:p>
        </p:txBody>
      </p:sp>
      <p:sp>
        <p:nvSpPr>
          <p:cNvPr id="68" name="takeaway-copy">
            <a:extLst xmlns:a="http://schemas.openxmlformats.org/drawingml/2006/main">
              <a:ext uri="{FF2B5EF4-FFF2-40B4-BE49-F238E27FC236}">
                <a16:creationId xmlns:a16="http://schemas.microsoft.com/office/drawing/2014/main" id="{B5B1B397-51AA-4867-8EC3-6D9F229E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953750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 single blanket fix will not work—the response must target routes, tracking providers, vehicle types, and high-risk partners.</a:t>
            </a:r>
          </a:p>
        </p:txBody>
      </p:sp>
      <p:sp>
        <p:nvSpPr>
          <p:cNvPr id="69" name="slide-06-footer-left">
            <a:extLst xmlns:a="http://schemas.openxmlformats.org/drawingml/2006/main">
              <a:ext uri="{FF2B5EF4-FFF2-40B4-BE49-F238E27FC236}">
                <a16:creationId xmlns:a16="http://schemas.microsoft.com/office/drawing/2014/main" id="{8E48972B-DE8B-4AE4-AE06-1B6E01C2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0" name="slide-06-footer-right">
            <a:extLst xmlns:a="http://schemas.openxmlformats.org/drawingml/2006/main">
              <a:ext uri="{FF2B5EF4-FFF2-40B4-BE49-F238E27FC236}">
                <a16:creationId xmlns:a16="http://schemas.microsoft.com/office/drawing/2014/main" id="{4901E028-58A3-459A-B9E6-28C7E50E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640210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slide-07-top-accent">
            <a:extLst xmlns:a="http://schemas.openxmlformats.org/drawingml/2006/main">
              <a:ext uri="{FF2B5EF4-FFF2-40B4-BE49-F238E27FC236}">
                <a16:creationId xmlns:a16="http://schemas.microsoft.com/office/drawing/2014/main" id="{ACFDB9AA-F936-48CE-B5B3-428BB517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7-eyebrow">
            <a:extLst xmlns:a="http://schemas.openxmlformats.org/drawingml/2006/main">
              <a:ext uri="{FF2B5EF4-FFF2-40B4-BE49-F238E27FC236}">
                <a16:creationId xmlns:a16="http://schemas.microsoft.com/office/drawing/2014/main" id="{1D3ECF18-0A79-4169-9D5D-A8EDA860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BUSINESS RECOMMENDATIONS</a:t>
            </a:r>
          </a:p>
        </p:txBody>
      </p:sp>
      <p:sp>
        <p:nvSpPr>
          <p:cNvPr id="3" name="slide-07-number">
            <a:extLst xmlns:a="http://schemas.openxmlformats.org/drawingml/2006/main">
              <a:ext uri="{FF2B5EF4-FFF2-40B4-BE49-F238E27FC236}">
                <a16:creationId xmlns:a16="http://schemas.microsoft.com/office/drawing/2014/main" id="{3D3A5229-D46A-481A-A666-B741506F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07 / 08</a:t>
            </a:r>
          </a:p>
        </p:txBody>
      </p:sp>
      <p:sp>
        <p:nvSpPr>
          <p:cNvPr id="4" name="slide-07-title">
            <a:extLst xmlns:a="http://schemas.openxmlformats.org/drawingml/2006/main">
              <a:ext uri="{FF2B5EF4-FFF2-40B4-BE49-F238E27FC236}">
                <a16:creationId xmlns:a16="http://schemas.microsoft.com/office/drawing/2014/main" id="{7B660031-5B55-44B7-AF68-A92E8933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TURN INSIGHTS INTO</a:t>
            </a:r>
          </a:p>
          <a:p xmlns:a="http://schemas.openxmlformats.org/drawingml/2006/main">
            <a:pPr>
              <a:buNone/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AN OPERATING PLAN</a:t>
            </a:r>
          </a:p>
        </p:txBody>
      </p:sp>
      <p:sp>
        <p:nvSpPr>
          <p:cNvPr id="5" name="slide-07-subtitle">
            <a:extLst xmlns:a="http://schemas.openxmlformats.org/drawingml/2006/main">
              <a:ext uri="{FF2B5EF4-FFF2-40B4-BE49-F238E27FC236}">
                <a16:creationId xmlns:a16="http://schemas.microsoft.com/office/drawing/2014/main" id="{EA3DC578-A7D6-46CF-8FDB-ACD0EA7C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Each action targets a bottleneck exposed by the EDA, SQL analysis, and Power BI dashboard.</a:t>
            </a:r>
          </a:p>
        </p:txBody>
      </p:sp>
      <p:sp>
        <p:nvSpPr>
          <p:cNvPr id="6" name="actions-label">
            <a:extLst xmlns:a="http://schemas.openxmlformats.org/drawingml/2006/main">
              <a:ext uri="{FF2B5EF4-FFF2-40B4-BE49-F238E27FC236}">
                <a16:creationId xmlns:a16="http://schemas.microsoft.com/office/drawing/2014/main" id="{F5917416-66FD-49B3-8534-C21B212B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PRIORITY ACTIONS</a:t>
            </a:r>
          </a:p>
        </p:txBody>
      </p:sp>
      <p:sp>
        <p:nvSpPr>
          <p:cNvPr id="7" name="recommendation-0">
            <a:extLst xmlns:a="http://schemas.openxmlformats.org/drawingml/2006/main">
              <a:ext uri="{FF2B5EF4-FFF2-40B4-BE49-F238E27FC236}">
                <a16:creationId xmlns:a16="http://schemas.microsoft.com/office/drawing/2014/main" id="{BEFC27B1-7ACC-4B29-ABC0-AAA4CAE9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8" name="recommendation-0-accent">
            <a:extLst xmlns:a="http://schemas.openxmlformats.org/drawingml/2006/main">
              <a:ext uri="{FF2B5EF4-FFF2-40B4-BE49-F238E27FC236}">
                <a16:creationId xmlns:a16="http://schemas.microsoft.com/office/drawing/2014/main" id="{CB4CE024-C488-4B0C-824E-01DEF9D4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ecommendation-0-number-bg">
            <a:extLst xmlns:a="http://schemas.openxmlformats.org/drawingml/2006/main">
              <a:ext uri="{FF2B5EF4-FFF2-40B4-BE49-F238E27FC236}">
                <a16:creationId xmlns:a16="http://schemas.microsoft.com/office/drawing/2014/main" id="{2C05DC67-AB86-469F-9881-01F73FBD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95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commendation-0-number">
            <a:extLst xmlns:a="http://schemas.openxmlformats.org/drawingml/2006/main">
              <a:ext uri="{FF2B5EF4-FFF2-40B4-BE49-F238E27FC236}">
                <a16:creationId xmlns:a16="http://schemas.microsoft.com/office/drawing/2014/main" id="{CEBB56BC-6943-4470-ABC6-EEA61FF38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95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1" name="recommendation-0-title">
            <a:extLst xmlns:a="http://schemas.openxmlformats.org/drawingml/2006/main">
              <a:ext uri="{FF2B5EF4-FFF2-40B4-BE49-F238E27FC236}">
                <a16:creationId xmlns:a16="http://schemas.microsoft.com/office/drawing/2014/main" id="{E0E163F2-D7D4-4E99-AE9E-4F9247F4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767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CONTROL HIGH-RISK ROUTES</a:t>
            </a:r>
          </a:p>
        </p:txBody>
      </p:sp>
      <p:sp>
        <p:nvSpPr>
          <p:cNvPr id="12" name="recommendation-0-evidence">
            <a:extLst xmlns:a="http://schemas.openxmlformats.org/drawingml/2006/main">
              <a:ext uri="{FF2B5EF4-FFF2-40B4-BE49-F238E27FC236}">
                <a16:creationId xmlns:a16="http://schemas.microsoft.com/office/drawing/2014/main" id="{DC8ECA23-D432-4FF0-9009-77AED760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4005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20A16"/>
                </a:solidFill>
              </a:defRPr>
            </a:pPr>
            <a:r>
              <a:rPr sz="1050" b="1">
                <a:solidFill>
                  <a:srgbClr val="D20A16"/>
                </a:solidFill>
              </a:rPr>
              <a:t>81.08% very long  ·  73.08% short</a:t>
            </a:r>
          </a:p>
        </p:txBody>
      </p:sp>
      <p:sp>
        <p:nvSpPr>
          <p:cNvPr id="13" name="recommendation-0-action">
            <a:extLst xmlns:a="http://schemas.openxmlformats.org/drawingml/2006/main">
              <a:ext uri="{FF2B5EF4-FFF2-40B4-BE49-F238E27FC236}">
                <a16:creationId xmlns:a16="http://schemas.microsoft.com/office/drawing/2014/main" id="{A2E6CF3F-9FC6-4740-BEC3-A51C3637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244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Create route-specific service rules, capacity plans, and exception alerts instead of one operating standard for every distance band.</a:t>
            </a:r>
          </a:p>
        </p:txBody>
      </p:sp>
      <p:sp>
        <p:nvSpPr>
          <p:cNvPr id="14" name="recommendation-1">
            <a:extLst xmlns:a="http://schemas.openxmlformats.org/drawingml/2006/main">
              <a:ext uri="{FF2B5EF4-FFF2-40B4-BE49-F238E27FC236}">
                <a16:creationId xmlns:a16="http://schemas.microsoft.com/office/drawing/2014/main" id="{EEA32A35-31A8-4804-8DE7-D792A04B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0225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15" name="recommendation-1-accent">
            <a:extLst xmlns:a="http://schemas.openxmlformats.org/drawingml/2006/main">
              <a:ext uri="{FF2B5EF4-FFF2-40B4-BE49-F238E27FC236}">
                <a16:creationId xmlns:a16="http://schemas.microsoft.com/office/drawing/2014/main" id="{F4728C65-215D-439F-B46F-FAB0D1D8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0225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ecommendation-1-number-bg">
            <a:extLst xmlns:a="http://schemas.openxmlformats.org/drawingml/2006/main">
              <a:ext uri="{FF2B5EF4-FFF2-40B4-BE49-F238E27FC236}">
                <a16:creationId xmlns:a16="http://schemas.microsoft.com/office/drawing/2014/main" id="{CA744F52-046D-4169-8E2E-29D3E396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19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recommendation-1-number">
            <a:extLst xmlns:a="http://schemas.openxmlformats.org/drawingml/2006/main">
              <a:ext uri="{FF2B5EF4-FFF2-40B4-BE49-F238E27FC236}">
                <a16:creationId xmlns:a16="http://schemas.microsoft.com/office/drawing/2014/main" id="{4DFA848E-146D-42B6-B062-5ED98D9F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9436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8" name="recommendation-1-title">
            <a:extLst xmlns:a="http://schemas.openxmlformats.org/drawingml/2006/main">
              <a:ext uri="{FF2B5EF4-FFF2-40B4-BE49-F238E27FC236}">
                <a16:creationId xmlns:a16="http://schemas.microsoft.com/office/drawing/2014/main" id="{1C846F1A-F582-4D8C-9662-36995BFA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8007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STANDARDIZE GPS DATA</a:t>
            </a:r>
          </a:p>
        </p:txBody>
      </p:sp>
      <p:sp>
        <p:nvSpPr>
          <p:cNvPr id="19" name="recommendation-1-evidence">
            <a:extLst xmlns:a="http://schemas.openxmlformats.org/drawingml/2006/main">
              <a:ext uri="{FF2B5EF4-FFF2-40B4-BE49-F238E27FC236}">
                <a16:creationId xmlns:a16="http://schemas.microsoft.com/office/drawing/2014/main" id="{B8B58785-C667-48DE-8857-36DA1140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124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47B2A"/>
                </a:solidFill>
              </a:defRPr>
            </a:pPr>
            <a:r>
              <a:rPr sz="1050" b="1">
                <a:solidFill>
                  <a:srgbClr val="F47B2A"/>
                </a:solidFill>
              </a:rPr>
              <a:t>MANUAL 99%  ·  CONSENT TRACK 87%</a:t>
            </a:r>
          </a:p>
        </p:txBody>
      </p:sp>
      <p:sp>
        <p:nvSpPr>
          <p:cNvPr id="20" name="recommendation-1-action">
            <a:extLst xmlns:a="http://schemas.openxmlformats.org/drawingml/2006/main">
              <a:ext uri="{FF2B5EF4-FFF2-40B4-BE49-F238E27FC236}">
                <a16:creationId xmlns:a16="http://schemas.microsoft.com/office/drawing/2014/main" id="{7B9DD752-0CED-40D0-B0E1-32B537C6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44842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Reduce manual tracking, standardize provider names, and monitor GPS completeness and provider-level delay performance.</a:t>
            </a:r>
          </a:p>
        </p:txBody>
      </p:sp>
      <p:sp>
        <p:nvSpPr>
          <p:cNvPr id="21" name="recommendation-2">
            <a:extLst xmlns:a="http://schemas.openxmlformats.org/drawingml/2006/main">
              <a:ext uri="{FF2B5EF4-FFF2-40B4-BE49-F238E27FC236}">
                <a16:creationId xmlns:a16="http://schemas.microsoft.com/office/drawing/2014/main" id="{2BFA7381-27F8-4EA1-8A8F-AADE8D66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2" name="recommendation-2-accent">
            <a:extLst xmlns:a="http://schemas.openxmlformats.org/drawingml/2006/main">
              <a:ext uri="{FF2B5EF4-FFF2-40B4-BE49-F238E27FC236}">
                <a16:creationId xmlns:a16="http://schemas.microsoft.com/office/drawing/2014/main" id="{DCB6B627-C57C-44E5-8ED1-A5B9B2E5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ecommendation-2-number-bg">
            <a:extLst xmlns:a="http://schemas.openxmlformats.org/drawingml/2006/main">
              <a:ext uri="{FF2B5EF4-FFF2-40B4-BE49-F238E27FC236}">
                <a16:creationId xmlns:a16="http://schemas.microsoft.com/office/drawing/2014/main" id="{E35811C7-F482-4E31-8470-766A48E9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754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recommendation-2-number">
            <a:extLst xmlns:a="http://schemas.openxmlformats.org/drawingml/2006/main">
              <a:ext uri="{FF2B5EF4-FFF2-40B4-BE49-F238E27FC236}">
                <a16:creationId xmlns:a16="http://schemas.microsoft.com/office/drawing/2014/main" id="{753E83A9-BCF3-4A9D-835E-B895FE21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76676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5" name="recommendation-2-title">
            <a:extLst xmlns:a="http://schemas.openxmlformats.org/drawingml/2006/main">
              <a:ext uri="{FF2B5EF4-FFF2-40B4-BE49-F238E27FC236}">
                <a16:creationId xmlns:a16="http://schemas.microsoft.com/office/drawing/2014/main" id="{1338D1AD-CBEE-4308-8C1B-B31BBE3D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INTERVENE BY VEHICLE TYPE</a:t>
            </a:r>
          </a:p>
        </p:txBody>
      </p:sp>
      <p:sp>
        <p:nvSpPr>
          <p:cNvPr id="26" name="recommendation-2-evidence">
            <a:extLst xmlns:a="http://schemas.openxmlformats.org/drawingml/2006/main">
              <a:ext uri="{FF2B5EF4-FFF2-40B4-BE49-F238E27FC236}">
                <a16:creationId xmlns:a16="http://schemas.microsoft.com/office/drawing/2014/main" id="{058B7B15-40D1-4BAD-8C0B-2D506B3D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84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81.53% single-axle  ·  80.81% 3XL trailer</a:t>
            </a:r>
          </a:p>
        </p:txBody>
      </p:sp>
      <p:sp>
        <p:nvSpPr>
          <p:cNvPr id="27" name="recommendation-2-action">
            <a:extLst xmlns:a="http://schemas.openxmlformats.org/drawingml/2006/main">
              <a:ext uri="{FF2B5EF4-FFF2-40B4-BE49-F238E27FC236}">
                <a16:creationId xmlns:a16="http://schemas.microsoft.com/office/drawing/2014/main" id="{05978701-2698-4610-A5CB-BF6435FD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81724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Audit dispatch, maintenance, load planning, and route assignment for the vehicle types carrying the highest delay exposure.</a:t>
            </a:r>
          </a:p>
        </p:txBody>
      </p:sp>
      <p:sp>
        <p:nvSpPr>
          <p:cNvPr id="28" name="recommendation-3">
            <a:extLst xmlns:a="http://schemas.openxmlformats.org/drawingml/2006/main">
              <a:ext uri="{FF2B5EF4-FFF2-40B4-BE49-F238E27FC236}">
                <a16:creationId xmlns:a16="http://schemas.microsoft.com/office/drawing/2014/main" id="{DFA828AE-6C66-4F1B-A05F-ABA2DFE7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58275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9" name="recommendation-3-accent">
            <a:extLst xmlns:a="http://schemas.openxmlformats.org/drawingml/2006/main">
              <a:ext uri="{FF2B5EF4-FFF2-40B4-BE49-F238E27FC236}">
                <a16:creationId xmlns:a16="http://schemas.microsoft.com/office/drawing/2014/main" id="{D5DDF5BC-F725-4188-B02B-0EE76EE72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58275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recommendation-3-number-bg">
            <a:extLst xmlns:a="http://schemas.openxmlformats.org/drawingml/2006/main">
              <a:ext uri="{FF2B5EF4-FFF2-40B4-BE49-F238E27FC236}">
                <a16:creationId xmlns:a16="http://schemas.microsoft.com/office/drawing/2014/main" id="{4DE952A3-7D70-4AC6-861E-7B4294B0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926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recommendation-3-number">
            <a:extLst xmlns:a="http://schemas.openxmlformats.org/drawingml/2006/main">
              <a:ext uri="{FF2B5EF4-FFF2-40B4-BE49-F238E27FC236}">
                <a16:creationId xmlns:a16="http://schemas.microsoft.com/office/drawing/2014/main" id="{A7718481-D64A-4FC5-B268-17AFF264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93916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2" name="recommendation-3-title">
            <a:extLst xmlns:a="http://schemas.openxmlformats.org/drawingml/2006/main">
              <a:ext uri="{FF2B5EF4-FFF2-40B4-BE49-F238E27FC236}">
                <a16:creationId xmlns:a16="http://schemas.microsoft.com/office/drawing/2014/main" id="{2CEB1401-6D0E-42C1-A4C2-ACF10102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248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ENFORCE PARTNER ACCOUNTABILITY</a:t>
            </a:r>
          </a:p>
        </p:txBody>
      </p:sp>
      <p:sp>
        <p:nvSpPr>
          <p:cNvPr id="33" name="recommendation-3-evidence">
            <a:extLst xmlns:a="http://schemas.openxmlformats.org/drawingml/2006/main">
              <a:ext uri="{FF2B5EF4-FFF2-40B4-BE49-F238E27FC236}">
                <a16:creationId xmlns:a16="http://schemas.microsoft.com/office/drawing/2014/main" id="{3694B4B8-7617-4F5B-8141-DE4F979C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57262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F6B2A"/>
                </a:solidFill>
              </a:defRPr>
            </a:pPr>
            <a:r>
              <a:rPr sz="1050" b="1">
                <a:solidFill>
                  <a:srgbClr val="3F6B2A"/>
                </a:solidFill>
              </a:rPr>
              <a:t>95.38% supplier  ·  73.35% customer</a:t>
            </a:r>
          </a:p>
        </p:txBody>
      </p:sp>
      <p:sp>
        <p:nvSpPr>
          <p:cNvPr id="34" name="recommendation-3-action">
            <a:extLst xmlns:a="http://schemas.openxmlformats.org/drawingml/2006/main">
              <a:ext uri="{FF2B5EF4-FFF2-40B4-BE49-F238E27FC236}">
                <a16:creationId xmlns:a16="http://schemas.microsoft.com/office/drawing/2014/main" id="{50F20A96-FB65-4CB5-A47D-C2D5162B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8964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Run root-cause reviews with high-risk partners, define service-level ownership, and resolve the 737 unknown-supplier records.</a:t>
            </a:r>
          </a:p>
        </p:txBody>
      </p:sp>
      <p:sp>
        <p:nvSpPr>
          <p:cNvPr id="35" name="control-loop-panel">
            <a:extLst xmlns:a="http://schemas.openxmlformats.org/drawingml/2006/main">
              <a:ext uri="{FF2B5EF4-FFF2-40B4-BE49-F238E27FC236}">
                <a16:creationId xmlns:a16="http://schemas.microsoft.com/office/drawing/2014/main" id="{9CA8A6A4-09AC-4634-BCF1-9C3BCD0C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486150"/>
            <a:ext cx="2914650" cy="487680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ntrol-loop-label">
            <a:extLst xmlns:a="http://schemas.openxmlformats.org/drawingml/2006/main">
              <a:ext uri="{FF2B5EF4-FFF2-40B4-BE49-F238E27FC236}">
                <a16:creationId xmlns:a16="http://schemas.microsoft.com/office/drawing/2014/main" id="{EE61DFB2-0491-495A-99A7-EB37FB47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338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MANAGEMENT CONTROL LOOP</a:t>
            </a:r>
          </a:p>
        </p:txBody>
      </p:sp>
      <p:sp>
        <p:nvSpPr>
          <p:cNvPr id="37" name="loop-0-circle">
            <a:extLst xmlns:a="http://schemas.openxmlformats.org/drawingml/2006/main">
              <a:ext uri="{FF2B5EF4-FFF2-40B4-BE49-F238E27FC236}">
                <a16:creationId xmlns:a16="http://schemas.microsoft.com/office/drawing/2014/main" id="{A0049512-81DA-4BAE-B6F4-D6CF4B78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10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8" name="loop-0-number">
            <a:extLst xmlns:a="http://schemas.openxmlformats.org/drawingml/2006/main">
              <a:ext uri="{FF2B5EF4-FFF2-40B4-BE49-F238E27FC236}">
                <a16:creationId xmlns:a16="http://schemas.microsoft.com/office/drawing/2014/main" id="{B7BCFC65-480C-4339-A273-823AD36B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719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39" name="loop-0-title">
            <a:extLst xmlns:a="http://schemas.openxmlformats.org/drawingml/2006/main">
              <a:ext uri="{FF2B5EF4-FFF2-40B4-BE49-F238E27FC236}">
                <a16:creationId xmlns:a16="http://schemas.microsoft.com/office/drawing/2014/main" id="{E1BE2302-91BE-4B40-9551-35123ED9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2291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MONITOR</a:t>
            </a:r>
          </a:p>
        </p:txBody>
      </p:sp>
      <p:sp>
        <p:nvSpPr>
          <p:cNvPr id="40" name="loop-0-body">
            <a:extLst xmlns:a="http://schemas.openxmlformats.org/drawingml/2006/main">
              <a:ext uri="{FF2B5EF4-FFF2-40B4-BE49-F238E27FC236}">
                <a16:creationId xmlns:a16="http://schemas.microsoft.com/office/drawing/2014/main" id="{0B08B5DC-1EA3-40C5-A15C-ACE31E04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514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Power BI flags changes</a:t>
            </a:r>
          </a:p>
        </p:txBody>
      </p:sp>
      <p:sp>
        <p:nvSpPr>
          <p:cNvPr id="41" name="loop-0-line">
            <a:extLst xmlns:a="http://schemas.openxmlformats.org/drawingml/2006/main">
              <a:ext uri="{FF2B5EF4-FFF2-40B4-BE49-F238E27FC236}">
                <a16:creationId xmlns:a16="http://schemas.microsoft.com/office/drawing/2014/main" id="{47701723-E138-49C6-89E6-77A232F0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625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loop-1-circle">
            <a:extLst xmlns:a="http://schemas.openxmlformats.org/drawingml/2006/main">
              <a:ext uri="{FF2B5EF4-FFF2-40B4-BE49-F238E27FC236}">
                <a16:creationId xmlns:a16="http://schemas.microsoft.com/office/drawing/2014/main" id="{03F418BE-17A5-45EA-88DB-39F75706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1625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3" name="loop-1-number">
            <a:extLst xmlns:a="http://schemas.openxmlformats.org/drawingml/2006/main">
              <a:ext uri="{FF2B5EF4-FFF2-40B4-BE49-F238E27FC236}">
                <a16:creationId xmlns:a16="http://schemas.microsoft.com/office/drawing/2014/main" id="{BC4FDC2B-FA25-4254-866E-64D0C58A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3244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4" name="loop-1-title">
            <a:extLst xmlns:a="http://schemas.openxmlformats.org/drawingml/2006/main">
              <a:ext uri="{FF2B5EF4-FFF2-40B4-BE49-F238E27FC236}">
                <a16:creationId xmlns:a16="http://schemas.microsoft.com/office/drawing/2014/main" id="{1E543D2E-F153-4F73-89EF-C78D996D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181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INVESTIGATE</a:t>
            </a:r>
          </a:p>
        </p:txBody>
      </p:sp>
      <p:sp>
        <p:nvSpPr>
          <p:cNvPr id="45" name="loop-1-body">
            <a:extLst xmlns:a="http://schemas.openxmlformats.org/drawingml/2006/main">
              <a:ext uri="{FF2B5EF4-FFF2-40B4-BE49-F238E27FC236}">
                <a16:creationId xmlns:a16="http://schemas.microsoft.com/office/drawing/2014/main" id="{31A14455-C33A-4FB9-B0E4-C652680A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467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SQL traces the driver</a:t>
            </a:r>
          </a:p>
        </p:txBody>
      </p:sp>
      <p:sp>
        <p:nvSpPr>
          <p:cNvPr id="46" name="loop-1-line">
            <a:extLst xmlns:a="http://schemas.openxmlformats.org/drawingml/2006/main">
              <a:ext uri="{FF2B5EF4-FFF2-40B4-BE49-F238E27FC236}">
                <a16:creationId xmlns:a16="http://schemas.microsoft.com/office/drawing/2014/main" id="{6E59AC15-250E-4290-A0CC-557C6957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7150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loop-2-circle">
            <a:extLst xmlns:a="http://schemas.openxmlformats.org/drawingml/2006/main">
              <a:ext uri="{FF2B5EF4-FFF2-40B4-BE49-F238E27FC236}">
                <a16:creationId xmlns:a16="http://schemas.microsoft.com/office/drawing/2014/main" id="{7A1F9F82-8F0A-4BDF-BD4E-7A343E52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115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8" name="loop-2-number">
            <a:extLst xmlns:a="http://schemas.openxmlformats.org/drawingml/2006/main">
              <a:ext uri="{FF2B5EF4-FFF2-40B4-BE49-F238E27FC236}">
                <a16:creationId xmlns:a16="http://schemas.microsoft.com/office/drawing/2014/main" id="{06BEE547-8482-4103-B650-CB6EAA40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2769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9" name="loop-2-title">
            <a:extLst xmlns:a="http://schemas.openxmlformats.org/drawingml/2006/main">
              <a:ext uri="{FF2B5EF4-FFF2-40B4-BE49-F238E27FC236}">
                <a16:creationId xmlns:a16="http://schemas.microsoft.com/office/drawing/2014/main" id="{1F2D50FA-202A-4C74-B53C-827B6526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1341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ACT</a:t>
            </a:r>
          </a:p>
        </p:txBody>
      </p:sp>
      <p:sp>
        <p:nvSpPr>
          <p:cNvPr id="50" name="loop-2-body">
            <a:extLst xmlns:a="http://schemas.openxmlformats.org/drawingml/2006/main">
              <a:ext uri="{FF2B5EF4-FFF2-40B4-BE49-F238E27FC236}">
                <a16:creationId xmlns:a16="http://schemas.microsoft.com/office/drawing/2014/main" id="{1D7E7734-18F9-48E4-9737-BF592D6CC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419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Operations owns response</a:t>
            </a:r>
          </a:p>
        </p:txBody>
      </p:sp>
      <p:sp>
        <p:nvSpPr>
          <p:cNvPr id="51" name="loop-2-line">
            <a:extLst xmlns:a="http://schemas.openxmlformats.org/drawingml/2006/main">
              <a:ext uri="{FF2B5EF4-FFF2-40B4-BE49-F238E27FC236}">
                <a16:creationId xmlns:a16="http://schemas.microsoft.com/office/drawing/2014/main" id="{EB8C9338-024E-4A99-A179-BF602F37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6675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loop-3-circle">
            <a:extLst xmlns:a="http://schemas.openxmlformats.org/drawingml/2006/main">
              <a:ext uri="{FF2B5EF4-FFF2-40B4-BE49-F238E27FC236}">
                <a16:creationId xmlns:a16="http://schemas.microsoft.com/office/drawing/2014/main" id="{0C0BD10F-51A1-4347-83E4-054A4CB5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0675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3" name="loop-3-number">
            <a:extLst xmlns:a="http://schemas.openxmlformats.org/drawingml/2006/main">
              <a:ext uri="{FF2B5EF4-FFF2-40B4-BE49-F238E27FC236}">
                <a16:creationId xmlns:a16="http://schemas.microsoft.com/office/drawing/2014/main" id="{E572A0E2-A8AE-486F-B942-19C39F01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2294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54" name="loop-3-title">
            <a:extLst xmlns:a="http://schemas.openxmlformats.org/drawingml/2006/main">
              <a:ext uri="{FF2B5EF4-FFF2-40B4-BE49-F238E27FC236}">
                <a16:creationId xmlns:a16="http://schemas.microsoft.com/office/drawing/2014/main" id="{1288A0BE-FE1F-4D95-9730-9D53259E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7086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55" name="loop-3-body">
            <a:extLst xmlns:a="http://schemas.openxmlformats.org/drawingml/2006/main">
              <a:ext uri="{FF2B5EF4-FFF2-40B4-BE49-F238E27FC236}">
                <a16:creationId xmlns:a16="http://schemas.microsoft.com/office/drawing/2014/main" id="{28A2B2B9-E434-4282-8FAF-97BD0994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7372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KPIs confirm movement</a:t>
            </a:r>
          </a:p>
        </p:txBody>
      </p:sp>
      <p:sp>
        <p:nvSpPr>
          <p:cNvPr id="56" name="success-panel">
            <a:extLst xmlns:a="http://schemas.openxmlformats.org/drawingml/2006/main">
              <a:ext uri="{FF2B5EF4-FFF2-40B4-BE49-F238E27FC236}">
                <a16:creationId xmlns:a16="http://schemas.microsoft.com/office/drawing/2014/main" id="{139AC019-0FA4-4D46-BC12-98A9FC69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8610600"/>
            <a:ext cx="29146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7" name="success-title">
            <a:extLst xmlns:a="http://schemas.openxmlformats.org/drawingml/2006/main">
              <a:ext uri="{FF2B5EF4-FFF2-40B4-BE49-F238E27FC236}">
                <a16:creationId xmlns:a16="http://schemas.microsoft.com/office/drawing/2014/main" id="{F8F78EBC-5091-4453-88A6-DF11A7AF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883920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WHAT SUCCESS LOOKS LIKE</a:t>
            </a:r>
          </a:p>
        </p:txBody>
      </p:sp>
      <p:sp>
        <p:nvSpPr>
          <p:cNvPr id="58" name="success-0-check">
            <a:extLst xmlns:a="http://schemas.openxmlformats.org/drawingml/2006/main">
              <a:ext uri="{FF2B5EF4-FFF2-40B4-BE49-F238E27FC236}">
                <a16:creationId xmlns:a16="http://schemas.microsoft.com/office/drawing/2014/main" id="{448EEDC8-A4BD-4D89-8A88-8F507CE6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2868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success-0-mark">
            <a:extLst xmlns:a="http://schemas.openxmlformats.org/drawingml/2006/main">
              <a:ext uri="{FF2B5EF4-FFF2-40B4-BE49-F238E27FC236}">
                <a16:creationId xmlns:a16="http://schemas.microsoft.com/office/drawing/2014/main" id="{8FBF5780-F239-4C71-BFFA-ED09E5F1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29640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0" name="success-0-text">
            <a:extLst xmlns:a="http://schemas.openxmlformats.org/drawingml/2006/main">
              <a:ext uri="{FF2B5EF4-FFF2-40B4-BE49-F238E27FC236}">
                <a16:creationId xmlns:a16="http://schemas.microsoft.com/office/drawing/2014/main" id="{F92A0D2C-2DB3-4EA7-B795-DFF6F05C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92773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Lower delay rate</a:t>
            </a:r>
          </a:p>
        </p:txBody>
      </p:sp>
      <p:sp>
        <p:nvSpPr>
          <p:cNvPr id="61" name="success-1-check">
            <a:extLst xmlns:a="http://schemas.openxmlformats.org/drawingml/2006/main">
              <a:ext uri="{FF2B5EF4-FFF2-40B4-BE49-F238E27FC236}">
                <a16:creationId xmlns:a16="http://schemas.microsoft.com/office/drawing/2014/main" id="{39C0A5CC-EA9C-483F-B09C-98063665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6488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success-1-mark">
            <a:extLst xmlns:a="http://schemas.openxmlformats.org/drawingml/2006/main">
              <a:ext uri="{FF2B5EF4-FFF2-40B4-BE49-F238E27FC236}">
                <a16:creationId xmlns:a16="http://schemas.microsoft.com/office/drawing/2014/main" id="{981649AA-1C23-4EE7-AE6E-AAE4BA5A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65835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3" name="success-1-text">
            <a:extLst xmlns:a="http://schemas.openxmlformats.org/drawingml/2006/main">
              <a:ext uri="{FF2B5EF4-FFF2-40B4-BE49-F238E27FC236}">
                <a16:creationId xmlns:a16="http://schemas.microsoft.com/office/drawing/2014/main" id="{4777FE9E-2C4A-4B2C-B01E-B7586E8C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96393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Higher on-time rate</a:t>
            </a:r>
          </a:p>
        </p:txBody>
      </p:sp>
      <p:sp>
        <p:nvSpPr>
          <p:cNvPr id="64" name="success-2-check">
            <a:extLst xmlns:a="http://schemas.openxmlformats.org/drawingml/2006/main">
              <a:ext uri="{FF2B5EF4-FFF2-40B4-BE49-F238E27FC236}">
                <a16:creationId xmlns:a16="http://schemas.microsoft.com/office/drawing/2014/main" id="{C04911F0-5BAF-4EA8-BE16-2D169F57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0107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success-2-mark">
            <a:extLst xmlns:a="http://schemas.openxmlformats.org/drawingml/2006/main">
              <a:ext uri="{FF2B5EF4-FFF2-40B4-BE49-F238E27FC236}">
                <a16:creationId xmlns:a16="http://schemas.microsoft.com/office/drawing/2014/main" id="{59C77664-188E-445A-BC19-DF051ECA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02030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6" name="success-2-text">
            <a:extLst xmlns:a="http://schemas.openxmlformats.org/drawingml/2006/main">
              <a:ext uri="{FF2B5EF4-FFF2-40B4-BE49-F238E27FC236}">
                <a16:creationId xmlns:a16="http://schemas.microsoft.com/office/drawing/2014/main" id="{3655D261-6C15-45A7-816C-F1C47ED8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00012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Cleaner GPS and supplier data</a:t>
            </a:r>
          </a:p>
        </p:txBody>
      </p:sp>
      <p:sp>
        <p:nvSpPr>
          <p:cNvPr id="67" name="success-3-check">
            <a:extLst xmlns:a="http://schemas.openxmlformats.org/drawingml/2006/main">
              <a:ext uri="{FF2B5EF4-FFF2-40B4-BE49-F238E27FC236}">
                <a16:creationId xmlns:a16="http://schemas.microsoft.com/office/drawing/2014/main" id="{35359D55-5E92-4E93-9BA7-399C55CF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3727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success-3-mark">
            <a:extLst xmlns:a="http://schemas.openxmlformats.org/drawingml/2006/main">
              <a:ext uri="{FF2B5EF4-FFF2-40B4-BE49-F238E27FC236}">
                <a16:creationId xmlns:a16="http://schemas.microsoft.com/office/drawing/2014/main" id="{63B94F09-5978-425A-A01E-CE3FC66A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38225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9" name="success-3-text">
            <a:extLst xmlns:a="http://schemas.openxmlformats.org/drawingml/2006/main">
              <a:ext uri="{FF2B5EF4-FFF2-40B4-BE49-F238E27FC236}">
                <a16:creationId xmlns:a16="http://schemas.microsoft.com/office/drawing/2014/main" id="{3A9FBF14-14E0-4200-8819-A61EAE0E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03632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Fewer failed or stuck shipments</a:t>
            </a:r>
          </a:p>
        </p:txBody>
      </p:sp>
      <p:sp>
        <p:nvSpPr>
          <p:cNvPr id="70" name="slide-07-principle-band">
            <a:extLst xmlns:a="http://schemas.openxmlformats.org/drawingml/2006/main">
              <a:ext uri="{FF2B5EF4-FFF2-40B4-BE49-F238E27FC236}">
                <a16:creationId xmlns:a16="http://schemas.microsoft.com/office/drawing/2014/main" id="{6173AF4D-C150-43F2-90B2-8DE26A24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10900"/>
            <a:ext cx="89154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71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34AD2288-795F-4502-B981-08A23E87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1823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OPERATING PRINCIPLE</a:t>
            </a:r>
          </a:p>
        </p:txBody>
      </p:sp>
      <p:sp>
        <p:nvSpPr>
          <p:cNvPr id="72" name="principle-copy">
            <a:extLst xmlns:a="http://schemas.openxmlformats.org/drawingml/2006/main">
              <a:ext uri="{FF2B5EF4-FFF2-40B4-BE49-F238E27FC236}">
                <a16:creationId xmlns:a16="http://schemas.microsoft.com/office/drawing/2014/main" id="{316C4DAD-B438-4830-AC99-822CD349A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1163300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82653"/>
                </a:solidFill>
              </a:defRPr>
            </a:pPr>
            <a:r>
              <a:rPr sz="1275" b="1">
                <a:solidFill>
                  <a:srgbClr val="082653"/>
                </a:solidFill>
              </a:rPr>
              <a:t>Use the dashboard as a recurring management system, not a one-time report.</a:t>
            </a:r>
          </a:p>
        </p:txBody>
      </p:sp>
      <p:sp>
        <p:nvSpPr>
          <p:cNvPr id="73" name="slide-07-footer-left">
            <a:extLst xmlns:a="http://schemas.openxmlformats.org/drawingml/2006/main">
              <a:ext uri="{FF2B5EF4-FFF2-40B4-BE49-F238E27FC236}">
                <a16:creationId xmlns:a16="http://schemas.microsoft.com/office/drawing/2014/main" id="{23649596-C52C-43BD-9550-4D4B7E18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4" name="slide-07-footer-right">
            <a:extLst xmlns:a="http://schemas.openxmlformats.org/drawingml/2006/main">
              <a:ext uri="{FF2B5EF4-FFF2-40B4-BE49-F238E27FC236}">
                <a16:creationId xmlns:a16="http://schemas.microsoft.com/office/drawing/2014/main" id="{113A6D8F-36D5-43C8-9205-94A29FA1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5292048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slide-08-top-accent">
            <a:extLst xmlns:a="http://schemas.openxmlformats.org/drawingml/2006/main">
              <a:ext uri="{FF2B5EF4-FFF2-40B4-BE49-F238E27FC236}">
                <a16:creationId xmlns:a16="http://schemas.microsoft.com/office/drawing/2014/main" id="{C698F716-3365-4D4B-BCB8-546187BB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8-eyebrow">
            <a:extLst xmlns:a="http://schemas.openxmlformats.org/drawingml/2006/main">
              <a:ext uri="{FF2B5EF4-FFF2-40B4-BE49-F238E27FC236}">
                <a16:creationId xmlns:a16="http://schemas.microsoft.com/office/drawing/2014/main" id="{82A7D7EB-277C-4346-8C88-58F648CD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PROJECT REPOSITORY</a:t>
            </a:r>
          </a:p>
        </p:txBody>
      </p:sp>
      <p:sp>
        <p:nvSpPr>
          <p:cNvPr id="3" name="slide-08-number">
            <a:extLst xmlns:a="http://schemas.openxmlformats.org/drawingml/2006/main">
              <a:ext uri="{FF2B5EF4-FFF2-40B4-BE49-F238E27FC236}">
                <a16:creationId xmlns:a16="http://schemas.microsoft.com/office/drawing/2014/main" id="{88A72FCD-600D-471C-A291-6789293E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08 / 08</a:t>
            </a:r>
          </a:p>
        </p:txBody>
      </p:sp>
      <p:sp>
        <p:nvSpPr>
          <p:cNvPr id="4" name="slide-08-title">
            <a:extLst xmlns:a="http://schemas.openxmlformats.org/drawingml/2006/main">
              <a:ext uri="{FF2B5EF4-FFF2-40B4-BE49-F238E27FC236}">
                <a16:creationId xmlns:a16="http://schemas.microsoft.com/office/drawing/2014/main" id="{33D444DE-F93E-42BB-883E-EDAFDF5D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525" b="1">
                <a:solidFill>
                  <a:srgbClr val="082653"/>
                </a:solidFill>
              </a:defRPr>
            </a:pPr>
            <a:r>
              <a:rPr sz="3525" b="1">
                <a:solidFill>
                  <a:srgbClr val="082653"/>
                </a:solidFill>
              </a:rPr>
              <a:t>EXPLORE THE FULL</a:t>
            </a:r>
          </a:p>
          <a:p xmlns:a="http://schemas.openxmlformats.org/drawingml/2006/main">
            <a:pPr>
              <a:buNone/>
              <a:defRPr sz="3525" b="1">
                <a:solidFill>
                  <a:srgbClr val="082653"/>
                </a:solidFill>
              </a:defRPr>
            </a:pPr>
            <a:r>
              <a:rPr sz="3525" b="1">
                <a:solidFill>
                  <a:srgbClr val="082653"/>
                </a:solidFill>
              </a:rPr>
              <a:t>END-TO-END PROJECT</a:t>
            </a:r>
          </a:p>
        </p:txBody>
      </p:sp>
      <p:sp>
        <p:nvSpPr>
          <p:cNvPr id="5" name="slide-08-subtitle">
            <a:extLst xmlns:a="http://schemas.openxmlformats.org/drawingml/2006/main">
              <a:ext uri="{FF2B5EF4-FFF2-40B4-BE49-F238E27FC236}">
                <a16:creationId xmlns:a16="http://schemas.microsoft.com/office/drawing/2014/main" id="{C7125FAE-99D8-4C7C-9FDA-BD06D10E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From raw logistics data to business recommendations, the complete analytical workflow is structured for GitHub.</a:t>
            </a:r>
          </a:p>
        </p:txBody>
      </p:sp>
      <p:sp>
        <p:nvSpPr>
          <p:cNvPr id="6" name="repository-hero">
            <a:extLst xmlns:a="http://schemas.openxmlformats.org/drawingml/2006/main">
              <a:ext uri="{FF2B5EF4-FFF2-40B4-BE49-F238E27FC236}">
                <a16:creationId xmlns:a16="http://schemas.microsoft.com/office/drawing/2014/main" id="{AFE54CB9-A7CE-41BB-A39F-CDEDC89E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8915400" cy="346710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pository-icon-bg">
            <a:extLst xmlns:a="http://schemas.openxmlformats.org/drawingml/2006/main">
              <a:ext uri="{FF2B5EF4-FFF2-40B4-BE49-F238E27FC236}">
                <a16:creationId xmlns:a16="http://schemas.microsoft.com/office/drawing/2014/main" id="{F2E35F87-3810-485E-AC23-959365D0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1638300" cy="1638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2F80ED"/>
            </a:solidFill>
            <a:prstDash val="solid"/>
          </a:ln>
        </p:spPr>
      </p:sp>
      <p:sp>
        <p:nvSpPr>
          <p:cNvPr id="8" name="repository-icon">
            <a:extLst xmlns:a="http://schemas.openxmlformats.org/drawingml/2006/main">
              <a:ext uri="{FF2B5EF4-FFF2-40B4-BE49-F238E27FC236}">
                <a16:creationId xmlns:a16="http://schemas.microsoft.com/office/drawing/2014/main" id="{63643779-416B-4660-86D8-A749A152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00550"/>
            <a:ext cx="1638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082653"/>
                </a:solidFill>
              </a:defRPr>
            </a:pPr>
            <a:r>
              <a:rPr sz="3600" b="1">
                <a:solidFill>
                  <a:srgbClr val="082653"/>
                </a:solidFill>
              </a:rPr>
              <a:t>&lt;/&gt;</a:t>
            </a:r>
          </a:p>
        </p:txBody>
      </p:sp>
      <p:sp>
        <p:nvSpPr>
          <p:cNvPr id="9" name="repository-platform">
            <a:extLst xmlns:a="http://schemas.openxmlformats.org/drawingml/2006/main">
              <a:ext uri="{FF2B5EF4-FFF2-40B4-BE49-F238E27FC236}">
                <a16:creationId xmlns:a16="http://schemas.microsoft.com/office/drawing/2014/main" id="{BF8AB6A0-91E2-4461-9838-BDDFE016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GITHUB</a:t>
            </a:r>
          </a:p>
        </p:txBody>
      </p:sp>
      <p:sp>
        <p:nvSpPr>
          <p:cNvPr id="10" name="repository-owner">
            <a:extLst xmlns:a="http://schemas.openxmlformats.org/drawingml/2006/main">
              <a:ext uri="{FF2B5EF4-FFF2-40B4-BE49-F238E27FC236}">
                <a16:creationId xmlns:a16="http://schemas.microsoft.com/office/drawing/2014/main" id="{A83B5E1D-5578-4D3B-B91C-864475CD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8862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9FB9DF"/>
                </a:solidFill>
              </a:defRPr>
            </a:pPr>
            <a:r>
              <a:rPr sz="1200" b="1">
                <a:solidFill>
                  <a:srgbClr val="9FB9DF"/>
                </a:solidFill>
              </a:rPr>
              <a:t>MOHAMEDTAREK00212  /</a:t>
            </a:r>
          </a:p>
        </p:txBody>
      </p:sp>
      <p:sp>
        <p:nvSpPr>
          <p:cNvPr id="11" name="repository-name">
            <a:extLst xmlns:a="http://schemas.openxmlformats.org/drawingml/2006/main">
              <a:ext uri="{FF2B5EF4-FFF2-40B4-BE49-F238E27FC236}">
                <a16:creationId xmlns:a16="http://schemas.microsoft.com/office/drawing/2014/main" id="{80BFCE8E-752D-4334-B89F-4043E29C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21005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Transportation-Logistics</a:t>
            </a:r>
          </a:p>
        </p:txBody>
      </p:sp>
      <p:sp>
        <p:nvSpPr>
          <p:cNvPr id="12" name="repository-description">
            <a:extLst xmlns:a="http://schemas.openxmlformats.org/drawingml/2006/main">
              <a:ext uri="{FF2B5EF4-FFF2-40B4-BE49-F238E27FC236}">
                <a16:creationId xmlns:a16="http://schemas.microsoft.com/office/drawing/2014/main" id="{C6AE084F-7197-41B4-AC47-570355CC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819650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DDE8F8"/>
                </a:solidFill>
              </a:defRPr>
            </a:pPr>
            <a:r>
              <a:rPr sz="1500">
                <a:solidFill>
                  <a:srgbClr val="DDE8F8"/>
                </a:solidFill>
              </a:rPr>
              <a:t>Transportation &amp; Logistics Analytics</a:t>
            </a:r>
          </a:p>
          <a:p xmlns:a="http://schemas.openxmlformats.org/drawingml/2006/main">
            <a:pPr>
              <a:buNone/>
              <a:defRPr sz="1500">
                <a:solidFill>
                  <a:srgbClr val="DDE8F8"/>
                </a:solidFill>
              </a:defRPr>
            </a:pPr>
            <a:r>
              <a:rPr sz="1500">
                <a:solidFill>
                  <a:srgbClr val="DDE8F8"/>
                </a:solidFill>
              </a:rPr>
              <a:t>End-to-End Data Analytics and BI Case Study</a:t>
            </a:r>
          </a:p>
        </p:txBody>
      </p:sp>
      <p:sp>
        <p:nvSpPr>
          <p:cNvPr id="13" name="repository-link-bg">
            <a:extLst xmlns:a="http://schemas.openxmlformats.org/drawingml/2006/main">
              <a:ext uri="{FF2B5EF4-FFF2-40B4-BE49-F238E27FC236}">
                <a16:creationId xmlns:a16="http://schemas.microsoft.com/office/drawing/2014/main" id="{A3C48BB6-39D3-4F81-B799-3BEB4FAF6855}"/>
              </a:ext>
            </a:extLst>
            <a:hlinkClick xmlns:p7="http://schemas.openxmlformats.org/officeDocument/2006/relationships" xmlns:a="http://schemas.openxmlformats.org/drawingml/2006/main" p7:id="rId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791200"/>
            <a:ext cx="5810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epository-link-label">
            <a:extLst xmlns:a="http://schemas.openxmlformats.org/drawingml/2006/main">
              <a:ext uri="{FF2B5EF4-FFF2-40B4-BE49-F238E27FC236}">
                <a16:creationId xmlns:a16="http://schemas.microsoft.com/office/drawing/2014/main" id="{6995E60C-929A-4D21-8439-70635842B300}"/>
              </a:ext>
            </a:extLst>
            <a:hlinkClick xmlns:p7="http://schemas.openxmlformats.org/officeDocument/2006/relationships" xmlns:a="http://schemas.openxmlformats.org/drawingml/2006/main" p7:id="rId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9055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VIEW THE PROJECT</a:t>
            </a:r>
          </a:p>
        </p:txBody>
      </p:sp>
      <p:sp>
        <p:nvSpPr>
          <p:cNvPr id="15" name="repository-link">
            <a:extLst xmlns:a="http://schemas.openxmlformats.org/drawingml/2006/main">
              <a:ext uri="{FF2B5EF4-FFF2-40B4-BE49-F238E27FC236}">
                <a16:creationId xmlns:a16="http://schemas.microsoft.com/office/drawing/2014/main" id="{2CA20D0E-01C3-4B1D-87D8-A13F4C7984E1}"/>
              </a:ext>
            </a:extLst>
            <a:hlinkClick xmlns:p7="http://schemas.openxmlformats.org/officeDocument/2006/relationships" xmlns:a="http://schemas.openxmlformats.org/drawingml/2006/main" p7:id="rId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6172200"/>
            <a:ext cx="539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github.com/Mohamedtarek00212/Transportation-Logistics</a:t>
            </a:r>
          </a:p>
        </p:txBody>
      </p:sp>
      <p:sp>
        <p:nvSpPr>
          <p:cNvPr id="16" name="linkedin-link">
            <a:extLst xmlns:a="http://schemas.openxmlformats.org/drawingml/2006/main">
              <a:ext uri="{FF2B5EF4-FFF2-40B4-BE49-F238E27FC236}">
                <a16:creationId xmlns:a16="http://schemas.microsoft.com/office/drawing/2014/main" id="{060F31E3-ADBC-4CD1-B809-6C0CB1AC7688}"/>
              </a:ext>
            </a:extLst>
            <a:hlinkClick xmlns:p7="http://schemas.openxmlformats.org/officeDocument/2006/relationships" xmlns:a="http://schemas.openxmlformats.org/drawingml/2006/main" p7:id="rId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6619875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E7F7"/>
                </a:solidFill>
              </a:defRPr>
            </a:pPr>
            <a:r>
              <a:rPr sz="975" b="1">
                <a:solidFill>
                  <a:srgbClr val="D9E7F7"/>
                </a:solidFill>
              </a:rPr>
              <a:t>LINKEDIN  |  mohamedtarek-aboelkhir</a:t>
            </a:r>
          </a:p>
        </p:txBody>
      </p:sp>
      <p:sp>
        <p:nvSpPr>
          <p:cNvPr id="17" name="powerbi-link">
            <a:extLst xmlns:a="http://schemas.openxmlformats.org/drawingml/2006/main">
              <a:ext uri="{FF2B5EF4-FFF2-40B4-BE49-F238E27FC236}">
                <a16:creationId xmlns:a16="http://schemas.microsoft.com/office/drawing/2014/main" id="{B6D73FFA-1727-48E8-B293-7A0FB48ABBBC}"/>
              </a:ext>
            </a:extLst>
            <a:hlinkClick xmlns:p7="http://schemas.openxmlformats.org/officeDocument/2006/relationships" xmlns:a="http://schemas.openxmlformats.org/drawingml/2006/main" p7:id="rId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6619875"/>
            <a:ext cx="2609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9B36C"/>
                </a:solidFill>
              </a:defRPr>
            </a:pPr>
            <a:r>
              <a:rPr sz="975" b="1">
                <a:solidFill>
                  <a:srgbClr val="F9B36C"/>
                </a:solidFill>
              </a:rPr>
              <a:t>LIVE POWER BI  |  INTERACTIVE DASHBOARD</a:t>
            </a:r>
          </a:p>
        </p:txBody>
      </p:sp>
      <p:sp>
        <p:nvSpPr>
          <p:cNvPr id="18" name="scope-label">
            <a:extLst xmlns:a="http://schemas.openxmlformats.org/drawingml/2006/main">
              <a:ext uri="{FF2B5EF4-FFF2-40B4-BE49-F238E27FC236}">
                <a16:creationId xmlns:a16="http://schemas.microsoft.com/office/drawing/2014/main" id="{5100E8E3-20B0-4268-A66D-779B358D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554A3"/>
                </a:solidFill>
              </a:defRPr>
            </a:pPr>
            <a:r>
              <a:rPr sz="1275" b="1">
                <a:solidFill>
                  <a:srgbClr val="1554A3"/>
                </a:solidFill>
              </a:rPr>
              <a:t>END-TO-END PROJECT SCOPE</a:t>
            </a:r>
          </a:p>
        </p:txBody>
      </p:sp>
      <p:sp>
        <p:nvSpPr>
          <p:cNvPr id="19" name="scope-0">
            <a:extLst xmlns:a="http://schemas.openxmlformats.org/drawingml/2006/main">
              <a:ext uri="{FF2B5EF4-FFF2-40B4-BE49-F238E27FC236}">
                <a16:creationId xmlns:a16="http://schemas.microsoft.com/office/drawing/2014/main" id="{DA5A5835-4010-416D-82F3-68C4C4E0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0" name="scope-0-number-bg">
            <a:extLst xmlns:a="http://schemas.openxmlformats.org/drawingml/2006/main">
              <a:ext uri="{FF2B5EF4-FFF2-40B4-BE49-F238E27FC236}">
                <a16:creationId xmlns:a16="http://schemas.microsoft.com/office/drawing/2014/main" id="{D99CB813-B7D5-4CE6-9B29-8F80F699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cope-0-number">
            <a:extLst xmlns:a="http://schemas.openxmlformats.org/drawingml/2006/main">
              <a:ext uri="{FF2B5EF4-FFF2-40B4-BE49-F238E27FC236}">
                <a16:creationId xmlns:a16="http://schemas.microsoft.com/office/drawing/2014/main" id="{6473C2BD-ED60-4F07-BABA-E2C4D76F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2" name="scope-0-title">
            <a:extLst xmlns:a="http://schemas.openxmlformats.org/drawingml/2006/main">
              <a:ext uri="{FF2B5EF4-FFF2-40B4-BE49-F238E27FC236}">
                <a16:creationId xmlns:a16="http://schemas.microsoft.com/office/drawing/2014/main" id="{7D3AB458-121F-420B-BB9E-01E0E7BC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CLEANED DATASET</a:t>
            </a:r>
          </a:p>
        </p:txBody>
      </p:sp>
      <p:sp>
        <p:nvSpPr>
          <p:cNvPr id="23" name="scope-0-body">
            <a:extLst xmlns:a="http://schemas.openxmlformats.org/drawingml/2006/main">
              <a:ext uri="{FF2B5EF4-FFF2-40B4-BE49-F238E27FC236}">
                <a16:creationId xmlns:a16="http://schemas.microsoft.com/office/drawing/2014/main" id="{494EA2C6-B76D-44C0-8EF3-B983D24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Validated analysis-ready records</a:t>
            </a:r>
          </a:p>
        </p:txBody>
      </p:sp>
      <p:sp>
        <p:nvSpPr>
          <p:cNvPr id="24" name="scope-1">
            <a:extLst xmlns:a="http://schemas.openxmlformats.org/drawingml/2006/main">
              <a:ext uri="{FF2B5EF4-FFF2-40B4-BE49-F238E27FC236}">
                <a16:creationId xmlns:a16="http://schemas.microsoft.com/office/drawing/2014/main" id="{714B0D66-BD26-4B8E-B509-2030736E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5" name="scope-1-number-bg">
            <a:extLst xmlns:a="http://schemas.openxmlformats.org/drawingml/2006/main">
              <a:ext uri="{FF2B5EF4-FFF2-40B4-BE49-F238E27FC236}">
                <a16:creationId xmlns:a16="http://schemas.microsoft.com/office/drawing/2014/main" id="{4747FBF4-92B8-4763-BFDC-0D9C9347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scope-1-number">
            <a:extLst xmlns:a="http://schemas.openxmlformats.org/drawingml/2006/main">
              <a:ext uri="{FF2B5EF4-FFF2-40B4-BE49-F238E27FC236}">
                <a16:creationId xmlns:a16="http://schemas.microsoft.com/office/drawing/2014/main" id="{5341B1FF-00BF-400E-9D28-5032DEE3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7" name="scope-1-title">
            <a:extLst xmlns:a="http://schemas.openxmlformats.org/drawingml/2006/main">
              <a:ext uri="{FF2B5EF4-FFF2-40B4-BE49-F238E27FC236}">
                <a16:creationId xmlns:a16="http://schemas.microsoft.com/office/drawing/2014/main" id="{A4B14F5C-7F6F-40E0-9465-0DB55BCB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EDA NOTEBOOK</a:t>
            </a:r>
          </a:p>
        </p:txBody>
      </p:sp>
      <p:sp>
        <p:nvSpPr>
          <p:cNvPr id="28" name="scope-1-body">
            <a:extLst xmlns:a="http://schemas.openxmlformats.org/drawingml/2006/main">
              <a:ext uri="{FF2B5EF4-FFF2-40B4-BE49-F238E27FC236}">
                <a16:creationId xmlns:a16="http://schemas.microsoft.com/office/drawing/2014/main" id="{1F90E10C-498F-434A-B24B-3C447509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Cleaning, exploration, and findings</a:t>
            </a:r>
          </a:p>
        </p:txBody>
      </p:sp>
      <p:sp>
        <p:nvSpPr>
          <p:cNvPr id="29" name="scope-2">
            <a:extLst xmlns:a="http://schemas.openxmlformats.org/drawingml/2006/main">
              <a:ext uri="{FF2B5EF4-FFF2-40B4-BE49-F238E27FC236}">
                <a16:creationId xmlns:a16="http://schemas.microsoft.com/office/drawing/2014/main" id="{778F784D-DE17-4A93-AA12-15703687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0" name="scope-2-number-bg">
            <a:extLst xmlns:a="http://schemas.openxmlformats.org/drawingml/2006/main">
              <a:ext uri="{FF2B5EF4-FFF2-40B4-BE49-F238E27FC236}">
                <a16:creationId xmlns:a16="http://schemas.microsoft.com/office/drawing/2014/main" id="{E7D9C2CE-CB0E-4323-98D0-17A57CA4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scope-2-number">
            <a:extLst xmlns:a="http://schemas.openxmlformats.org/drawingml/2006/main">
              <a:ext uri="{FF2B5EF4-FFF2-40B4-BE49-F238E27FC236}">
                <a16:creationId xmlns:a16="http://schemas.microsoft.com/office/drawing/2014/main" id="{B6A1C756-4255-4F43-B34F-6906FE16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32" name="scope-2-title">
            <a:extLst xmlns:a="http://schemas.openxmlformats.org/drawingml/2006/main">
              <a:ext uri="{FF2B5EF4-FFF2-40B4-BE49-F238E27FC236}">
                <a16:creationId xmlns:a16="http://schemas.microsoft.com/office/drawing/2014/main" id="{B1794020-2BC1-4FE2-8D79-06A62246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SQL DATABASE</a:t>
            </a:r>
          </a:p>
        </p:txBody>
      </p:sp>
      <p:sp>
        <p:nvSpPr>
          <p:cNvPr id="33" name="scope-2-body">
            <a:extLst xmlns:a="http://schemas.openxmlformats.org/drawingml/2006/main">
              <a:ext uri="{FF2B5EF4-FFF2-40B4-BE49-F238E27FC236}">
                <a16:creationId xmlns:a16="http://schemas.microsoft.com/office/drawing/2014/main" id="{03BC9B58-3DCA-4F05-9E95-31992D4F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ERD, 13 tables, and 10 queries</a:t>
            </a:r>
          </a:p>
        </p:txBody>
      </p:sp>
      <p:sp>
        <p:nvSpPr>
          <p:cNvPr id="34" name="scope-3">
            <a:extLst xmlns:a="http://schemas.openxmlformats.org/drawingml/2006/main">
              <a:ext uri="{FF2B5EF4-FFF2-40B4-BE49-F238E27FC236}">
                <a16:creationId xmlns:a16="http://schemas.microsoft.com/office/drawing/2014/main" id="{C97EE154-E88B-47BF-933C-DCDF5E7B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5" name="scope-3-number-bg">
            <a:extLst xmlns:a="http://schemas.openxmlformats.org/drawingml/2006/main">
              <a:ext uri="{FF2B5EF4-FFF2-40B4-BE49-F238E27FC236}">
                <a16:creationId xmlns:a16="http://schemas.microsoft.com/office/drawing/2014/main" id="{AFFBB824-A456-4E6A-9146-87E4B4E1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3B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scope-3-number">
            <a:extLst xmlns:a="http://schemas.openxmlformats.org/drawingml/2006/main">
              <a:ext uri="{FF2B5EF4-FFF2-40B4-BE49-F238E27FC236}">
                <a16:creationId xmlns:a16="http://schemas.microsoft.com/office/drawing/2014/main" id="{E012931A-AB77-4FD2-8A86-86AC76A1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7" name="scope-3-title">
            <a:extLst xmlns:a="http://schemas.openxmlformats.org/drawingml/2006/main">
              <a:ext uri="{FF2B5EF4-FFF2-40B4-BE49-F238E27FC236}">
                <a16:creationId xmlns:a16="http://schemas.microsoft.com/office/drawing/2014/main" id="{07889353-AF12-40C0-A541-22AB2435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QUERY OUTPUTS</a:t>
            </a:r>
          </a:p>
        </p:txBody>
      </p:sp>
      <p:sp>
        <p:nvSpPr>
          <p:cNvPr id="38" name="scope-3-body">
            <a:extLst xmlns:a="http://schemas.openxmlformats.org/drawingml/2006/main">
              <a:ext uri="{FF2B5EF4-FFF2-40B4-BE49-F238E27FC236}">
                <a16:creationId xmlns:a16="http://schemas.microsoft.com/office/drawing/2014/main" id="{9DC563F9-5D95-47FA-825B-C2F5C157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Evidence from analytical SQL</a:t>
            </a:r>
          </a:p>
        </p:txBody>
      </p:sp>
      <p:sp>
        <p:nvSpPr>
          <p:cNvPr id="39" name="scope-4">
            <a:extLst xmlns:a="http://schemas.openxmlformats.org/drawingml/2006/main">
              <a:ext uri="{FF2B5EF4-FFF2-40B4-BE49-F238E27FC236}">
                <a16:creationId xmlns:a16="http://schemas.microsoft.com/office/drawing/2014/main" id="{4F246112-A4EC-40CF-B249-0D9DE0E9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40" name="scope-4-number-bg">
            <a:extLst xmlns:a="http://schemas.openxmlformats.org/drawingml/2006/main">
              <a:ext uri="{FF2B5EF4-FFF2-40B4-BE49-F238E27FC236}">
                <a16:creationId xmlns:a16="http://schemas.microsoft.com/office/drawing/2014/main" id="{55A03634-8E1D-4A89-8D1E-923BEC92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scope-4-number">
            <a:extLst xmlns:a="http://schemas.openxmlformats.org/drawingml/2006/main">
              <a:ext uri="{FF2B5EF4-FFF2-40B4-BE49-F238E27FC236}">
                <a16:creationId xmlns:a16="http://schemas.microsoft.com/office/drawing/2014/main" id="{17671B5C-D0AE-49DC-BC66-F5FD3818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2" name="scope-4-title">
            <a:extLst xmlns:a="http://schemas.openxmlformats.org/drawingml/2006/main">
              <a:ext uri="{FF2B5EF4-FFF2-40B4-BE49-F238E27FC236}">
                <a16:creationId xmlns:a16="http://schemas.microsoft.com/office/drawing/2014/main" id="{3DE9C36B-55DC-426E-8FC6-59F7866F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POWER BI</a:t>
            </a:r>
          </a:p>
        </p:txBody>
      </p:sp>
      <p:sp>
        <p:nvSpPr>
          <p:cNvPr id="43" name="scope-4-body">
            <a:extLst xmlns:a="http://schemas.openxmlformats.org/drawingml/2006/main">
              <a:ext uri="{FF2B5EF4-FFF2-40B4-BE49-F238E27FC236}">
                <a16:creationId xmlns:a16="http://schemas.microsoft.com/office/drawing/2014/main" id="{5352A041-3109-4679-9A64-16749131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Three interactive dashboard views</a:t>
            </a:r>
          </a:p>
        </p:txBody>
      </p:sp>
      <p:sp>
        <p:nvSpPr>
          <p:cNvPr id="44" name="scope-5">
            <a:extLst xmlns:a="http://schemas.openxmlformats.org/drawingml/2006/main">
              <a:ext uri="{FF2B5EF4-FFF2-40B4-BE49-F238E27FC236}">
                <a16:creationId xmlns:a16="http://schemas.microsoft.com/office/drawing/2014/main" id="{922B5DD2-FEAB-45F7-B001-832E500B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45" name="scope-5-number-bg">
            <a:extLst xmlns:a="http://schemas.openxmlformats.org/drawingml/2006/main">
              <a:ext uri="{FF2B5EF4-FFF2-40B4-BE49-F238E27FC236}">
                <a16:creationId xmlns:a16="http://schemas.microsoft.com/office/drawing/2014/main" id="{B864742D-8C11-47ED-B2BC-3441323E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scope-5-number">
            <a:extLst xmlns:a="http://schemas.openxmlformats.org/drawingml/2006/main">
              <a:ext uri="{FF2B5EF4-FFF2-40B4-BE49-F238E27FC236}">
                <a16:creationId xmlns:a16="http://schemas.microsoft.com/office/drawing/2014/main" id="{0A328DEE-42D9-4CB2-92AE-854B6746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7" name="scope-5-title">
            <a:extLst xmlns:a="http://schemas.openxmlformats.org/drawingml/2006/main">
              <a:ext uri="{FF2B5EF4-FFF2-40B4-BE49-F238E27FC236}">
                <a16:creationId xmlns:a16="http://schemas.microsoft.com/office/drawing/2014/main" id="{F89542B9-3448-41C5-8218-F63E6BC1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REPORT &amp; STORY</a:t>
            </a:r>
          </a:p>
        </p:txBody>
      </p:sp>
      <p:sp>
        <p:nvSpPr>
          <p:cNvPr id="48" name="scope-5-body">
            <a:extLst xmlns:a="http://schemas.openxmlformats.org/drawingml/2006/main">
              <a:ext uri="{FF2B5EF4-FFF2-40B4-BE49-F238E27FC236}">
                <a16:creationId xmlns:a16="http://schemas.microsoft.com/office/drawing/2014/main" id="{4E2E12E7-BC31-42D3-A43D-C87C6FEB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English report and business narrative</a:t>
            </a:r>
          </a:p>
        </p:txBody>
      </p:sp>
      <p:sp>
        <p:nvSpPr>
          <p:cNvPr id="49" name="project-pipeline">
            <a:extLst xmlns:a="http://schemas.openxmlformats.org/drawingml/2006/main">
              <a:ext uri="{FF2B5EF4-FFF2-40B4-BE49-F238E27FC236}">
                <a16:creationId xmlns:a16="http://schemas.microsoft.com/office/drawing/2014/main" id="{90D5FDC2-16E9-43E0-BE69-B384907C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0"/>
            <a:ext cx="8915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50" name="pipeline-label">
            <a:extLst xmlns:a="http://schemas.openxmlformats.org/drawingml/2006/main">
              <a:ext uri="{FF2B5EF4-FFF2-40B4-BE49-F238E27FC236}">
                <a16:creationId xmlns:a16="http://schemas.microsoft.com/office/drawing/2014/main" id="{10E80F42-0F31-44F3-B302-B69EC158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6489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PROJECT JOURNEY</a:t>
            </a:r>
          </a:p>
        </p:txBody>
      </p:sp>
      <p:sp>
        <p:nvSpPr>
          <p:cNvPr id="51" name="pipeline-step-0">
            <a:extLst xmlns:a="http://schemas.openxmlformats.org/drawingml/2006/main">
              <a:ext uri="{FF2B5EF4-FFF2-40B4-BE49-F238E27FC236}">
                <a16:creationId xmlns:a16="http://schemas.microsoft.com/office/drawing/2014/main" id="{2FF6F1E8-79F3-4226-AF32-FDE4D20A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pipeline-step-0-text">
            <a:extLst xmlns:a="http://schemas.openxmlformats.org/drawingml/2006/main">
              <a:ext uri="{FF2B5EF4-FFF2-40B4-BE49-F238E27FC236}">
                <a16:creationId xmlns:a16="http://schemas.microsoft.com/office/drawing/2014/main" id="{F19B226F-3BF1-43A8-AF5E-C09A6930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53" name="pipeline-arrow-0">
            <a:extLst xmlns:a="http://schemas.openxmlformats.org/drawingml/2006/main">
              <a:ext uri="{FF2B5EF4-FFF2-40B4-BE49-F238E27FC236}">
                <a16:creationId xmlns:a16="http://schemas.microsoft.com/office/drawing/2014/main" id="{44B2B4B2-6DC8-4987-B343-F3C58F40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54" name="pipeline-step-1">
            <a:extLst xmlns:a="http://schemas.openxmlformats.org/drawingml/2006/main">
              <a:ext uri="{FF2B5EF4-FFF2-40B4-BE49-F238E27FC236}">
                <a16:creationId xmlns:a16="http://schemas.microsoft.com/office/drawing/2014/main" id="{24D69AC9-AF75-4BAF-B7CC-D8231D19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pipeline-step-1-text">
            <a:extLst xmlns:a="http://schemas.openxmlformats.org/drawingml/2006/main">
              <a:ext uri="{FF2B5EF4-FFF2-40B4-BE49-F238E27FC236}">
                <a16:creationId xmlns:a16="http://schemas.microsoft.com/office/drawing/2014/main" id="{9786026B-03D7-424C-A322-A5DAC9D3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EDA</a:t>
            </a:r>
          </a:p>
        </p:txBody>
      </p:sp>
      <p:sp>
        <p:nvSpPr>
          <p:cNvPr id="56" name="pipeline-arrow-1">
            <a:extLst xmlns:a="http://schemas.openxmlformats.org/drawingml/2006/main">
              <a:ext uri="{FF2B5EF4-FFF2-40B4-BE49-F238E27FC236}">
                <a16:creationId xmlns:a16="http://schemas.microsoft.com/office/drawing/2014/main" id="{1BC244EB-05FB-43B9-B194-0DB012F0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57" name="pipeline-step-2">
            <a:extLst xmlns:a="http://schemas.openxmlformats.org/drawingml/2006/main">
              <a:ext uri="{FF2B5EF4-FFF2-40B4-BE49-F238E27FC236}">
                <a16:creationId xmlns:a16="http://schemas.microsoft.com/office/drawing/2014/main" id="{0F982F09-736A-4B0F-9E48-90900783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pipeline-step-2-text">
            <a:extLst xmlns:a="http://schemas.openxmlformats.org/drawingml/2006/main">
              <a:ext uri="{FF2B5EF4-FFF2-40B4-BE49-F238E27FC236}">
                <a16:creationId xmlns:a16="http://schemas.microsoft.com/office/drawing/2014/main" id="{ADC2C480-679A-43FF-9C98-1332F978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SQL</a:t>
            </a:r>
          </a:p>
        </p:txBody>
      </p:sp>
      <p:sp>
        <p:nvSpPr>
          <p:cNvPr id="59" name="pipeline-arrow-2">
            <a:extLst xmlns:a="http://schemas.openxmlformats.org/drawingml/2006/main">
              <a:ext uri="{FF2B5EF4-FFF2-40B4-BE49-F238E27FC236}">
                <a16:creationId xmlns:a16="http://schemas.microsoft.com/office/drawing/2014/main" id="{FC3E9B91-171E-49FF-8439-9B6834C22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60" name="pipeline-step-3">
            <a:extLst xmlns:a="http://schemas.openxmlformats.org/drawingml/2006/main">
              <a:ext uri="{FF2B5EF4-FFF2-40B4-BE49-F238E27FC236}">
                <a16:creationId xmlns:a16="http://schemas.microsoft.com/office/drawing/2014/main" id="{BD43039A-E3D3-453F-9AC7-C53774C0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pipeline-step-3-text">
            <a:extLst xmlns:a="http://schemas.openxmlformats.org/drawingml/2006/main">
              <a:ext uri="{FF2B5EF4-FFF2-40B4-BE49-F238E27FC236}">
                <a16:creationId xmlns:a16="http://schemas.microsoft.com/office/drawing/2014/main" id="{18B81233-8FB3-4782-8354-6B7626018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POWER BI</a:t>
            </a:r>
          </a:p>
        </p:txBody>
      </p:sp>
      <p:sp>
        <p:nvSpPr>
          <p:cNvPr id="62" name="pipeline-arrow-3">
            <a:extLst xmlns:a="http://schemas.openxmlformats.org/drawingml/2006/main">
              <a:ext uri="{FF2B5EF4-FFF2-40B4-BE49-F238E27FC236}">
                <a16:creationId xmlns:a16="http://schemas.microsoft.com/office/drawing/2014/main" id="{9AFB10E0-3F2F-4808-932D-D0CEF1C9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63" name="pipeline-step-4">
            <a:extLst xmlns:a="http://schemas.openxmlformats.org/drawingml/2006/main">
              <a:ext uri="{FF2B5EF4-FFF2-40B4-BE49-F238E27FC236}">
                <a16:creationId xmlns:a16="http://schemas.microsoft.com/office/drawing/2014/main" id="{80EE0091-033D-4F3B-9DB1-6B417A2D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pipeline-step-4-text">
            <a:extLst xmlns:a="http://schemas.openxmlformats.org/drawingml/2006/main">
              <a:ext uri="{FF2B5EF4-FFF2-40B4-BE49-F238E27FC236}">
                <a16:creationId xmlns:a16="http://schemas.microsoft.com/office/drawing/2014/main" id="{D4237A27-D1B9-4B99-A346-AD08D2C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DECISIONS</a:t>
            </a:r>
          </a:p>
        </p:txBody>
      </p:sp>
      <p:sp>
        <p:nvSpPr>
          <p:cNvPr id="65" name="slide-08-footer-left">
            <a:extLst xmlns:a="http://schemas.openxmlformats.org/drawingml/2006/main">
              <a:ext uri="{FF2B5EF4-FFF2-40B4-BE49-F238E27FC236}">
                <a16:creationId xmlns:a16="http://schemas.microsoft.com/office/drawing/2014/main" id="{1D3E8C68-B130-453F-95B4-712C93D1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66" name="slide-08-footer-right">
            <a:extLst xmlns:a="http://schemas.openxmlformats.org/drawingml/2006/main">
              <a:ext uri="{FF2B5EF4-FFF2-40B4-BE49-F238E27FC236}">
                <a16:creationId xmlns:a16="http://schemas.microsoft.com/office/drawing/2014/main" id="{D2BB40A2-1C84-4C4F-85D6-0DA1CEE2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6518913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2026-08-31T17:42:13.4940000Z</dcterms:created>
  <dcterms:modified xsi:type="dcterms:W3CDTF">2026-08-31T17:42:13.4940000Z</dcterms:modified>
</coreProperties>
</file>