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29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Shipments</c:v>
          </c:tx>
          <c:dPt>
            <c:idx val="0"/>
            <c:bubble3D val="0"/>
            <c:spPr>
              <a:solidFill>
                <a:srgbClr val="D20A16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283-4D3E-AAFC-7A326E13C559}"/>
              </c:ext>
            </c:extLst>
          </c:dPt>
          <c:dPt>
            <c:idx val="1"/>
            <c:bubble3D val="0"/>
            <c:spPr>
              <a:solidFill>
                <a:srgbClr val="3F6B2A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E283-4D3E-AAFC-7A326E13C559}"/>
              </c:ext>
            </c:extLst>
          </c:dPt>
          <c:cat>
            <c:strLit>
              <c:ptCount val="2"/>
              <c:pt idx="0">
                <c:v>Delayed</c:v>
              </c:pt>
              <c:pt idx="1">
                <c:v>On-Time</c:v>
              </c:pt>
            </c:strLit>
          </c:cat>
          <c:val>
            <c:numLit>
              <c:formatCode>General</c:formatCode>
              <c:ptCount val="2"/>
              <c:pt idx="0">
                <c:v>4263</c:v>
              </c:pt>
              <c:pt idx="1">
                <c:v>2510</c:v>
              </c:pt>
            </c:numLit>
          </c:val>
          <c:extLst>
            <c:ext xmlns:c16="http://schemas.microsoft.com/office/drawing/2014/chart" uri="{C3380CC4-5D6E-409C-BE32-E72D297353CC}">
              <c16:uniqueId val="{00000004-E283-4D3E-AAFC-7A326E13C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68"/>
      </c:doughnutChart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Power BI dashboard image: Power BI/Screenshot 2026-08-31 111930.png</a:t>
            </a:r>
          </a:p>
          <a:p>
            <a:r>
              <a:t>- Cleaned dataset: cleaned_transportation_logistics_data.xlsx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Logistics_EDA.ipynb: project scope, analytical dimensions, and business questions</a:t>
            </a:r>
          </a:p>
          <a:p>
            <a:r>
              <a:t>- cleaned_transportation_logistics_data.xlsx: shipment, supplier, customer, vehicle, route, and GPS fields</a:t>
            </a:r>
          </a:p>
          <a:p>
            <a:r>
              <a:t>- storytelling.txt: business-problem narrative</a:t>
            </a:r>
          </a:p>
          <a:p>
            <a:r>
              <a:t>- AI-generated conceptual logistics bottleneck visual created for this case study; no factual claims are encoded in the image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cleaned_transportation_logistics_data.xlsx: 6,773 total records; 4,263 delayed; 2,510 on-time</a:t>
            </a:r>
          </a:p>
          <a:p>
            <a:r>
              <a:t>- Logistics_EDA.ipynb: delivery-status definition and delay analysis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Project_ERD.html: complete 13-table entity relationship model and documented relationships</a:t>
            </a:r>
          </a:p>
          <a:p>
            <a:r>
              <a:t>- SQL/SQL_Script_Final.sql: final SQL Server schema and Q1-Q10 analytical queries</a:t>
            </a:r>
          </a:p>
          <a:p>
            <a:r>
              <a:t>- SQL/Tables/*.csv: source tables used by the relational database</a:t>
            </a:r>
          </a:p>
          <a:p>
            <a:r>
              <a:t>- Note: TrackingEvents, DeliveryAttempts, Payments, and ProofOfDelivery are assumed/demo transactional data used to test the proposed database and query layer; they are separate from the historical EDA KPI dataset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Power BI/⏱️ Delay Analysis.png: Delay Analysis dashboard page</a:t>
            </a:r>
          </a:p>
          <a:p>
            <a:r>
              <a:t>- Power BI/🚛 Suppliers &amp; Customers.png: Suppliers and Customers dashboard page</a:t>
            </a:r>
          </a:p>
          <a:p>
            <a:r>
              <a:t>- Power BI/📡🚗 Fleet &amp; GPS.png: Fleet and GPS dashboard page</a:t>
            </a:r>
          </a:p>
          <a:p>
            <a:r>
              <a:t>- cleaned_transportation_logistics_data.xlsx: 6,773 shipments and March 2019–September 2020 analysis period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Power BI/⏱️ Delay Analysis.png: 10 months at or above the 96% delay threshold within the July 2019–May 2020 window; April 2020 has no shipment records</a:t>
            </a:r>
          </a:p>
          <a:p>
            <a:r>
              <a:t>- Power BI/⏱️ Delay Analysis.png: distance-segment and GPS-provider delay rates</a:t>
            </a:r>
          </a:p>
          <a:p>
            <a:r>
              <a:t>- Power BI/📡🚗 Fleet &amp; GPS.png: vehicle-type volume and delay rates</a:t>
            </a:r>
          </a:p>
          <a:p>
            <a:r>
              <a:t>- Power BI/🚛 Suppliers &amp; Customers.png: supplier and customer delay rates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Power BI/⏱️ Delay Analysis.png: distance and GPS-provider risk evidence</a:t>
            </a:r>
          </a:p>
          <a:p>
            <a:r>
              <a:t>- Power BI/📡🚗 Fleet &amp; GPS.png: vehicle-type delay evidence</a:t>
            </a:r>
          </a:p>
          <a:p>
            <a:r>
              <a:t>- Power BI/🚛 Suppliers &amp; Customers.png: partner delay evidence and 737 unknown supplier records</a:t>
            </a:r>
          </a:p>
          <a:p>
            <a:r>
              <a:t>- Recommendations are analytical proposals derived from the documented findings; no unverified performance targets are asserted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GitHub repository URL provided by the project author: https://github.com/Mohamedtarek00212/Transportation-Logistics</a:t>
            </a:r>
          </a:p>
          <a:p>
            <a:r>
              <a:t>- LinkedIn profile URL provided by the project author: https://www.linkedin.com/in/mohamedtarek-aboelkhir/</a:t>
            </a:r>
          </a:p>
          <a:p>
            <a:r>
              <a:t>- Public Power BI report verified on 2026-08-31: https://app.powerbi.com/view?r=eyJrIjoiNDc1N2JkOTAtNjk1OS00NTg5LTg5ZDEtZTUzY2VhMDQ4YThlIiwidCI6IjJiYjZlNWJjLWMxMDktNDdmYi05NDMzLWMxYzZmNGZhMzNmZiIsImMiOjl9</a:t>
            </a:r>
          </a:p>
          <a:p>
            <a:r>
              <a:t>- Project scope derived from the user-provided notebook, cleaned dataset, SQL files, screenshots, report, and storytelling file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op-accent-line">
            <a:extLst>
              <a:ext uri="{FF2B5EF4-FFF2-40B4-BE49-F238E27FC236}">
                <a16:creationId xmlns:a16="http://schemas.microsoft.com/office/drawing/2014/main" id="{AAF80B67-1ED6-45CD-AE81-1D5210A1B5E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case-study-eyebrow">
            <a:extLst>
              <a:ext uri="{FF2B5EF4-FFF2-40B4-BE49-F238E27FC236}">
                <a16:creationId xmlns:a16="http://schemas.microsoft.com/office/drawing/2014/main" id="{2102C503-3451-461A-8244-AE57C1728D8E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END-TO-END DATA ANALYTICS &amp; BI CASE STUDY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70E37AF-ADEC-4E74-BA5A-85AD87B44472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01 / 08</a:t>
            </a:r>
          </a:p>
        </p:txBody>
      </p:sp>
      <p:sp>
        <p:nvSpPr>
          <p:cNvPr id="4" name="title-line-one">
            <a:extLst>
              <a:ext uri="{FF2B5EF4-FFF2-40B4-BE49-F238E27FC236}">
                <a16:creationId xmlns:a16="http://schemas.microsoft.com/office/drawing/2014/main" id="{35E79AAA-A19F-41B7-A7AB-73BD98463837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75" b="1">
                <a:solidFill>
                  <a:srgbClr val="082653"/>
                </a:solidFill>
              </a:defRPr>
            </a:pPr>
            <a:r>
              <a:rPr sz="4275" b="1">
                <a:solidFill>
                  <a:srgbClr val="082653"/>
                </a:solidFill>
              </a:rPr>
              <a:t>TRANSPORTATION &amp;</a:t>
            </a:r>
          </a:p>
        </p:txBody>
      </p:sp>
      <p:sp>
        <p:nvSpPr>
          <p:cNvPr id="5" name="title-line-two">
            <a:extLst>
              <a:ext uri="{FF2B5EF4-FFF2-40B4-BE49-F238E27FC236}">
                <a16:creationId xmlns:a16="http://schemas.microsoft.com/office/drawing/2014/main" id="{90F9F28B-85DE-4EE1-BFAB-CE651B3F992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857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00" b="1">
                <a:solidFill>
                  <a:srgbClr val="1554A3"/>
                </a:solidFill>
              </a:defRPr>
            </a:pPr>
            <a:r>
              <a:rPr sz="6300" b="1">
                <a:solidFill>
                  <a:srgbClr val="1554A3"/>
                </a:solidFill>
              </a:rPr>
              <a:t>LOGISTICS</a:t>
            </a:r>
          </a:p>
        </p:txBody>
      </p:sp>
      <p:sp>
        <p:nvSpPr>
          <p:cNvPr id="6" name="title-line-three">
            <a:extLst>
              <a:ext uri="{FF2B5EF4-FFF2-40B4-BE49-F238E27FC236}">
                <a16:creationId xmlns:a16="http://schemas.microsoft.com/office/drawing/2014/main" id="{601CF435-ADBF-4F24-8151-CF3A7F4EBD10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E2D42"/>
                </a:solidFill>
              </a:defRPr>
            </a:pPr>
            <a:r>
              <a:rPr sz="3750" b="1">
                <a:solidFill>
                  <a:srgbClr val="1E2D42"/>
                </a:solidFill>
              </a:rPr>
              <a:t>ANALYTICS DASHBOARD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7C9FF731-47B5-46DF-955B-C85C3FDECACE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1E2D42"/>
                </a:solidFill>
              </a:defRPr>
            </a:pPr>
            <a:r>
              <a:rPr sz="1950">
                <a:solidFill>
                  <a:srgbClr val="1E2D42"/>
                </a:solidFill>
              </a:rPr>
              <a:t>Exploring shipment delays, operational bottlenecks, and performance drivers through data.</a:t>
            </a:r>
          </a:p>
        </p:txBody>
      </p:sp>
      <p:sp>
        <p:nvSpPr>
          <p:cNvPr id="8" name="metadata-rule">
            <a:extLst>
              <a:ext uri="{FF2B5EF4-FFF2-40B4-BE49-F238E27FC236}">
                <a16:creationId xmlns:a16="http://schemas.microsoft.com/office/drawing/2014/main" id="{6A933DCB-887A-48C3-98E9-5EC4720AB943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8915400" cy="1905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9" name="period-and-volume">
            <a:extLst>
              <a:ext uri="{FF2B5EF4-FFF2-40B4-BE49-F238E27FC236}">
                <a16:creationId xmlns:a16="http://schemas.microsoft.com/office/drawing/2014/main" id="{3C07AACD-0514-4618-9A3B-BB29E9D0FB7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82653"/>
                </a:solidFill>
              </a:defRPr>
            </a:pPr>
            <a:r>
              <a:rPr sz="1425" b="1">
                <a:solidFill>
                  <a:srgbClr val="082653"/>
                </a:solidFill>
              </a:rPr>
              <a:t>6,773 SHIPMENTS  |  MARCH 2019 - SEPTEMBER 2020</a:t>
            </a:r>
          </a:p>
        </p:txBody>
      </p:sp>
      <p:sp>
        <p:nvSpPr>
          <p:cNvPr id="10" name="tools">
            <a:extLst>
              <a:ext uri="{FF2B5EF4-FFF2-40B4-BE49-F238E27FC236}">
                <a16:creationId xmlns:a16="http://schemas.microsoft.com/office/drawing/2014/main" id="{F426C310-97CC-416C-AE60-965A3849BCE8}"/>
              </a:ext>
            </a:extLst>
          </p:cNvPr>
          <p:cNvSpPr>
            <a:spLocks noGrp="1"/>
          </p:cNvSpPr>
          <p:nvPr/>
        </p:nvSpPr>
        <p:spPr>
          <a:xfrm>
            <a:off x="6572250" y="58674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1554A3"/>
                </a:solidFill>
              </a:defRPr>
            </a:pPr>
            <a:r>
              <a:rPr sz="1425" b="1">
                <a:solidFill>
                  <a:srgbClr val="1554A3"/>
                </a:solidFill>
              </a:rPr>
              <a:t>PYTHON  |  SQL  |  POWER BI</a:t>
            </a:r>
          </a:p>
        </p:txBody>
      </p:sp>
      <p:sp>
        <p:nvSpPr>
          <p:cNvPr id="11" name="dashboard-shadow">
            <a:extLst>
              <a:ext uri="{FF2B5EF4-FFF2-40B4-BE49-F238E27FC236}">
                <a16:creationId xmlns:a16="http://schemas.microsoft.com/office/drawing/2014/main" id="{02D2578B-A729-4FDD-9D9E-C38B0B9526F9}"/>
              </a:ext>
            </a:extLst>
          </p:cNvPr>
          <p:cNvSpPr>
            <a:spLocks noGrp="1"/>
          </p:cNvSpPr>
          <p:nvPr/>
        </p:nvSpPr>
        <p:spPr>
          <a:xfrm>
            <a:off x="762000" y="6762750"/>
            <a:ext cx="8915400" cy="5029200"/>
          </a:xfrm>
          <a:prstGeom prst="roundRect">
            <a:avLst>
              <a:gd name="adj" fmla="val 2273"/>
            </a:avLst>
          </a:prstGeom>
          <a:solidFill>
            <a:srgbClr val="D5DFED"/>
          </a:solidFill>
          <a:ln w="0">
            <a:noFill/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6667500"/>
            <a:ext cx="8915400" cy="5029200"/>
          </a:xfrm>
          <a:prstGeom prst="roundRect">
            <a:avLst>
              <a:gd name="adj" fmla="val 2273"/>
            </a:avLst>
          </a:prstGeom>
        </p:spPr>
      </p:pic>
      <p:sp>
        <p:nvSpPr>
          <p:cNvPr id="13" name="author">
            <a:extLst>
              <a:ext uri="{FF2B5EF4-FFF2-40B4-BE49-F238E27FC236}">
                <a16:creationId xmlns:a16="http://schemas.microsoft.com/office/drawing/2014/main" id="{4ADCE895-95C4-46A4-8EBC-CE754C1F69D2}"/>
              </a:ext>
            </a:extLst>
          </p:cNvPr>
          <p:cNvSpPr>
            <a:spLocks noGrp="1"/>
          </p:cNvSpPr>
          <p:nvPr/>
        </p:nvSpPr>
        <p:spPr>
          <a:xfrm>
            <a:off x="685800" y="121920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MOHAMED TAREK  |  DATA ANALYST</a:t>
            </a:r>
          </a:p>
        </p:txBody>
      </p:sp>
      <p:sp>
        <p:nvSpPr>
          <p:cNvPr id="14" name="github">
            <a:extLst>
              <a:ext uri="{FF2B5EF4-FFF2-40B4-BE49-F238E27FC236}">
                <a16:creationId xmlns:a16="http://schemas.microsoft.com/office/drawing/2014/main" id="{98CE4BF5-1368-4698-9552-249295C51D13}"/>
              </a:ext>
            </a:extLst>
          </p:cNvPr>
          <p:cNvSpPr>
            <a:spLocks noGrp="1"/>
          </p:cNvSpPr>
          <p:nvPr/>
        </p:nvSpPr>
        <p:spPr>
          <a:xfrm>
            <a:off x="4953000" y="12192000"/>
            <a:ext cx="464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github.com/Mohamedtarek00212/Transportation-Logistics</a:t>
            </a:r>
          </a:p>
        </p:txBody>
      </p:sp>
    </p:spTree>
    <p:extLst>
      <p:ext uri="{BB962C8B-B14F-4D97-AF65-F5344CB8AC3E}">
        <p14:creationId xmlns:p14="http://schemas.microsoft.com/office/powerpoint/2010/main" val="132358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02-accent-line">
            <a:extLst>
              <a:ext uri="{FF2B5EF4-FFF2-40B4-BE49-F238E27FC236}">
                <a16:creationId xmlns:a16="http://schemas.microsoft.com/office/drawing/2014/main" id="{390BB1AA-5D29-4386-B036-A063171EFCF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2-eyebrow">
            <a:extLst>
              <a:ext uri="{FF2B5EF4-FFF2-40B4-BE49-F238E27FC236}">
                <a16:creationId xmlns:a16="http://schemas.microsoft.com/office/drawing/2014/main" id="{455758F2-58F0-48EE-8567-B282E9EB354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BUSINESS PROBLEM</a:t>
            </a:r>
          </a:p>
        </p:txBody>
      </p:sp>
      <p:sp>
        <p:nvSpPr>
          <p:cNvPr id="3" name="slide-02-number">
            <a:extLst>
              <a:ext uri="{FF2B5EF4-FFF2-40B4-BE49-F238E27FC236}">
                <a16:creationId xmlns:a16="http://schemas.microsoft.com/office/drawing/2014/main" id="{DC8B1DCA-652F-4532-80C8-EA3734559166}"/>
              </a:ext>
            </a:extLst>
          </p:cNvPr>
          <p:cNvSpPr>
            <a:spLocks noGrp="1"/>
          </p:cNvSpPr>
          <p:nvPr/>
        </p:nvSpPr>
        <p:spPr>
          <a:xfrm>
            <a:off x="8286750" y="8667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02 / 08</a:t>
            </a:r>
          </a:p>
        </p:txBody>
      </p:sp>
      <p:sp>
        <p:nvSpPr>
          <p:cNvPr id="4" name="slide-02-title-line-one">
            <a:extLst>
              <a:ext uri="{FF2B5EF4-FFF2-40B4-BE49-F238E27FC236}">
                <a16:creationId xmlns:a16="http://schemas.microsoft.com/office/drawing/2014/main" id="{DBCD2464-CFFE-429C-8E1F-F092943E34B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82653"/>
                </a:solidFill>
              </a:defRPr>
            </a:pPr>
            <a:r>
              <a:rPr sz="3900" b="1">
                <a:solidFill>
                  <a:srgbClr val="082653"/>
                </a:solidFill>
              </a:rPr>
              <a:t>WHY ARE SHIPMENTS</a:t>
            </a:r>
          </a:p>
        </p:txBody>
      </p:sp>
      <p:sp>
        <p:nvSpPr>
          <p:cNvPr id="5" name="slide-02-title-line-two">
            <a:extLst>
              <a:ext uri="{FF2B5EF4-FFF2-40B4-BE49-F238E27FC236}">
                <a16:creationId xmlns:a16="http://schemas.microsoft.com/office/drawing/2014/main" id="{3D526238-2333-4B68-8408-64E1772E3E0C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8572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0" b="1">
                <a:solidFill>
                  <a:srgbClr val="D20A16"/>
                </a:solidFill>
              </a:defRPr>
            </a:pPr>
            <a:r>
              <a:rPr sz="5550" b="1">
                <a:solidFill>
                  <a:srgbClr val="D20A16"/>
                </a:solidFill>
              </a:rPr>
              <a:t>DELAYED?</a:t>
            </a:r>
          </a:p>
        </p:txBody>
      </p:sp>
      <p:sp>
        <p:nvSpPr>
          <p:cNvPr id="6" name="slide-02-problem-copy">
            <a:extLst>
              <a:ext uri="{FF2B5EF4-FFF2-40B4-BE49-F238E27FC236}">
                <a16:creationId xmlns:a16="http://schemas.microsoft.com/office/drawing/2014/main" id="{6A17B598-F5D0-4F9E-BD3B-47C8E94D004F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915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1E2D42"/>
                </a:solidFill>
              </a:defRPr>
            </a:pPr>
            <a:r>
              <a:rPr sz="1800">
                <a:solidFill>
                  <a:srgbClr val="1E2D42"/>
                </a:solidFill>
              </a:rPr>
              <a:t>Operational data was scattered across suppliers, vehicles, routes, GPS providers, and delivery events. Without one connected view, teams could see delays but not where the operation was breaking down.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4095750"/>
            <a:ext cx="8915400" cy="7715250"/>
          </a:xfrm>
          <a:prstGeom prst="roundRect">
            <a:avLst>
              <a:gd name="adj" fmla="val 1481"/>
            </a:avLst>
          </a:prstGeom>
        </p:spPr>
      </p:pic>
      <p:sp>
        <p:nvSpPr>
          <p:cNvPr id="8" name="analysis-question-band">
            <a:extLst>
              <a:ext uri="{FF2B5EF4-FFF2-40B4-BE49-F238E27FC236}">
                <a16:creationId xmlns:a16="http://schemas.microsoft.com/office/drawing/2014/main" id="{5ADCB907-8E4A-4B05-976D-AE5CA52D5620}"/>
              </a:ext>
            </a:extLst>
          </p:cNvPr>
          <p:cNvSpPr>
            <a:spLocks noGrp="1"/>
          </p:cNvSpPr>
          <p:nvPr/>
        </p:nvSpPr>
        <p:spPr>
          <a:xfrm>
            <a:off x="685800" y="10001250"/>
            <a:ext cx="8915400" cy="1809750"/>
          </a:xfrm>
          <a:prstGeom prst="roundRect">
            <a:avLst>
              <a:gd name="adj" fmla="val 6316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9" name="analysis-question-one-label">
            <a:extLst>
              <a:ext uri="{FF2B5EF4-FFF2-40B4-BE49-F238E27FC236}">
                <a16:creationId xmlns:a16="http://schemas.microsoft.com/office/drawing/2014/main" id="{6CE30DB2-4F79-4127-BA36-F4BCA7ADC0E9}"/>
              </a:ext>
            </a:extLst>
          </p:cNvPr>
          <p:cNvSpPr>
            <a:spLocks noGrp="1"/>
          </p:cNvSpPr>
          <p:nvPr/>
        </p:nvSpPr>
        <p:spPr>
          <a:xfrm>
            <a:off x="990600" y="103251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WHERE?</a:t>
            </a:r>
          </a:p>
        </p:txBody>
      </p:sp>
      <p:sp>
        <p:nvSpPr>
          <p:cNvPr id="10" name="analysis-question-one">
            <a:extLst>
              <a:ext uri="{FF2B5EF4-FFF2-40B4-BE49-F238E27FC236}">
                <a16:creationId xmlns:a16="http://schemas.microsoft.com/office/drawing/2014/main" id="{73C8223E-F3AF-4C5E-AE77-39CFCEADE5DB}"/>
              </a:ext>
            </a:extLst>
          </p:cNvPr>
          <p:cNvSpPr>
            <a:spLocks noGrp="1"/>
          </p:cNvSpPr>
          <p:nvPr/>
        </p:nvSpPr>
        <p:spPr>
          <a:xfrm>
            <a:off x="990600" y="107251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Where do delays concentrate?</a:t>
            </a:r>
          </a:p>
        </p:txBody>
      </p:sp>
      <p:sp>
        <p:nvSpPr>
          <p:cNvPr id="11" name="analysis-question-two-label">
            <a:extLst>
              <a:ext uri="{FF2B5EF4-FFF2-40B4-BE49-F238E27FC236}">
                <a16:creationId xmlns:a16="http://schemas.microsoft.com/office/drawing/2014/main" id="{7AFDA225-11F3-46F5-A3DA-FD9C1572EC20}"/>
              </a:ext>
            </a:extLst>
          </p:cNvPr>
          <p:cNvSpPr>
            <a:spLocks noGrp="1"/>
          </p:cNvSpPr>
          <p:nvPr/>
        </p:nvSpPr>
        <p:spPr>
          <a:xfrm>
            <a:off x="3886200" y="10325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47B2A"/>
                </a:solidFill>
              </a:defRPr>
            </a:pPr>
            <a:r>
              <a:rPr sz="1500" b="1">
                <a:solidFill>
                  <a:srgbClr val="F47B2A"/>
                </a:solidFill>
              </a:rPr>
              <a:t>WHO?</a:t>
            </a:r>
          </a:p>
        </p:txBody>
      </p:sp>
      <p:sp>
        <p:nvSpPr>
          <p:cNvPr id="12" name="analysis-question-two">
            <a:extLst>
              <a:ext uri="{FF2B5EF4-FFF2-40B4-BE49-F238E27FC236}">
                <a16:creationId xmlns:a16="http://schemas.microsoft.com/office/drawing/2014/main" id="{B966022D-CB79-4766-8C30-59F588C96813}"/>
              </a:ext>
            </a:extLst>
          </p:cNvPr>
          <p:cNvSpPr>
            <a:spLocks noGrp="1"/>
          </p:cNvSpPr>
          <p:nvPr/>
        </p:nvSpPr>
        <p:spPr>
          <a:xfrm>
            <a:off x="3886200" y="107251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Who drives the greatest risk?</a:t>
            </a:r>
          </a:p>
        </p:txBody>
      </p:sp>
      <p:sp>
        <p:nvSpPr>
          <p:cNvPr id="13" name="analysis-question-three-label">
            <a:extLst>
              <a:ext uri="{FF2B5EF4-FFF2-40B4-BE49-F238E27FC236}">
                <a16:creationId xmlns:a16="http://schemas.microsoft.com/office/drawing/2014/main" id="{09C968DE-4FD7-47AB-9611-A26BC247122F}"/>
              </a:ext>
            </a:extLst>
          </p:cNvPr>
          <p:cNvSpPr>
            <a:spLocks noGrp="1"/>
          </p:cNvSpPr>
          <p:nvPr/>
        </p:nvSpPr>
        <p:spPr>
          <a:xfrm>
            <a:off x="6781800" y="103251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20A16"/>
                </a:solidFill>
              </a:defRPr>
            </a:pPr>
            <a:r>
              <a:rPr sz="1500" b="1">
                <a:solidFill>
                  <a:srgbClr val="D20A16"/>
                </a:solidFill>
              </a:rPr>
              <a:t>WHAT NEXT?</a:t>
            </a:r>
          </a:p>
        </p:txBody>
      </p:sp>
      <p:sp>
        <p:nvSpPr>
          <p:cNvPr id="14" name="analysis-question-three">
            <a:extLst>
              <a:ext uri="{FF2B5EF4-FFF2-40B4-BE49-F238E27FC236}">
                <a16:creationId xmlns:a16="http://schemas.microsoft.com/office/drawing/2014/main" id="{E4CCC49B-6C83-4353-BD41-B91733F2B5BA}"/>
              </a:ext>
            </a:extLst>
          </p:cNvPr>
          <p:cNvSpPr>
            <a:spLocks noGrp="1"/>
          </p:cNvSpPr>
          <p:nvPr/>
        </p:nvSpPr>
        <p:spPr>
          <a:xfrm>
            <a:off x="6781800" y="1072515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What should change operationally?</a:t>
            </a:r>
          </a:p>
        </p:txBody>
      </p:sp>
      <p:sp>
        <p:nvSpPr>
          <p:cNvPr id="15" name="slide-02-footer-left">
            <a:extLst>
              <a:ext uri="{FF2B5EF4-FFF2-40B4-BE49-F238E27FC236}">
                <a16:creationId xmlns:a16="http://schemas.microsoft.com/office/drawing/2014/main" id="{EBDFF049-C742-4C7B-9146-7C822862B076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16" name="slide-02-footer-right">
            <a:extLst>
              <a:ext uri="{FF2B5EF4-FFF2-40B4-BE49-F238E27FC236}">
                <a16:creationId xmlns:a16="http://schemas.microsoft.com/office/drawing/2014/main" id="{3E4525A4-1817-4513-A9EB-863DF658D265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16021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03-accent-line">
            <a:extLst>
              <a:ext uri="{FF2B5EF4-FFF2-40B4-BE49-F238E27FC236}">
                <a16:creationId xmlns:a16="http://schemas.microsoft.com/office/drawing/2014/main" id="{55AD9F85-5D94-45F7-9621-DF17FAEC923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3-eyebrow">
            <a:extLst>
              <a:ext uri="{FF2B5EF4-FFF2-40B4-BE49-F238E27FC236}">
                <a16:creationId xmlns:a16="http://schemas.microsoft.com/office/drawing/2014/main" id="{25B45BE3-B469-4C7D-ADD2-9D89F42F7AC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EXPLORATORY DATA ANALYSIS</a:t>
            </a:r>
          </a:p>
        </p:txBody>
      </p:sp>
      <p:sp>
        <p:nvSpPr>
          <p:cNvPr id="3" name="slide-03-number">
            <a:extLst>
              <a:ext uri="{FF2B5EF4-FFF2-40B4-BE49-F238E27FC236}">
                <a16:creationId xmlns:a16="http://schemas.microsoft.com/office/drawing/2014/main" id="{93DD730C-CEFD-4FAB-B7A3-54EDB265625E}"/>
              </a:ext>
            </a:extLst>
          </p:cNvPr>
          <p:cNvSpPr>
            <a:spLocks noGrp="1"/>
          </p:cNvSpPr>
          <p:nvPr/>
        </p:nvSpPr>
        <p:spPr>
          <a:xfrm>
            <a:off x="8286750" y="8667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03 / 08</a:t>
            </a:r>
          </a:p>
        </p:txBody>
      </p:sp>
      <p:sp>
        <p:nvSpPr>
          <p:cNvPr id="4" name="slide-03-title-line-one">
            <a:extLst>
              <a:ext uri="{FF2B5EF4-FFF2-40B4-BE49-F238E27FC236}">
                <a16:creationId xmlns:a16="http://schemas.microsoft.com/office/drawing/2014/main" id="{01DF7B79-3E79-4944-8F79-712DE5EDFD3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82653"/>
                </a:solidFill>
              </a:defRPr>
            </a:pPr>
            <a:r>
              <a:rPr sz="3900" b="1">
                <a:solidFill>
                  <a:srgbClr val="082653"/>
                </a:solidFill>
              </a:rPr>
              <a:t>62.9% OF SHIPMENTS</a:t>
            </a:r>
          </a:p>
        </p:txBody>
      </p:sp>
      <p:sp>
        <p:nvSpPr>
          <p:cNvPr id="5" name="slide-03-title-line-two">
            <a:extLst>
              <a:ext uri="{FF2B5EF4-FFF2-40B4-BE49-F238E27FC236}">
                <a16:creationId xmlns:a16="http://schemas.microsoft.com/office/drawing/2014/main" id="{DE76D00B-6E59-4E1F-B7C1-3FC0CF9004CC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D20A16"/>
                </a:solidFill>
              </a:defRPr>
            </a:pPr>
            <a:r>
              <a:rPr sz="4800" b="1">
                <a:solidFill>
                  <a:srgbClr val="D20A16"/>
                </a:solidFill>
              </a:rPr>
              <a:t>WERE DELAYED</a:t>
            </a:r>
          </a:p>
        </p:txBody>
      </p:sp>
      <p:sp>
        <p:nvSpPr>
          <p:cNvPr id="6" name="slide-03-subtitle">
            <a:extLst>
              <a:ext uri="{FF2B5EF4-FFF2-40B4-BE49-F238E27FC236}">
                <a16:creationId xmlns:a16="http://schemas.microsoft.com/office/drawing/2014/main" id="{C39363FF-B0CB-4E0F-AEDB-E53E569C3FEC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891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1E2D42"/>
                </a:solidFill>
              </a:defRPr>
            </a:pPr>
            <a:r>
              <a:rPr sz="1875">
                <a:solidFill>
                  <a:srgbClr val="1E2D42"/>
                </a:solidFill>
              </a:rPr>
              <a:t>The data revealed a systemic delivery performance problem, not isolated exceptions.</a:t>
            </a:r>
          </a:p>
        </p:txBody>
      </p:sp>
      <p:sp>
        <p:nvSpPr>
          <p:cNvPr id="7" name="eda-visual-background">
            <a:extLst>
              <a:ext uri="{FF2B5EF4-FFF2-40B4-BE49-F238E27FC236}">
                <a16:creationId xmlns:a16="http://schemas.microsoft.com/office/drawing/2014/main" id="{5A3F78A0-73B3-496D-9192-00977A056B97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286250" cy="7048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8" name="eda-visual-label">
            <a:extLst>
              <a:ext uri="{FF2B5EF4-FFF2-40B4-BE49-F238E27FC236}">
                <a16:creationId xmlns:a16="http://schemas.microsoft.com/office/drawing/2014/main" id="{0944F68D-7273-4AD3-B821-3AE0574A0DED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DELIVERY STATUS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857250" y="4591050"/>
          <a:ext cx="39433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eda-donut-value">
            <a:extLst>
              <a:ext uri="{FF2B5EF4-FFF2-40B4-BE49-F238E27FC236}">
                <a16:creationId xmlns:a16="http://schemas.microsoft.com/office/drawing/2014/main" id="{242A1C05-F7F3-41D3-91E1-DC9D68429FEE}"/>
              </a:ext>
            </a:extLst>
          </p:cNvPr>
          <p:cNvSpPr>
            <a:spLocks noGrp="1"/>
          </p:cNvSpPr>
          <p:nvPr/>
        </p:nvSpPr>
        <p:spPr>
          <a:xfrm>
            <a:off x="1524000" y="5895975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D20A16"/>
                </a:solidFill>
              </a:defRPr>
            </a:pPr>
            <a:r>
              <a:rPr sz="4350" b="1">
                <a:solidFill>
                  <a:srgbClr val="D20A16"/>
                </a:solidFill>
              </a:rPr>
              <a:t>62.9%</a:t>
            </a:r>
          </a:p>
        </p:txBody>
      </p:sp>
      <p:sp>
        <p:nvSpPr>
          <p:cNvPr id="11" name="eda-donut-label">
            <a:extLst>
              <a:ext uri="{FF2B5EF4-FFF2-40B4-BE49-F238E27FC236}">
                <a16:creationId xmlns:a16="http://schemas.microsoft.com/office/drawing/2014/main" id="{B324EAE2-7718-496E-9922-BA7F0AD420D5}"/>
              </a:ext>
            </a:extLst>
          </p:cNvPr>
          <p:cNvSpPr>
            <a:spLocks noGrp="1"/>
          </p:cNvSpPr>
          <p:nvPr/>
        </p:nvSpPr>
        <p:spPr>
          <a:xfrm>
            <a:off x="1676400" y="6657975"/>
            <a:ext cx="2266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653"/>
                </a:solidFill>
              </a:defRPr>
            </a:pPr>
            <a:r>
              <a:rPr sz="1500" b="1">
                <a:solidFill>
                  <a:srgbClr val="082653"/>
                </a:solidFill>
              </a:rPr>
              <a:t>DELAYED</a:t>
            </a:r>
          </a:p>
        </p:txBody>
      </p:sp>
      <p:sp>
        <p:nvSpPr>
          <p:cNvPr id="12" name="delayed-legend-dot">
            <a:extLst>
              <a:ext uri="{FF2B5EF4-FFF2-40B4-BE49-F238E27FC236}">
                <a16:creationId xmlns:a16="http://schemas.microsoft.com/office/drawing/2014/main" id="{96CF1038-ABC3-410B-BE1B-00A2343C393A}"/>
              </a:ext>
            </a:extLst>
          </p:cNvPr>
          <p:cNvSpPr>
            <a:spLocks noGrp="1"/>
          </p:cNvSpPr>
          <p:nvPr/>
        </p:nvSpPr>
        <p:spPr>
          <a:xfrm>
            <a:off x="1066800" y="8610600"/>
            <a:ext cx="171450" cy="171450"/>
          </a:xfrm>
          <a:prstGeom prst="ellipse">
            <a:avLst/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13" name="delayed-legend">
            <a:extLst>
              <a:ext uri="{FF2B5EF4-FFF2-40B4-BE49-F238E27FC236}">
                <a16:creationId xmlns:a16="http://schemas.microsoft.com/office/drawing/2014/main" id="{D15ADEC6-5BEC-4EB2-91C6-CAD97875E466}"/>
              </a:ext>
            </a:extLst>
          </p:cNvPr>
          <p:cNvSpPr>
            <a:spLocks noGrp="1"/>
          </p:cNvSpPr>
          <p:nvPr/>
        </p:nvSpPr>
        <p:spPr>
          <a:xfrm>
            <a:off x="1352550" y="85058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E2D42"/>
                </a:solidFill>
              </a:defRPr>
            </a:pPr>
            <a:r>
              <a:rPr sz="1500" b="1">
                <a:solidFill>
                  <a:srgbClr val="1E2D42"/>
                </a:solidFill>
              </a:rPr>
              <a:t>Delayed  4,263  |  62.9%</a:t>
            </a:r>
          </a:p>
        </p:txBody>
      </p:sp>
      <p:sp>
        <p:nvSpPr>
          <p:cNvPr id="14" name="ontime-legend-dot">
            <a:extLst>
              <a:ext uri="{FF2B5EF4-FFF2-40B4-BE49-F238E27FC236}">
                <a16:creationId xmlns:a16="http://schemas.microsoft.com/office/drawing/2014/main" id="{9F2F8B41-F5AB-41EF-998E-E488B615889A}"/>
              </a:ext>
            </a:extLst>
          </p:cNvPr>
          <p:cNvSpPr>
            <a:spLocks noGrp="1"/>
          </p:cNvSpPr>
          <p:nvPr/>
        </p:nvSpPr>
        <p:spPr>
          <a:xfrm>
            <a:off x="1066800" y="9096375"/>
            <a:ext cx="171450" cy="17145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15" name="ontime-legend">
            <a:extLst>
              <a:ext uri="{FF2B5EF4-FFF2-40B4-BE49-F238E27FC236}">
                <a16:creationId xmlns:a16="http://schemas.microsoft.com/office/drawing/2014/main" id="{3DF89EDC-2F42-4E49-8A8F-258C4EA542FF}"/>
              </a:ext>
            </a:extLst>
          </p:cNvPr>
          <p:cNvSpPr>
            <a:spLocks noGrp="1"/>
          </p:cNvSpPr>
          <p:nvPr/>
        </p:nvSpPr>
        <p:spPr>
          <a:xfrm>
            <a:off x="1352550" y="89916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E2D42"/>
                </a:solidFill>
              </a:defRPr>
            </a:pPr>
            <a:r>
              <a:rPr sz="1500" b="1">
                <a:solidFill>
                  <a:srgbClr val="1E2D42"/>
                </a:solidFill>
              </a:rPr>
              <a:t>On-Time  2,510  |  37.1%</a:t>
            </a:r>
          </a:p>
        </p:txBody>
      </p:sp>
      <p:sp>
        <p:nvSpPr>
          <p:cNvPr id="16" name="methodology-accent">
            <a:extLst>
              <a:ext uri="{FF2B5EF4-FFF2-40B4-BE49-F238E27FC236}">
                <a16:creationId xmlns:a16="http://schemas.microsoft.com/office/drawing/2014/main" id="{13EE3ED7-388B-412B-B872-DAB42199CD6D}"/>
              </a:ext>
            </a:extLst>
          </p:cNvPr>
          <p:cNvSpPr>
            <a:spLocks noGrp="1"/>
          </p:cNvSpPr>
          <p:nvPr/>
        </p:nvSpPr>
        <p:spPr>
          <a:xfrm>
            <a:off x="990600" y="9753600"/>
            <a:ext cx="57150" cy="7239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17" name="methodology-label">
            <a:extLst>
              <a:ext uri="{FF2B5EF4-FFF2-40B4-BE49-F238E27FC236}">
                <a16:creationId xmlns:a16="http://schemas.microsoft.com/office/drawing/2014/main" id="{1DC3803A-B001-4D9F-B75C-E9B57646AA8D}"/>
              </a:ext>
            </a:extLst>
          </p:cNvPr>
          <p:cNvSpPr>
            <a:spLocks noGrp="1"/>
          </p:cNvSpPr>
          <p:nvPr/>
        </p:nvSpPr>
        <p:spPr>
          <a:xfrm>
            <a:off x="1219200" y="96964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18096"/>
                </a:solidFill>
              </a:defRPr>
            </a:pPr>
            <a:r>
              <a:rPr sz="1200" b="1">
                <a:solidFill>
                  <a:srgbClr val="718096"/>
                </a:solidFill>
              </a:rPr>
              <a:t>DELAY DEFINITION</a:t>
            </a:r>
          </a:p>
        </p:txBody>
      </p:sp>
      <p:sp>
        <p:nvSpPr>
          <p:cNvPr id="18" name="methodology-copy">
            <a:extLst>
              <a:ext uri="{FF2B5EF4-FFF2-40B4-BE49-F238E27FC236}">
                <a16:creationId xmlns:a16="http://schemas.microsoft.com/office/drawing/2014/main" id="{6B87AA4D-6688-4BCC-96E2-E3479072CA7E}"/>
              </a:ext>
            </a:extLst>
          </p:cNvPr>
          <p:cNvSpPr>
            <a:spLocks noGrp="1"/>
          </p:cNvSpPr>
          <p:nvPr/>
        </p:nvSpPr>
        <p:spPr>
          <a:xfrm>
            <a:off x="1219200" y="10048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82653"/>
                </a:solidFill>
              </a:defRPr>
            </a:pPr>
            <a:r>
              <a:rPr sz="1650" b="1">
                <a:solidFill>
                  <a:srgbClr val="082653"/>
                </a:solidFill>
              </a:rPr>
              <a:t>Actual ETA &gt; Planned ETA</a:t>
            </a:r>
          </a:p>
        </p:txBody>
      </p:sp>
      <p:sp>
        <p:nvSpPr>
          <p:cNvPr id="19" name="eda-meaning-label">
            <a:extLst>
              <a:ext uri="{FF2B5EF4-FFF2-40B4-BE49-F238E27FC236}">
                <a16:creationId xmlns:a16="http://schemas.microsoft.com/office/drawing/2014/main" id="{B46E5E97-2B01-4E22-AD03-06A8F6FCFCEF}"/>
              </a:ext>
            </a:extLst>
          </p:cNvPr>
          <p:cNvSpPr>
            <a:spLocks noGrp="1"/>
          </p:cNvSpPr>
          <p:nvPr/>
        </p:nvSpPr>
        <p:spPr>
          <a:xfrm>
            <a:off x="5467350" y="40005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554A3"/>
                </a:solidFill>
              </a:defRPr>
            </a:pPr>
            <a:r>
              <a:rPr sz="1350" b="1">
                <a:solidFill>
                  <a:srgbClr val="1554A3"/>
                </a:solidFill>
              </a:rPr>
              <a:t>WHAT THIS MEANS</a:t>
            </a:r>
          </a:p>
        </p:txBody>
      </p:sp>
      <p:sp>
        <p:nvSpPr>
          <p:cNvPr id="20" name="eda-primary-meaning">
            <a:extLst>
              <a:ext uri="{FF2B5EF4-FFF2-40B4-BE49-F238E27FC236}">
                <a16:creationId xmlns:a16="http://schemas.microsoft.com/office/drawing/2014/main" id="{1AEF3885-1290-41CD-944C-596324E165C5}"/>
              </a:ext>
            </a:extLst>
          </p:cNvPr>
          <p:cNvSpPr>
            <a:spLocks noGrp="1"/>
          </p:cNvSpPr>
          <p:nvPr/>
        </p:nvSpPr>
        <p:spPr>
          <a:xfrm>
            <a:off x="5467350" y="4514850"/>
            <a:ext cx="40005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82653"/>
                </a:solidFill>
              </a:defRPr>
            </a:pPr>
            <a:r>
              <a:rPr sz="2850" b="1">
                <a:solidFill>
                  <a:srgbClr val="082653"/>
                </a:solidFill>
              </a:rPr>
              <a:t>Nearly 2 in every 3 shipments missed the planned ETA.</a:t>
            </a:r>
          </a:p>
        </p:txBody>
      </p:sp>
      <p:sp>
        <p:nvSpPr>
          <p:cNvPr id="21" name="eda-divider-one">
            <a:extLst>
              <a:ext uri="{FF2B5EF4-FFF2-40B4-BE49-F238E27FC236}">
                <a16:creationId xmlns:a16="http://schemas.microsoft.com/office/drawing/2014/main" id="{7621FDE9-CE11-461E-B18D-0391C057708F}"/>
              </a:ext>
            </a:extLst>
          </p:cNvPr>
          <p:cNvSpPr>
            <a:spLocks noGrp="1"/>
          </p:cNvSpPr>
          <p:nvPr/>
        </p:nvSpPr>
        <p:spPr>
          <a:xfrm>
            <a:off x="5467350" y="6172200"/>
            <a:ext cx="3905250" cy="1905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22" name="eda-insight-one-label">
            <a:extLst>
              <a:ext uri="{FF2B5EF4-FFF2-40B4-BE49-F238E27FC236}">
                <a16:creationId xmlns:a16="http://schemas.microsoft.com/office/drawing/2014/main" id="{9E4ED580-42F8-4E62-B27B-E75737A14084}"/>
              </a:ext>
            </a:extLst>
          </p:cNvPr>
          <p:cNvSpPr>
            <a:spLocks noGrp="1"/>
          </p:cNvSpPr>
          <p:nvPr/>
        </p:nvSpPr>
        <p:spPr>
          <a:xfrm>
            <a:off x="5467350" y="64579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D20A16"/>
                </a:solidFill>
              </a:defRPr>
            </a:pPr>
            <a:r>
              <a:rPr sz="1275" b="1">
                <a:solidFill>
                  <a:srgbClr val="D20A16"/>
                </a:solidFill>
              </a:rPr>
              <a:t>SYSTEM-WIDE ISSUE</a:t>
            </a:r>
          </a:p>
        </p:txBody>
      </p:sp>
      <p:sp>
        <p:nvSpPr>
          <p:cNvPr id="23" name="eda-insight-one-copy">
            <a:extLst>
              <a:ext uri="{FF2B5EF4-FFF2-40B4-BE49-F238E27FC236}">
                <a16:creationId xmlns:a16="http://schemas.microsoft.com/office/drawing/2014/main" id="{596DF8FD-94F4-4A55-A380-164F68C884AC}"/>
              </a:ext>
            </a:extLst>
          </p:cNvPr>
          <p:cNvSpPr>
            <a:spLocks noGrp="1"/>
          </p:cNvSpPr>
          <p:nvPr/>
        </p:nvSpPr>
        <p:spPr>
          <a:xfrm>
            <a:off x="5467350" y="6858000"/>
            <a:ext cx="3905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1E2D42"/>
                </a:solidFill>
              </a:defRPr>
            </a:pPr>
            <a:r>
              <a:rPr sz="1875">
                <a:solidFill>
                  <a:srgbClr val="1E2D42"/>
                </a:solidFill>
              </a:rPr>
              <a:t>4,263 of 6,773 cleaned shipment records were classified as delayed.</a:t>
            </a:r>
          </a:p>
        </p:txBody>
      </p:sp>
      <p:sp>
        <p:nvSpPr>
          <p:cNvPr id="24" name="eda-divider-two">
            <a:extLst>
              <a:ext uri="{FF2B5EF4-FFF2-40B4-BE49-F238E27FC236}">
                <a16:creationId xmlns:a16="http://schemas.microsoft.com/office/drawing/2014/main" id="{0D8D43FD-7E0A-4A83-B5A6-234235108BF0}"/>
              </a:ext>
            </a:extLst>
          </p:cNvPr>
          <p:cNvSpPr>
            <a:spLocks noGrp="1"/>
          </p:cNvSpPr>
          <p:nvPr/>
        </p:nvSpPr>
        <p:spPr>
          <a:xfrm>
            <a:off x="5467350" y="7943850"/>
            <a:ext cx="3905250" cy="1905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25" name="eda-insight-two-label">
            <a:extLst>
              <a:ext uri="{FF2B5EF4-FFF2-40B4-BE49-F238E27FC236}">
                <a16:creationId xmlns:a16="http://schemas.microsoft.com/office/drawing/2014/main" id="{DCD4F380-2A4E-4274-B115-57EC031FFE42}"/>
              </a:ext>
            </a:extLst>
          </p:cNvPr>
          <p:cNvSpPr>
            <a:spLocks noGrp="1"/>
          </p:cNvSpPr>
          <p:nvPr/>
        </p:nvSpPr>
        <p:spPr>
          <a:xfrm>
            <a:off x="5467350" y="82296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47B2A"/>
                </a:solidFill>
              </a:defRPr>
            </a:pPr>
            <a:r>
              <a:rPr sz="1275" b="1">
                <a:solidFill>
                  <a:srgbClr val="F47B2A"/>
                </a:solidFill>
              </a:rPr>
              <a:t>NOT ISOLATED EXCEPTIONS</a:t>
            </a:r>
          </a:p>
        </p:txBody>
      </p:sp>
      <p:sp>
        <p:nvSpPr>
          <p:cNvPr id="26" name="eda-insight-two-copy">
            <a:extLst>
              <a:ext uri="{FF2B5EF4-FFF2-40B4-BE49-F238E27FC236}">
                <a16:creationId xmlns:a16="http://schemas.microsoft.com/office/drawing/2014/main" id="{1C4932E5-F715-40FB-B656-80918BB24C50}"/>
              </a:ext>
            </a:extLst>
          </p:cNvPr>
          <p:cNvSpPr>
            <a:spLocks noGrp="1"/>
          </p:cNvSpPr>
          <p:nvPr/>
        </p:nvSpPr>
        <p:spPr>
          <a:xfrm>
            <a:off x="5467350" y="8629650"/>
            <a:ext cx="3905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1E2D42"/>
                </a:solidFill>
              </a:defRPr>
            </a:pPr>
            <a:r>
              <a:rPr sz="1875">
                <a:solidFill>
                  <a:srgbClr val="1E2D42"/>
                </a:solidFill>
              </a:rPr>
              <a:t>Delay patterns shifted across time, distance, suppliers, vehicle types, and GPS providers.</a:t>
            </a:r>
          </a:p>
        </p:txBody>
      </p:sp>
      <p:sp>
        <p:nvSpPr>
          <p:cNvPr id="27" name="eda-next-step-band">
            <a:extLst>
              <a:ext uri="{FF2B5EF4-FFF2-40B4-BE49-F238E27FC236}">
                <a16:creationId xmlns:a16="http://schemas.microsoft.com/office/drawing/2014/main" id="{99BC15F1-BF8C-46AD-9397-FB1E4AD464BD}"/>
              </a:ext>
            </a:extLst>
          </p:cNvPr>
          <p:cNvSpPr>
            <a:spLocks noGrp="1"/>
          </p:cNvSpPr>
          <p:nvPr/>
        </p:nvSpPr>
        <p:spPr>
          <a:xfrm>
            <a:off x="5276850" y="10039350"/>
            <a:ext cx="4324350" cy="1143000"/>
          </a:xfrm>
          <a:prstGeom prst="roundRect">
            <a:avLst>
              <a:gd name="adj" fmla="val 6667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28" name="eda-next-step-label">
            <a:extLst>
              <a:ext uri="{FF2B5EF4-FFF2-40B4-BE49-F238E27FC236}">
                <a16:creationId xmlns:a16="http://schemas.microsoft.com/office/drawing/2014/main" id="{E0D8379D-2576-480F-B3FE-5DE4BDD33E8D}"/>
              </a:ext>
            </a:extLst>
          </p:cNvPr>
          <p:cNvSpPr>
            <a:spLocks noGrp="1"/>
          </p:cNvSpPr>
          <p:nvPr/>
        </p:nvSpPr>
        <p:spPr>
          <a:xfrm>
            <a:off x="5543550" y="102393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A"/>
                </a:solidFill>
              </a:defRPr>
            </a:pPr>
            <a:r>
              <a:rPr sz="1200" b="1">
                <a:solidFill>
                  <a:srgbClr val="F47B2A"/>
                </a:solidFill>
              </a:rPr>
              <a:t>NEXT</a:t>
            </a:r>
          </a:p>
        </p:txBody>
      </p:sp>
      <p:sp>
        <p:nvSpPr>
          <p:cNvPr id="29" name="eda-next-step-copy">
            <a:extLst>
              <a:ext uri="{FF2B5EF4-FFF2-40B4-BE49-F238E27FC236}">
                <a16:creationId xmlns:a16="http://schemas.microsoft.com/office/drawing/2014/main" id="{21944762-13D8-4D30-AC67-91704222DDD5}"/>
              </a:ext>
            </a:extLst>
          </p:cNvPr>
          <p:cNvSpPr>
            <a:spLocks noGrp="1"/>
          </p:cNvSpPr>
          <p:nvPr/>
        </p:nvSpPr>
        <p:spPr>
          <a:xfrm>
            <a:off x="5543550" y="10572750"/>
            <a:ext cx="3733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Structure the operation for deeper SQL analysis.</a:t>
            </a:r>
          </a:p>
        </p:txBody>
      </p:sp>
      <p:sp>
        <p:nvSpPr>
          <p:cNvPr id="30" name="slide-03-footer-left">
            <a:extLst>
              <a:ext uri="{FF2B5EF4-FFF2-40B4-BE49-F238E27FC236}">
                <a16:creationId xmlns:a16="http://schemas.microsoft.com/office/drawing/2014/main" id="{BB24BD08-365F-44D0-9CE6-F899941EF6AF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31" name="slide-03-footer-right">
            <a:extLst>
              <a:ext uri="{FF2B5EF4-FFF2-40B4-BE49-F238E27FC236}">
                <a16:creationId xmlns:a16="http://schemas.microsoft.com/office/drawing/2014/main" id="{4572BA8F-1D7C-4D98-9245-E83ACF30E62C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9316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-04-top-accent">
            <a:extLst>
              <a:ext uri="{FF2B5EF4-FFF2-40B4-BE49-F238E27FC236}">
                <a16:creationId xmlns:a16="http://schemas.microsoft.com/office/drawing/2014/main" id="{1D43D28A-6FDD-4CEE-B26C-2B3D55321FB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4-eyebrow">
            <a:extLst>
              <a:ext uri="{FF2B5EF4-FFF2-40B4-BE49-F238E27FC236}">
                <a16:creationId xmlns:a16="http://schemas.microsoft.com/office/drawing/2014/main" id="{4EE5BB69-B6DB-4E3C-AF3B-2E8131A2968D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THE SQL SOLUTION</a:t>
            </a:r>
          </a:p>
        </p:txBody>
      </p:sp>
      <p:sp>
        <p:nvSpPr>
          <p:cNvPr id="3" name="slide-04-number">
            <a:extLst>
              <a:ext uri="{FF2B5EF4-FFF2-40B4-BE49-F238E27FC236}">
                <a16:creationId xmlns:a16="http://schemas.microsoft.com/office/drawing/2014/main" id="{2C96FF00-E287-4CD2-925F-58907E116481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04 / 08</a:t>
            </a:r>
          </a:p>
        </p:txBody>
      </p:sp>
      <p:sp>
        <p:nvSpPr>
          <p:cNvPr id="4" name="slide-04-title">
            <a:extLst>
              <a:ext uri="{FF2B5EF4-FFF2-40B4-BE49-F238E27FC236}">
                <a16:creationId xmlns:a16="http://schemas.microsoft.com/office/drawing/2014/main" id="{9ACD87E2-7C44-4039-9DBE-3CE92DE19833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8915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082653"/>
                </a:solidFill>
              </a:defRPr>
            </a:pPr>
            <a:r>
              <a:rPr sz="3075" b="1">
                <a:solidFill>
                  <a:srgbClr val="082653"/>
                </a:solidFill>
              </a:rPr>
              <a:t>A CONNECTED DATABASE FOR</a:t>
            </a:r>
          </a:p>
          <a:p>
            <a:pPr>
              <a:defRPr sz="3075" b="1">
                <a:solidFill>
                  <a:srgbClr val="082653"/>
                </a:solidFill>
              </a:defRPr>
            </a:pPr>
            <a:r>
              <a:rPr sz="3075" b="1">
                <a:solidFill>
                  <a:srgbClr val="082653"/>
                </a:solidFill>
              </a:rPr>
              <a:t>END-TO-END SHIPMENT CONTROL</a:t>
            </a:r>
          </a:p>
        </p:txBody>
      </p:sp>
      <p:sp>
        <p:nvSpPr>
          <p:cNvPr id="5" name="slide-04-subtitle">
            <a:extLst>
              <a:ext uri="{FF2B5EF4-FFF2-40B4-BE49-F238E27FC236}">
                <a16:creationId xmlns:a16="http://schemas.microsoft.com/office/drawing/2014/main" id="{5E9B83C8-6678-43A5-92AC-9DAAFA37F77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E2D42"/>
                </a:solidFill>
              </a:defRPr>
            </a:pPr>
            <a:r>
              <a:rPr sz="1575">
                <a:solidFill>
                  <a:srgbClr val="1E2D42"/>
                </a:solidFill>
              </a:rPr>
              <a:t>The solution transforms fragmented logistics records into a structured SQL Server data foundation.</a:t>
            </a:r>
          </a:p>
        </p:txBody>
      </p:sp>
      <p:sp>
        <p:nvSpPr>
          <p:cNvPr id="6" name="schema-panel">
            <a:extLst>
              <a:ext uri="{FF2B5EF4-FFF2-40B4-BE49-F238E27FC236}">
                <a16:creationId xmlns:a16="http://schemas.microsoft.com/office/drawing/2014/main" id="{AD803DFD-1124-4D17-A7C0-53230ED49FD6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305300" cy="725805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7" name="schema-label">
            <a:extLst>
              <a:ext uri="{FF2B5EF4-FFF2-40B4-BE49-F238E27FC236}">
                <a16:creationId xmlns:a16="http://schemas.microsoft.com/office/drawing/2014/main" id="{6732F318-9577-44A7-9C64-5F2A5956E55C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554A3"/>
                </a:solidFill>
              </a:defRPr>
            </a:pPr>
            <a:r>
              <a:rPr sz="1200" b="1">
                <a:solidFill>
                  <a:srgbClr val="1554A3"/>
                </a:solidFill>
              </a:rPr>
              <a:t>SOLUTION ARCHITECTURE</a:t>
            </a:r>
          </a:p>
        </p:txBody>
      </p:sp>
      <p:sp>
        <p:nvSpPr>
          <p:cNvPr id="8" name="architecture-group-0">
            <a:extLst>
              <a:ext uri="{FF2B5EF4-FFF2-40B4-BE49-F238E27FC236}">
                <a16:creationId xmlns:a16="http://schemas.microsoft.com/office/drawing/2014/main" id="{A7E2C079-44A5-4814-B3CA-19EAB7B51C59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3848100" cy="1181100"/>
          </a:xfrm>
          <a:prstGeom prst="roundRect">
            <a:avLst>
              <a:gd name="adj" fmla="val 6452"/>
            </a:avLst>
          </a:prstGeom>
          <a:solidFill>
            <a:srgbClr val="EEF4FC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9" name="architecture-group-0-title">
            <a:extLst>
              <a:ext uri="{FF2B5EF4-FFF2-40B4-BE49-F238E27FC236}">
                <a16:creationId xmlns:a16="http://schemas.microsoft.com/office/drawing/2014/main" id="{0348EDAC-CF2A-4FDC-81A5-4BE9DEACC544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REFERENCE DATA</a:t>
            </a:r>
          </a:p>
        </p:txBody>
      </p:sp>
      <p:sp>
        <p:nvSpPr>
          <p:cNvPr id="10" name="architecture-chip-0-0">
            <a:extLst>
              <a:ext uri="{FF2B5EF4-FFF2-40B4-BE49-F238E27FC236}">
                <a16:creationId xmlns:a16="http://schemas.microsoft.com/office/drawing/2014/main" id="{CAAF6F59-E7B6-447D-BFFE-9D9A0EB8F380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11" name="architecture-chip-0-0-text">
            <a:extLst>
              <a:ext uri="{FF2B5EF4-FFF2-40B4-BE49-F238E27FC236}">
                <a16:creationId xmlns:a16="http://schemas.microsoft.com/office/drawing/2014/main" id="{39F24CE7-CC1D-4D3C-916B-82632454DEBC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Countries</a:t>
            </a:r>
          </a:p>
        </p:txBody>
      </p:sp>
      <p:sp>
        <p:nvSpPr>
          <p:cNvPr id="12" name="architecture-chip-0-1">
            <a:extLst>
              <a:ext uri="{FF2B5EF4-FFF2-40B4-BE49-F238E27FC236}">
                <a16:creationId xmlns:a16="http://schemas.microsoft.com/office/drawing/2014/main" id="{7F29AD6D-9913-491C-A962-FF03237A6AA1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13" name="architecture-chip-0-1-text">
            <a:extLst>
              <a:ext uri="{FF2B5EF4-FFF2-40B4-BE49-F238E27FC236}">
                <a16:creationId xmlns:a16="http://schemas.microsoft.com/office/drawing/2014/main" id="{C4BCBAAF-1691-46CF-8B16-2C95367790AA}"/>
              </a:ext>
            </a:extLst>
          </p:cNvPr>
          <p:cNvSpPr>
            <a:spLocks noGrp="1"/>
          </p:cNvSpPr>
          <p:nvPr/>
        </p:nvSpPr>
        <p:spPr>
          <a:xfrm>
            <a:off x="2933700" y="47053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Shipment Status</a:t>
            </a:r>
          </a:p>
        </p:txBody>
      </p:sp>
      <p:sp>
        <p:nvSpPr>
          <p:cNvPr id="14" name="architecture-chip-0-2">
            <a:extLst>
              <a:ext uri="{FF2B5EF4-FFF2-40B4-BE49-F238E27FC236}">
                <a16:creationId xmlns:a16="http://schemas.microsoft.com/office/drawing/2014/main" id="{C340A8A6-E74D-4FE2-8A95-464940B31FC3}"/>
              </a:ext>
            </a:extLst>
          </p:cNvPr>
          <p:cNvSpPr>
            <a:spLocks noGrp="1"/>
          </p:cNvSpPr>
          <p:nvPr/>
        </p:nvSpPr>
        <p:spPr>
          <a:xfrm>
            <a:off x="1066800" y="50673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15" name="architecture-chip-0-2-text">
            <a:extLst>
              <a:ext uri="{FF2B5EF4-FFF2-40B4-BE49-F238E27FC236}">
                <a16:creationId xmlns:a16="http://schemas.microsoft.com/office/drawing/2014/main" id="{45F61144-EB33-4B19-9862-B0741874E947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Material</a:t>
            </a:r>
          </a:p>
        </p:txBody>
      </p:sp>
      <p:sp>
        <p:nvSpPr>
          <p:cNvPr id="16" name="architecture-chip-0-3">
            <a:extLst>
              <a:ext uri="{FF2B5EF4-FFF2-40B4-BE49-F238E27FC236}">
                <a16:creationId xmlns:a16="http://schemas.microsoft.com/office/drawing/2014/main" id="{439EF914-301C-472F-91C9-32554B27160D}"/>
              </a:ext>
            </a:extLst>
          </p:cNvPr>
          <p:cNvSpPr>
            <a:spLocks noGrp="1"/>
          </p:cNvSpPr>
          <p:nvPr/>
        </p:nvSpPr>
        <p:spPr>
          <a:xfrm>
            <a:off x="2857500" y="50673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17" name="architecture-chip-0-3-text">
            <a:extLst>
              <a:ext uri="{FF2B5EF4-FFF2-40B4-BE49-F238E27FC236}">
                <a16:creationId xmlns:a16="http://schemas.microsoft.com/office/drawing/2014/main" id="{B9F3F673-1AAC-4AFC-BC0D-3EA695D2D834}"/>
              </a:ext>
            </a:extLst>
          </p:cNvPr>
          <p:cNvSpPr>
            <a:spLocks noGrp="1"/>
          </p:cNvSpPr>
          <p:nvPr/>
        </p:nvSpPr>
        <p:spPr>
          <a:xfrm>
            <a:off x="2933700" y="51435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Failure Reasons</a:t>
            </a:r>
          </a:p>
        </p:txBody>
      </p:sp>
      <p:sp>
        <p:nvSpPr>
          <p:cNvPr id="18" name="architecture-group-1">
            <a:extLst>
              <a:ext uri="{FF2B5EF4-FFF2-40B4-BE49-F238E27FC236}">
                <a16:creationId xmlns:a16="http://schemas.microsoft.com/office/drawing/2014/main" id="{342EB1B1-6D3E-45ED-A861-8880F1A1C5D2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3848100" cy="1181100"/>
          </a:xfrm>
          <a:prstGeom prst="roundRect">
            <a:avLst>
              <a:gd name="adj" fmla="val 6452"/>
            </a:avLst>
          </a:prstGeom>
          <a:solidFill>
            <a:srgbClr val="F3F7FC"/>
          </a:solidFill>
          <a:ln w="19050">
            <a:solidFill>
              <a:srgbClr val="1554A3"/>
            </a:solidFill>
            <a:prstDash val="solid"/>
          </a:ln>
        </p:spPr>
      </p:sp>
      <p:sp>
        <p:nvSpPr>
          <p:cNvPr id="19" name="architecture-group-1-title">
            <a:extLst>
              <a:ext uri="{FF2B5EF4-FFF2-40B4-BE49-F238E27FC236}">
                <a16:creationId xmlns:a16="http://schemas.microsoft.com/office/drawing/2014/main" id="{E17E10A6-B71A-4204-8DE3-37E16E5D62A1}"/>
              </a:ext>
            </a:extLst>
          </p:cNvPr>
          <p:cNvSpPr>
            <a:spLocks noGrp="1"/>
          </p:cNvSpPr>
          <p:nvPr/>
        </p:nvSpPr>
        <p:spPr>
          <a:xfrm>
            <a:off x="1085850" y="5695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554A3"/>
                </a:solidFill>
              </a:defRPr>
            </a:pPr>
            <a:r>
              <a:rPr sz="975" b="1">
                <a:solidFill>
                  <a:srgbClr val="1554A3"/>
                </a:solidFill>
              </a:rPr>
              <a:t>BUSINESS ENTITIES</a:t>
            </a:r>
          </a:p>
        </p:txBody>
      </p:sp>
      <p:sp>
        <p:nvSpPr>
          <p:cNvPr id="20" name="architecture-chip-1-0">
            <a:extLst>
              <a:ext uri="{FF2B5EF4-FFF2-40B4-BE49-F238E27FC236}">
                <a16:creationId xmlns:a16="http://schemas.microsoft.com/office/drawing/2014/main" id="{792C9633-7784-4442-BD31-41BFD98568E8}"/>
              </a:ext>
            </a:extLst>
          </p:cNvPr>
          <p:cNvSpPr>
            <a:spLocks noGrp="1"/>
          </p:cNvSpPr>
          <p:nvPr/>
        </p:nvSpPr>
        <p:spPr>
          <a:xfrm>
            <a:off x="1066800" y="59817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21" name="architecture-chip-1-0-text">
            <a:extLst>
              <a:ext uri="{FF2B5EF4-FFF2-40B4-BE49-F238E27FC236}">
                <a16:creationId xmlns:a16="http://schemas.microsoft.com/office/drawing/2014/main" id="{06358FDB-A9AE-485B-B073-DD36B0B7CB4C}"/>
              </a:ext>
            </a:extLst>
          </p:cNvPr>
          <p:cNvSpPr>
            <a:spLocks noGrp="1"/>
          </p:cNvSpPr>
          <p:nvPr/>
        </p:nvSpPr>
        <p:spPr>
          <a:xfrm>
            <a:off x="1143000" y="60579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Customers</a:t>
            </a:r>
          </a:p>
        </p:txBody>
      </p:sp>
      <p:sp>
        <p:nvSpPr>
          <p:cNvPr id="22" name="architecture-chip-1-1">
            <a:extLst>
              <a:ext uri="{FF2B5EF4-FFF2-40B4-BE49-F238E27FC236}">
                <a16:creationId xmlns:a16="http://schemas.microsoft.com/office/drawing/2014/main" id="{F33F3D07-8157-4CC2-A9C7-C029349138F4}"/>
              </a:ext>
            </a:extLst>
          </p:cNvPr>
          <p:cNvSpPr>
            <a:spLocks noGrp="1"/>
          </p:cNvSpPr>
          <p:nvPr/>
        </p:nvSpPr>
        <p:spPr>
          <a:xfrm>
            <a:off x="2857500" y="59817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23" name="architecture-chip-1-1-text">
            <a:extLst>
              <a:ext uri="{FF2B5EF4-FFF2-40B4-BE49-F238E27FC236}">
                <a16:creationId xmlns:a16="http://schemas.microsoft.com/office/drawing/2014/main" id="{B95322F3-7E3C-41BB-B622-A5E6493A03AF}"/>
              </a:ext>
            </a:extLst>
          </p:cNvPr>
          <p:cNvSpPr>
            <a:spLocks noGrp="1"/>
          </p:cNvSpPr>
          <p:nvPr/>
        </p:nvSpPr>
        <p:spPr>
          <a:xfrm>
            <a:off x="2933700" y="60579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Hubs</a:t>
            </a:r>
          </a:p>
        </p:txBody>
      </p:sp>
      <p:sp>
        <p:nvSpPr>
          <p:cNvPr id="24" name="architecture-chip-1-2">
            <a:extLst>
              <a:ext uri="{FF2B5EF4-FFF2-40B4-BE49-F238E27FC236}">
                <a16:creationId xmlns:a16="http://schemas.microsoft.com/office/drawing/2014/main" id="{ECBF3ED2-D8AD-4164-B1F5-47BA49717CEB}"/>
              </a:ext>
            </a:extLst>
          </p:cNvPr>
          <p:cNvSpPr>
            <a:spLocks noGrp="1"/>
          </p:cNvSpPr>
          <p:nvPr/>
        </p:nvSpPr>
        <p:spPr>
          <a:xfrm>
            <a:off x="1066800" y="64198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25" name="architecture-chip-1-2-text">
            <a:extLst>
              <a:ext uri="{FF2B5EF4-FFF2-40B4-BE49-F238E27FC236}">
                <a16:creationId xmlns:a16="http://schemas.microsoft.com/office/drawing/2014/main" id="{78137861-0F63-4590-802E-C1E29E6E2F9C}"/>
              </a:ext>
            </a:extLst>
          </p:cNvPr>
          <p:cNvSpPr>
            <a:spLocks noGrp="1"/>
          </p:cNvSpPr>
          <p:nvPr/>
        </p:nvSpPr>
        <p:spPr>
          <a:xfrm>
            <a:off x="1143000" y="64960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Employees</a:t>
            </a:r>
          </a:p>
        </p:txBody>
      </p:sp>
      <p:sp>
        <p:nvSpPr>
          <p:cNvPr id="26" name="architecture-chip-1-3">
            <a:extLst>
              <a:ext uri="{FF2B5EF4-FFF2-40B4-BE49-F238E27FC236}">
                <a16:creationId xmlns:a16="http://schemas.microsoft.com/office/drawing/2014/main" id="{A089C376-12F0-4E31-8F64-5F7CE5A9DF82}"/>
              </a:ext>
            </a:extLst>
          </p:cNvPr>
          <p:cNvSpPr>
            <a:spLocks noGrp="1"/>
          </p:cNvSpPr>
          <p:nvPr/>
        </p:nvSpPr>
        <p:spPr>
          <a:xfrm>
            <a:off x="2857500" y="64198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27" name="architecture-chip-1-3-text">
            <a:extLst>
              <a:ext uri="{FF2B5EF4-FFF2-40B4-BE49-F238E27FC236}">
                <a16:creationId xmlns:a16="http://schemas.microsoft.com/office/drawing/2014/main" id="{7E1D696C-D424-4DD5-A2C7-E337006DF47A}"/>
              </a:ext>
            </a:extLst>
          </p:cNvPr>
          <p:cNvSpPr>
            <a:spLocks noGrp="1"/>
          </p:cNvSpPr>
          <p:nvPr/>
        </p:nvSpPr>
        <p:spPr>
          <a:xfrm>
            <a:off x="2933700" y="64960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Couriers</a:t>
            </a:r>
          </a:p>
        </p:txBody>
      </p:sp>
      <p:sp>
        <p:nvSpPr>
          <p:cNvPr id="28" name="architecture-group-2">
            <a:extLst>
              <a:ext uri="{FF2B5EF4-FFF2-40B4-BE49-F238E27FC236}">
                <a16:creationId xmlns:a16="http://schemas.microsoft.com/office/drawing/2014/main" id="{4EB31928-7C05-4538-9D68-C8E6D8BBA334}"/>
              </a:ext>
            </a:extLst>
          </p:cNvPr>
          <p:cNvSpPr>
            <a:spLocks noGrp="1"/>
          </p:cNvSpPr>
          <p:nvPr/>
        </p:nvSpPr>
        <p:spPr>
          <a:xfrm>
            <a:off x="914400" y="8153400"/>
            <a:ext cx="3848100" cy="1504950"/>
          </a:xfrm>
          <a:prstGeom prst="roundRect">
            <a:avLst>
              <a:gd name="adj" fmla="val 5063"/>
            </a:avLst>
          </a:prstGeom>
          <a:solidFill>
            <a:srgbClr val="FFF7F1"/>
          </a:solidFill>
          <a:ln w="19050">
            <a:solidFill>
              <a:srgbClr val="F47B2A"/>
            </a:solidFill>
            <a:prstDash val="solid"/>
          </a:ln>
        </p:spPr>
      </p:sp>
      <p:sp>
        <p:nvSpPr>
          <p:cNvPr id="29" name="architecture-group-2-title">
            <a:extLst>
              <a:ext uri="{FF2B5EF4-FFF2-40B4-BE49-F238E27FC236}">
                <a16:creationId xmlns:a16="http://schemas.microsoft.com/office/drawing/2014/main" id="{D1491100-EF32-4EF5-85EA-15FBD9129D88}"/>
              </a:ext>
            </a:extLst>
          </p:cNvPr>
          <p:cNvSpPr>
            <a:spLocks noGrp="1"/>
          </p:cNvSpPr>
          <p:nvPr/>
        </p:nvSpPr>
        <p:spPr>
          <a:xfrm>
            <a:off x="1085850" y="8286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47B2A"/>
                </a:solidFill>
              </a:defRPr>
            </a:pPr>
            <a:r>
              <a:rPr sz="975" b="1">
                <a:solidFill>
                  <a:srgbClr val="F47B2A"/>
                </a:solidFill>
              </a:rPr>
              <a:t>CONNECTED OPERATIONS</a:t>
            </a:r>
          </a:p>
        </p:txBody>
      </p:sp>
      <p:sp>
        <p:nvSpPr>
          <p:cNvPr id="30" name="architecture-chip-2-0">
            <a:extLst>
              <a:ext uri="{FF2B5EF4-FFF2-40B4-BE49-F238E27FC236}">
                <a16:creationId xmlns:a16="http://schemas.microsoft.com/office/drawing/2014/main" id="{719426D3-4F2D-4BCE-A7DF-8EF82A17D550}"/>
              </a:ext>
            </a:extLst>
          </p:cNvPr>
          <p:cNvSpPr>
            <a:spLocks noGrp="1"/>
          </p:cNvSpPr>
          <p:nvPr/>
        </p:nvSpPr>
        <p:spPr>
          <a:xfrm>
            <a:off x="1066800" y="85725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31" name="architecture-chip-2-0-text">
            <a:extLst>
              <a:ext uri="{FF2B5EF4-FFF2-40B4-BE49-F238E27FC236}">
                <a16:creationId xmlns:a16="http://schemas.microsoft.com/office/drawing/2014/main" id="{7BDFA5AF-1744-406B-81F2-03EF730A5AAD}"/>
              </a:ext>
            </a:extLst>
          </p:cNvPr>
          <p:cNvSpPr>
            <a:spLocks noGrp="1"/>
          </p:cNvSpPr>
          <p:nvPr/>
        </p:nvSpPr>
        <p:spPr>
          <a:xfrm>
            <a:off x="1143000" y="86487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Tracking Events</a:t>
            </a:r>
          </a:p>
        </p:txBody>
      </p:sp>
      <p:sp>
        <p:nvSpPr>
          <p:cNvPr id="32" name="architecture-chip-2-1">
            <a:extLst>
              <a:ext uri="{FF2B5EF4-FFF2-40B4-BE49-F238E27FC236}">
                <a16:creationId xmlns:a16="http://schemas.microsoft.com/office/drawing/2014/main" id="{F04BF392-1A93-4E76-B072-4D626D46DBE5}"/>
              </a:ext>
            </a:extLst>
          </p:cNvPr>
          <p:cNvSpPr>
            <a:spLocks noGrp="1"/>
          </p:cNvSpPr>
          <p:nvPr/>
        </p:nvSpPr>
        <p:spPr>
          <a:xfrm>
            <a:off x="2857500" y="857250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33" name="architecture-chip-2-1-text">
            <a:extLst>
              <a:ext uri="{FF2B5EF4-FFF2-40B4-BE49-F238E27FC236}">
                <a16:creationId xmlns:a16="http://schemas.microsoft.com/office/drawing/2014/main" id="{025CA8BD-61A6-4EDC-8623-38E306BDF2C4}"/>
              </a:ext>
            </a:extLst>
          </p:cNvPr>
          <p:cNvSpPr>
            <a:spLocks noGrp="1"/>
          </p:cNvSpPr>
          <p:nvPr/>
        </p:nvSpPr>
        <p:spPr>
          <a:xfrm>
            <a:off x="2933700" y="864870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Delivery Attempts</a:t>
            </a:r>
          </a:p>
        </p:txBody>
      </p:sp>
      <p:sp>
        <p:nvSpPr>
          <p:cNvPr id="34" name="architecture-chip-2-2">
            <a:extLst>
              <a:ext uri="{FF2B5EF4-FFF2-40B4-BE49-F238E27FC236}">
                <a16:creationId xmlns:a16="http://schemas.microsoft.com/office/drawing/2014/main" id="{0C7C080C-5061-405E-AEAD-D0E214AE395D}"/>
              </a:ext>
            </a:extLst>
          </p:cNvPr>
          <p:cNvSpPr>
            <a:spLocks noGrp="1"/>
          </p:cNvSpPr>
          <p:nvPr/>
        </p:nvSpPr>
        <p:spPr>
          <a:xfrm>
            <a:off x="1066800" y="90106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35" name="architecture-chip-2-2-text">
            <a:extLst>
              <a:ext uri="{FF2B5EF4-FFF2-40B4-BE49-F238E27FC236}">
                <a16:creationId xmlns:a16="http://schemas.microsoft.com/office/drawing/2014/main" id="{344EF33A-9B7A-4CB4-9B73-215487B2DAD1}"/>
              </a:ext>
            </a:extLst>
          </p:cNvPr>
          <p:cNvSpPr>
            <a:spLocks noGrp="1"/>
          </p:cNvSpPr>
          <p:nvPr/>
        </p:nvSpPr>
        <p:spPr>
          <a:xfrm>
            <a:off x="1143000" y="90868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Payments</a:t>
            </a:r>
          </a:p>
        </p:txBody>
      </p:sp>
      <p:sp>
        <p:nvSpPr>
          <p:cNvPr id="36" name="architecture-chip-2-3">
            <a:extLst>
              <a:ext uri="{FF2B5EF4-FFF2-40B4-BE49-F238E27FC236}">
                <a16:creationId xmlns:a16="http://schemas.microsoft.com/office/drawing/2014/main" id="{BB95C13C-C09C-44B2-AC27-559F0CC4018B}"/>
              </a:ext>
            </a:extLst>
          </p:cNvPr>
          <p:cNvSpPr>
            <a:spLocks noGrp="1"/>
          </p:cNvSpPr>
          <p:nvPr/>
        </p:nvSpPr>
        <p:spPr>
          <a:xfrm>
            <a:off x="2857500" y="9010650"/>
            <a:ext cx="16573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DF7"/>
            </a:solidFill>
            <a:prstDash val="solid"/>
          </a:ln>
        </p:spPr>
      </p:sp>
      <p:sp>
        <p:nvSpPr>
          <p:cNvPr id="37" name="architecture-chip-2-3-text">
            <a:extLst>
              <a:ext uri="{FF2B5EF4-FFF2-40B4-BE49-F238E27FC236}">
                <a16:creationId xmlns:a16="http://schemas.microsoft.com/office/drawing/2014/main" id="{B12B22D2-B70A-4A12-B6CF-24420E7F43C2}"/>
              </a:ext>
            </a:extLst>
          </p:cNvPr>
          <p:cNvSpPr>
            <a:spLocks noGrp="1"/>
          </p:cNvSpPr>
          <p:nvPr/>
        </p:nvSpPr>
        <p:spPr>
          <a:xfrm>
            <a:off x="2933700" y="90868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2653"/>
                </a:solidFill>
              </a:defRPr>
            </a:pPr>
            <a:r>
              <a:rPr sz="900" b="1">
                <a:solidFill>
                  <a:srgbClr val="082653"/>
                </a:solidFill>
              </a:rPr>
              <a:t>Proof of Delivery</a:t>
            </a:r>
          </a:p>
        </p:txBody>
      </p:sp>
      <p:sp>
        <p:nvSpPr>
          <p:cNvPr id="38" name="reference-to-core-line">
            <a:extLst>
              <a:ext uri="{FF2B5EF4-FFF2-40B4-BE49-F238E27FC236}">
                <a16:creationId xmlns:a16="http://schemas.microsoft.com/office/drawing/2014/main" id="{9092DFF7-7F1E-46CA-A2C0-0E41968C2D82}"/>
              </a:ext>
            </a:extLst>
          </p:cNvPr>
          <p:cNvSpPr>
            <a:spLocks noGrp="1"/>
          </p:cNvSpPr>
          <p:nvPr/>
        </p:nvSpPr>
        <p:spPr>
          <a:xfrm>
            <a:off x="2800350" y="5391150"/>
            <a:ext cx="38100" cy="17145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39" name="entities-to-shipment-line">
            <a:extLst>
              <a:ext uri="{FF2B5EF4-FFF2-40B4-BE49-F238E27FC236}">
                <a16:creationId xmlns:a16="http://schemas.microsoft.com/office/drawing/2014/main" id="{FED6A732-A290-4483-8E8F-40CD19E93E5E}"/>
              </a:ext>
            </a:extLst>
          </p:cNvPr>
          <p:cNvSpPr>
            <a:spLocks noGrp="1"/>
          </p:cNvSpPr>
          <p:nvPr/>
        </p:nvSpPr>
        <p:spPr>
          <a:xfrm>
            <a:off x="2800350" y="6743700"/>
            <a:ext cx="38100" cy="22860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40" name="entities-to-shipment-arrow">
            <a:extLst>
              <a:ext uri="{FF2B5EF4-FFF2-40B4-BE49-F238E27FC236}">
                <a16:creationId xmlns:a16="http://schemas.microsoft.com/office/drawing/2014/main" id="{3303A54C-0A0F-484C-A53C-63830F7F1BBE}"/>
              </a:ext>
            </a:extLst>
          </p:cNvPr>
          <p:cNvSpPr>
            <a:spLocks noGrp="1"/>
          </p:cNvSpPr>
          <p:nvPr/>
        </p:nvSpPr>
        <p:spPr>
          <a:xfrm>
            <a:off x="2695575" y="6858000"/>
            <a:ext cx="247650" cy="171450"/>
          </a:xfrm>
          <a:prstGeom prst="chevron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41" name="shipments-core">
            <a:extLst>
              <a:ext uri="{FF2B5EF4-FFF2-40B4-BE49-F238E27FC236}">
                <a16:creationId xmlns:a16="http://schemas.microsoft.com/office/drawing/2014/main" id="{50161818-BFAF-4A37-B8C2-63055A08D4A0}"/>
              </a:ext>
            </a:extLst>
          </p:cNvPr>
          <p:cNvSpPr>
            <a:spLocks noGrp="1"/>
          </p:cNvSpPr>
          <p:nvPr/>
        </p:nvSpPr>
        <p:spPr>
          <a:xfrm>
            <a:off x="1066800" y="7029450"/>
            <a:ext cx="3543300" cy="895350"/>
          </a:xfrm>
          <a:prstGeom prst="roundRect">
            <a:avLst>
              <a:gd name="adj" fmla="val 8511"/>
            </a:avLst>
          </a:prstGeom>
          <a:solidFill>
            <a:srgbClr val="082653"/>
          </a:solidFill>
          <a:ln w="19050">
            <a:solidFill>
              <a:srgbClr val="1554A3"/>
            </a:solidFill>
            <a:prstDash val="solid"/>
          </a:ln>
        </p:spPr>
      </p:sp>
      <p:sp>
        <p:nvSpPr>
          <p:cNvPr id="42" name="shipments-core-icon">
            <a:extLst>
              <a:ext uri="{FF2B5EF4-FFF2-40B4-BE49-F238E27FC236}">
                <a16:creationId xmlns:a16="http://schemas.microsoft.com/office/drawing/2014/main" id="{EB658102-99DB-4EDC-A8D3-32B552EBEAC0}"/>
              </a:ext>
            </a:extLst>
          </p:cNvPr>
          <p:cNvSpPr>
            <a:spLocks noGrp="1"/>
          </p:cNvSpPr>
          <p:nvPr/>
        </p:nvSpPr>
        <p:spPr>
          <a:xfrm>
            <a:off x="1295400" y="7181850"/>
            <a:ext cx="590550" cy="590550"/>
          </a:xfrm>
          <a:prstGeom prst="ellipse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43" name="shipments-core-icon-text">
            <a:extLst>
              <a:ext uri="{FF2B5EF4-FFF2-40B4-BE49-F238E27FC236}">
                <a16:creationId xmlns:a16="http://schemas.microsoft.com/office/drawing/2014/main" id="{590DE88D-F908-4227-94B5-4A780BF78011}"/>
              </a:ext>
            </a:extLst>
          </p:cNvPr>
          <p:cNvSpPr>
            <a:spLocks noGrp="1"/>
          </p:cNvSpPr>
          <p:nvPr/>
        </p:nvSpPr>
        <p:spPr>
          <a:xfrm>
            <a:off x="1295400" y="7353300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44" name="shipments-core-title">
            <a:extLst>
              <a:ext uri="{FF2B5EF4-FFF2-40B4-BE49-F238E27FC236}">
                <a16:creationId xmlns:a16="http://schemas.microsoft.com/office/drawing/2014/main" id="{57CD2B7D-2360-4E4C-9CD3-4B69D4AA07D7}"/>
              </a:ext>
            </a:extLst>
          </p:cNvPr>
          <p:cNvSpPr>
            <a:spLocks noGrp="1"/>
          </p:cNvSpPr>
          <p:nvPr/>
        </p:nvSpPr>
        <p:spPr>
          <a:xfrm>
            <a:off x="2095500" y="71437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SHIPMENTS</a:t>
            </a:r>
          </a:p>
        </p:txBody>
      </p:sp>
      <p:sp>
        <p:nvSpPr>
          <p:cNvPr id="45" name="shipments-core-copy">
            <a:extLst>
              <a:ext uri="{FF2B5EF4-FFF2-40B4-BE49-F238E27FC236}">
                <a16:creationId xmlns:a16="http://schemas.microsoft.com/office/drawing/2014/main" id="{3018B144-D1A5-425B-B8B6-5FA778EE1289}"/>
              </a:ext>
            </a:extLst>
          </p:cNvPr>
          <p:cNvSpPr>
            <a:spLocks noGrp="1"/>
          </p:cNvSpPr>
          <p:nvPr/>
        </p:nvSpPr>
        <p:spPr>
          <a:xfrm>
            <a:off x="2095500" y="74676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Connects sender, receiver, hubs, status, material, and failure reason.</a:t>
            </a:r>
          </a:p>
        </p:txBody>
      </p:sp>
      <p:sp>
        <p:nvSpPr>
          <p:cNvPr id="46" name="shipment-to-operations-line">
            <a:extLst>
              <a:ext uri="{FF2B5EF4-FFF2-40B4-BE49-F238E27FC236}">
                <a16:creationId xmlns:a16="http://schemas.microsoft.com/office/drawing/2014/main" id="{636421DD-32B1-429F-ABCE-1A79628FEDA9}"/>
              </a:ext>
            </a:extLst>
          </p:cNvPr>
          <p:cNvSpPr>
            <a:spLocks noGrp="1"/>
          </p:cNvSpPr>
          <p:nvPr/>
        </p:nvSpPr>
        <p:spPr>
          <a:xfrm>
            <a:off x="2800350" y="7924800"/>
            <a:ext cx="38100" cy="228600"/>
          </a:xfrm>
          <a:prstGeom prst="rect">
            <a:avLst/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47" name="shipment-to-operations-arrow">
            <a:extLst>
              <a:ext uri="{FF2B5EF4-FFF2-40B4-BE49-F238E27FC236}">
                <a16:creationId xmlns:a16="http://schemas.microsoft.com/office/drawing/2014/main" id="{265D50B4-1E6B-4320-BB14-BB7605A4E637}"/>
              </a:ext>
            </a:extLst>
          </p:cNvPr>
          <p:cNvSpPr>
            <a:spLocks noGrp="1"/>
          </p:cNvSpPr>
          <p:nvPr/>
        </p:nvSpPr>
        <p:spPr>
          <a:xfrm>
            <a:off x="2695575" y="8039100"/>
            <a:ext cx="247650" cy="171450"/>
          </a:xfrm>
          <a:prstGeom prst="chevron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48" name="architecture-count">
            <a:extLst>
              <a:ext uri="{FF2B5EF4-FFF2-40B4-BE49-F238E27FC236}">
                <a16:creationId xmlns:a16="http://schemas.microsoft.com/office/drawing/2014/main" id="{E971E40F-F39A-4BFD-9BEE-66D29BF28621}"/>
              </a:ext>
            </a:extLst>
          </p:cNvPr>
          <p:cNvSpPr>
            <a:spLocks noGrp="1"/>
          </p:cNvSpPr>
          <p:nvPr/>
        </p:nvSpPr>
        <p:spPr>
          <a:xfrm>
            <a:off x="1028700" y="97917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82653"/>
                </a:solidFill>
              </a:defRPr>
            </a:pPr>
            <a:r>
              <a:rPr sz="1050" b="1">
                <a:solidFill>
                  <a:srgbClr val="082653"/>
                </a:solidFill>
              </a:rPr>
              <a:t>13 tables connected through primary and foreign keys</a:t>
            </a:r>
          </a:p>
        </p:txBody>
      </p:sp>
      <p:sp>
        <p:nvSpPr>
          <p:cNvPr id="49" name="architecture-caption">
            <a:extLst>
              <a:ext uri="{FF2B5EF4-FFF2-40B4-BE49-F238E27FC236}">
                <a16:creationId xmlns:a16="http://schemas.microsoft.com/office/drawing/2014/main" id="{63159608-FD2C-4DDD-ADD2-F11B7BBF4458}"/>
              </a:ext>
            </a:extLst>
          </p:cNvPr>
          <p:cNvSpPr>
            <a:spLocks noGrp="1"/>
          </p:cNvSpPr>
          <p:nvPr/>
        </p:nvSpPr>
        <p:spPr>
          <a:xfrm>
            <a:off x="1028700" y="101346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718096"/>
                </a:solidFill>
              </a:defRPr>
            </a:pPr>
            <a:r>
              <a:rPr sz="975">
                <a:solidFill>
                  <a:srgbClr val="718096"/>
                </a:solidFill>
              </a:rPr>
              <a:t>Simplified solution view  ·  Full ERD documented in the project</a:t>
            </a:r>
          </a:p>
        </p:txBody>
      </p:sp>
      <p:sp>
        <p:nvSpPr>
          <p:cNvPr id="50" name="model-intro">
            <a:extLst>
              <a:ext uri="{FF2B5EF4-FFF2-40B4-BE49-F238E27FC236}">
                <a16:creationId xmlns:a16="http://schemas.microsoft.com/office/drawing/2014/main" id="{E7473BCD-AF61-4997-9DDB-F9196C38B328}"/>
              </a:ext>
            </a:extLst>
          </p:cNvPr>
          <p:cNvSpPr>
            <a:spLocks noGrp="1"/>
          </p:cNvSpPr>
          <p:nvPr/>
        </p:nvSpPr>
        <p:spPr>
          <a:xfrm>
            <a:off x="5410200" y="3543300"/>
            <a:ext cx="4191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E2D42"/>
                </a:solidFill>
              </a:defRPr>
            </a:pPr>
            <a:r>
              <a:rPr sz="1650" b="1">
                <a:solidFill>
                  <a:srgbClr val="1E2D42"/>
                </a:solidFill>
              </a:rPr>
              <a:t>I designed a relational SQL Server database to turn disconnected records into one traceable logistics system.</a:t>
            </a:r>
          </a:p>
        </p:txBody>
      </p:sp>
      <p:sp>
        <p:nvSpPr>
          <p:cNvPr id="51" name="metric-tables">
            <a:extLst>
              <a:ext uri="{FF2B5EF4-FFF2-40B4-BE49-F238E27FC236}">
                <a16:creationId xmlns:a16="http://schemas.microsoft.com/office/drawing/2014/main" id="{C404F265-D74E-4A38-9F6A-A0DA2B1F91B8}"/>
              </a:ext>
            </a:extLst>
          </p:cNvPr>
          <p:cNvSpPr>
            <a:spLocks noGrp="1"/>
          </p:cNvSpPr>
          <p:nvPr/>
        </p:nvSpPr>
        <p:spPr>
          <a:xfrm>
            <a:off x="5410200" y="4629150"/>
            <a:ext cx="1962150" cy="1143000"/>
          </a:xfrm>
          <a:prstGeom prst="roundRect">
            <a:avLst>
              <a:gd name="adj" fmla="val 6667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52" name="metric-tables-value">
            <a:extLst>
              <a:ext uri="{FF2B5EF4-FFF2-40B4-BE49-F238E27FC236}">
                <a16:creationId xmlns:a16="http://schemas.microsoft.com/office/drawing/2014/main" id="{0C8A1D57-49A2-4128-B060-2EEA93757E43}"/>
              </a:ext>
            </a:extLst>
          </p:cNvPr>
          <p:cNvSpPr>
            <a:spLocks noGrp="1"/>
          </p:cNvSpPr>
          <p:nvPr/>
        </p:nvSpPr>
        <p:spPr>
          <a:xfrm>
            <a:off x="5600700" y="47625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3" name="metric-tables-label">
            <a:extLst>
              <a:ext uri="{FF2B5EF4-FFF2-40B4-BE49-F238E27FC236}">
                <a16:creationId xmlns:a16="http://schemas.microsoft.com/office/drawing/2014/main" id="{E056BC77-5FD4-410D-8DF9-E0233041B1FA}"/>
              </a:ext>
            </a:extLst>
          </p:cNvPr>
          <p:cNvSpPr>
            <a:spLocks noGrp="1"/>
          </p:cNvSpPr>
          <p:nvPr/>
        </p:nvSpPr>
        <p:spPr>
          <a:xfrm>
            <a:off x="5562600" y="53149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RELATIONAL TABLES</a:t>
            </a:r>
          </a:p>
        </p:txBody>
      </p:sp>
      <p:sp>
        <p:nvSpPr>
          <p:cNvPr id="54" name="metric-queries">
            <a:extLst>
              <a:ext uri="{FF2B5EF4-FFF2-40B4-BE49-F238E27FC236}">
                <a16:creationId xmlns:a16="http://schemas.microsoft.com/office/drawing/2014/main" id="{CEF31DDE-A812-4D78-B6E7-E536836EF6B0}"/>
              </a:ext>
            </a:extLst>
          </p:cNvPr>
          <p:cNvSpPr>
            <a:spLocks noGrp="1"/>
          </p:cNvSpPr>
          <p:nvPr/>
        </p:nvSpPr>
        <p:spPr>
          <a:xfrm>
            <a:off x="7562850" y="4629150"/>
            <a:ext cx="2038350" cy="1143000"/>
          </a:xfrm>
          <a:prstGeom prst="roundRect">
            <a:avLst>
              <a:gd name="adj" fmla="val 6667"/>
            </a:avLst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55" name="metric-queries-value">
            <a:extLst>
              <a:ext uri="{FF2B5EF4-FFF2-40B4-BE49-F238E27FC236}">
                <a16:creationId xmlns:a16="http://schemas.microsoft.com/office/drawing/2014/main" id="{776D401E-AC59-4CB3-830D-911C1AD5475F}"/>
              </a:ext>
            </a:extLst>
          </p:cNvPr>
          <p:cNvSpPr>
            <a:spLocks noGrp="1"/>
          </p:cNvSpPr>
          <p:nvPr/>
        </p:nvSpPr>
        <p:spPr>
          <a:xfrm>
            <a:off x="7753350" y="4762500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metric-queries-label">
            <a:extLst>
              <a:ext uri="{FF2B5EF4-FFF2-40B4-BE49-F238E27FC236}">
                <a16:creationId xmlns:a16="http://schemas.microsoft.com/office/drawing/2014/main" id="{657B687D-8601-459B-87D3-FFC9CF69066A}"/>
              </a:ext>
            </a:extLst>
          </p:cNvPr>
          <p:cNvSpPr>
            <a:spLocks noGrp="1"/>
          </p:cNvSpPr>
          <p:nvPr/>
        </p:nvSpPr>
        <p:spPr>
          <a:xfrm>
            <a:off x="7677150" y="53149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ANALYTICAL QUERIES</a:t>
            </a:r>
          </a:p>
        </p:txBody>
      </p:sp>
      <p:sp>
        <p:nvSpPr>
          <p:cNvPr id="57" name="point-01">
            <a:extLst>
              <a:ext uri="{FF2B5EF4-FFF2-40B4-BE49-F238E27FC236}">
                <a16:creationId xmlns:a16="http://schemas.microsoft.com/office/drawing/2014/main" id="{E18D92B9-2793-4C13-9AB8-AC11BAD08BDC}"/>
              </a:ext>
            </a:extLst>
          </p:cNvPr>
          <p:cNvSpPr>
            <a:spLocks noGrp="1"/>
          </p:cNvSpPr>
          <p:nvPr/>
        </p:nvSpPr>
        <p:spPr>
          <a:xfrm>
            <a:off x="5410200" y="6115050"/>
            <a:ext cx="419100" cy="419100"/>
          </a:xfrm>
          <a:prstGeom prst="ellipse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58" name="point-01-number">
            <a:extLst>
              <a:ext uri="{FF2B5EF4-FFF2-40B4-BE49-F238E27FC236}">
                <a16:creationId xmlns:a16="http://schemas.microsoft.com/office/drawing/2014/main" id="{9FB5F10B-A03B-4FEA-BD54-0CBA768DC660}"/>
              </a:ext>
            </a:extLst>
          </p:cNvPr>
          <p:cNvSpPr>
            <a:spLocks noGrp="1"/>
          </p:cNvSpPr>
          <p:nvPr/>
        </p:nvSpPr>
        <p:spPr>
          <a:xfrm>
            <a:off x="5410200" y="61912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9" name="point-01-heading">
            <a:extLst>
              <a:ext uri="{FF2B5EF4-FFF2-40B4-BE49-F238E27FC236}">
                <a16:creationId xmlns:a16="http://schemas.microsoft.com/office/drawing/2014/main" id="{5E377CF0-FB10-4FAF-A3A4-CA39B69F14D2}"/>
              </a:ext>
            </a:extLst>
          </p:cNvPr>
          <p:cNvSpPr>
            <a:spLocks noGrp="1"/>
          </p:cNvSpPr>
          <p:nvPr/>
        </p:nvSpPr>
        <p:spPr>
          <a:xfrm>
            <a:off x="6019800" y="610552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SINGLE SOURCE OF TRUTH</a:t>
            </a:r>
          </a:p>
        </p:txBody>
      </p:sp>
      <p:sp>
        <p:nvSpPr>
          <p:cNvPr id="60" name="point-01-body">
            <a:extLst>
              <a:ext uri="{FF2B5EF4-FFF2-40B4-BE49-F238E27FC236}">
                <a16:creationId xmlns:a16="http://schemas.microsoft.com/office/drawing/2014/main" id="{4489E8AF-BB3C-439F-91E7-A49DCA3E0208}"/>
              </a:ext>
            </a:extLst>
          </p:cNvPr>
          <p:cNvSpPr>
            <a:spLocks noGrp="1"/>
          </p:cNvSpPr>
          <p:nvPr/>
        </p:nvSpPr>
        <p:spPr>
          <a:xfrm>
            <a:off x="6019800" y="6438900"/>
            <a:ext cx="358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E2D42"/>
                </a:solidFill>
              </a:defRPr>
            </a:pPr>
            <a:r>
              <a:rPr sz="1275">
                <a:solidFill>
                  <a:srgbClr val="1E2D42"/>
                </a:solidFill>
              </a:rPr>
              <a:t>Customers, hubs, reference data, and shipments are connected through validated relationships.</a:t>
            </a:r>
          </a:p>
        </p:txBody>
      </p:sp>
      <p:sp>
        <p:nvSpPr>
          <p:cNvPr id="61" name="point-02">
            <a:extLst>
              <a:ext uri="{FF2B5EF4-FFF2-40B4-BE49-F238E27FC236}">
                <a16:creationId xmlns:a16="http://schemas.microsoft.com/office/drawing/2014/main" id="{EEE16CE5-E3EC-48A2-B90E-4DA331D98C46}"/>
              </a:ext>
            </a:extLst>
          </p:cNvPr>
          <p:cNvSpPr>
            <a:spLocks noGrp="1"/>
          </p:cNvSpPr>
          <p:nvPr/>
        </p:nvSpPr>
        <p:spPr>
          <a:xfrm>
            <a:off x="5410200" y="7467600"/>
            <a:ext cx="419100" cy="419100"/>
          </a:xfrm>
          <a:prstGeom prst="ellipse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62" name="point-02-number">
            <a:extLst>
              <a:ext uri="{FF2B5EF4-FFF2-40B4-BE49-F238E27FC236}">
                <a16:creationId xmlns:a16="http://schemas.microsoft.com/office/drawing/2014/main" id="{64737315-7ED9-435A-8AA9-223C70F66A57}"/>
              </a:ext>
            </a:extLst>
          </p:cNvPr>
          <p:cNvSpPr>
            <a:spLocks noGrp="1"/>
          </p:cNvSpPr>
          <p:nvPr/>
        </p:nvSpPr>
        <p:spPr>
          <a:xfrm>
            <a:off x="5410200" y="7543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3" name="point-02-heading">
            <a:extLst>
              <a:ext uri="{FF2B5EF4-FFF2-40B4-BE49-F238E27FC236}">
                <a16:creationId xmlns:a16="http://schemas.microsoft.com/office/drawing/2014/main" id="{6022D270-3447-4582-9E46-7C8BB7832AEE}"/>
              </a:ext>
            </a:extLst>
          </p:cNvPr>
          <p:cNvSpPr>
            <a:spLocks noGrp="1"/>
          </p:cNvSpPr>
          <p:nvPr/>
        </p:nvSpPr>
        <p:spPr>
          <a:xfrm>
            <a:off x="6019800" y="745807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END-TO-END TRACEABILITY</a:t>
            </a:r>
          </a:p>
        </p:txBody>
      </p:sp>
      <p:sp>
        <p:nvSpPr>
          <p:cNvPr id="64" name="point-02-body">
            <a:extLst>
              <a:ext uri="{FF2B5EF4-FFF2-40B4-BE49-F238E27FC236}">
                <a16:creationId xmlns:a16="http://schemas.microsoft.com/office/drawing/2014/main" id="{9F2C5D70-57E4-4FCA-B085-F74C8DF6F760}"/>
              </a:ext>
            </a:extLst>
          </p:cNvPr>
          <p:cNvSpPr>
            <a:spLocks noGrp="1"/>
          </p:cNvSpPr>
          <p:nvPr/>
        </p:nvSpPr>
        <p:spPr>
          <a:xfrm>
            <a:off x="6019800" y="7791450"/>
            <a:ext cx="358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E2D42"/>
                </a:solidFill>
              </a:defRPr>
            </a:pPr>
            <a:r>
              <a:rPr sz="1275">
                <a:solidFill>
                  <a:srgbClr val="1E2D42"/>
                </a:solidFill>
              </a:rPr>
              <a:t>Every tracking event, delivery attempt, payment, and proof of delivery remains linked to its shipment.</a:t>
            </a:r>
          </a:p>
        </p:txBody>
      </p:sp>
      <p:sp>
        <p:nvSpPr>
          <p:cNvPr id="65" name="point-03">
            <a:extLst>
              <a:ext uri="{FF2B5EF4-FFF2-40B4-BE49-F238E27FC236}">
                <a16:creationId xmlns:a16="http://schemas.microsoft.com/office/drawing/2014/main" id="{464E090F-C172-41B2-A131-5CFD67B7E6F8}"/>
              </a:ext>
            </a:extLst>
          </p:cNvPr>
          <p:cNvSpPr>
            <a:spLocks noGrp="1"/>
          </p:cNvSpPr>
          <p:nvPr/>
        </p:nvSpPr>
        <p:spPr>
          <a:xfrm>
            <a:off x="5410200" y="8820150"/>
            <a:ext cx="419100" cy="419100"/>
          </a:xfrm>
          <a:prstGeom prst="ellipse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66" name="point-03-number">
            <a:extLst>
              <a:ext uri="{FF2B5EF4-FFF2-40B4-BE49-F238E27FC236}">
                <a16:creationId xmlns:a16="http://schemas.microsoft.com/office/drawing/2014/main" id="{91CD7983-7622-4B04-8DA3-A228A3DF301B}"/>
              </a:ext>
            </a:extLst>
          </p:cNvPr>
          <p:cNvSpPr>
            <a:spLocks noGrp="1"/>
          </p:cNvSpPr>
          <p:nvPr/>
        </p:nvSpPr>
        <p:spPr>
          <a:xfrm>
            <a:off x="5410200" y="88963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7" name="point-03-heading">
            <a:extLst>
              <a:ext uri="{FF2B5EF4-FFF2-40B4-BE49-F238E27FC236}">
                <a16:creationId xmlns:a16="http://schemas.microsoft.com/office/drawing/2014/main" id="{84291D7B-69D1-40C0-8B91-0933B19778F1}"/>
              </a:ext>
            </a:extLst>
          </p:cNvPr>
          <p:cNvSpPr>
            <a:spLocks noGrp="1"/>
          </p:cNvSpPr>
          <p:nvPr/>
        </p:nvSpPr>
        <p:spPr>
          <a:xfrm>
            <a:off x="6019800" y="881062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DECISION-READY FOUNDATION</a:t>
            </a:r>
          </a:p>
        </p:txBody>
      </p:sp>
      <p:sp>
        <p:nvSpPr>
          <p:cNvPr id="68" name="point-03-body">
            <a:extLst>
              <a:ext uri="{FF2B5EF4-FFF2-40B4-BE49-F238E27FC236}">
                <a16:creationId xmlns:a16="http://schemas.microsoft.com/office/drawing/2014/main" id="{354939BC-743C-4CB4-9D8D-AA2F1F4AF3F2}"/>
              </a:ext>
            </a:extLst>
          </p:cNvPr>
          <p:cNvSpPr>
            <a:spLocks noGrp="1"/>
          </p:cNvSpPr>
          <p:nvPr/>
        </p:nvSpPr>
        <p:spPr>
          <a:xfrm>
            <a:off x="6019800" y="9144000"/>
            <a:ext cx="358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E2D42"/>
                </a:solidFill>
              </a:defRPr>
            </a:pPr>
            <a:r>
              <a:rPr sz="1275">
                <a:solidFill>
                  <a:srgbClr val="1E2D42"/>
                </a:solidFill>
              </a:rPr>
              <a:t>Ten reusable queries expose delays, courier performance, hub throughput, stuck shipments, POD, and revenue.</a:t>
            </a:r>
          </a:p>
        </p:txBody>
      </p:sp>
      <p:sp>
        <p:nvSpPr>
          <p:cNvPr id="69" name="slide-04-result-band">
            <a:extLst>
              <a:ext uri="{FF2B5EF4-FFF2-40B4-BE49-F238E27FC236}">
                <a16:creationId xmlns:a16="http://schemas.microsoft.com/office/drawing/2014/main" id="{060754A9-E398-4AB0-AEFE-361A8C37D652}"/>
              </a:ext>
            </a:extLst>
          </p:cNvPr>
          <p:cNvSpPr>
            <a:spLocks noGrp="1"/>
          </p:cNvSpPr>
          <p:nvPr/>
        </p:nvSpPr>
        <p:spPr>
          <a:xfrm>
            <a:off x="5410200" y="10191750"/>
            <a:ext cx="4191000" cy="1123950"/>
          </a:xfrm>
          <a:prstGeom prst="roundRect">
            <a:avLst>
              <a:gd name="adj" fmla="val 6780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70" name="result-label">
            <a:extLst>
              <a:ext uri="{FF2B5EF4-FFF2-40B4-BE49-F238E27FC236}">
                <a16:creationId xmlns:a16="http://schemas.microsoft.com/office/drawing/2014/main" id="{FFAD2466-7808-4B3C-84B6-123EA801E0CE}"/>
              </a:ext>
            </a:extLst>
          </p:cNvPr>
          <p:cNvSpPr>
            <a:spLocks noGrp="1"/>
          </p:cNvSpPr>
          <p:nvPr/>
        </p:nvSpPr>
        <p:spPr>
          <a:xfrm>
            <a:off x="5638800" y="103441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47B2A"/>
                </a:solidFill>
              </a:defRPr>
            </a:pPr>
            <a:r>
              <a:rPr sz="1125" b="1">
                <a:solidFill>
                  <a:srgbClr val="F47B2A"/>
                </a:solidFill>
              </a:rPr>
              <a:t>RESULT</a:t>
            </a:r>
          </a:p>
        </p:txBody>
      </p:sp>
      <p:sp>
        <p:nvSpPr>
          <p:cNvPr id="71" name="result-copy">
            <a:extLst>
              <a:ext uri="{FF2B5EF4-FFF2-40B4-BE49-F238E27FC236}">
                <a16:creationId xmlns:a16="http://schemas.microsoft.com/office/drawing/2014/main" id="{40A10B3E-3CFB-474F-BA11-62BA4BF88EA0}"/>
              </a:ext>
            </a:extLst>
          </p:cNvPr>
          <p:cNvSpPr>
            <a:spLocks noGrp="1"/>
          </p:cNvSpPr>
          <p:nvPr/>
        </p:nvSpPr>
        <p:spPr>
          <a:xfrm>
            <a:off x="5638800" y="10648950"/>
            <a:ext cx="3657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trusted SQL foundation for operational monitoring and Power BI.</a:t>
            </a:r>
          </a:p>
        </p:txBody>
      </p:sp>
      <p:sp>
        <p:nvSpPr>
          <p:cNvPr id="72" name="slide-04-footer-left">
            <a:extLst>
              <a:ext uri="{FF2B5EF4-FFF2-40B4-BE49-F238E27FC236}">
                <a16:creationId xmlns:a16="http://schemas.microsoft.com/office/drawing/2014/main" id="{F785E759-1630-4058-B892-48F7D1B8BE1D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73" name="slide-04-footer-right">
            <a:extLst>
              <a:ext uri="{FF2B5EF4-FFF2-40B4-BE49-F238E27FC236}">
                <a16:creationId xmlns:a16="http://schemas.microsoft.com/office/drawing/2014/main" id="{D78BC2DD-6D33-492B-A945-2A352DEFC382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12200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05-top-accent">
            <a:extLst>
              <a:ext uri="{FF2B5EF4-FFF2-40B4-BE49-F238E27FC236}">
                <a16:creationId xmlns:a16="http://schemas.microsoft.com/office/drawing/2014/main" id="{4A641DE1-AF93-4012-952C-B92130DE8D2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5-eyebrow">
            <a:extLst>
              <a:ext uri="{FF2B5EF4-FFF2-40B4-BE49-F238E27FC236}">
                <a16:creationId xmlns:a16="http://schemas.microsoft.com/office/drawing/2014/main" id="{E978A7C6-CD4F-41A9-BEB7-E6A269C781BE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POWER BI DASHBOARD</a:t>
            </a:r>
          </a:p>
        </p:txBody>
      </p:sp>
      <p:sp>
        <p:nvSpPr>
          <p:cNvPr id="3" name="slide-05-number">
            <a:extLst>
              <a:ext uri="{FF2B5EF4-FFF2-40B4-BE49-F238E27FC236}">
                <a16:creationId xmlns:a16="http://schemas.microsoft.com/office/drawing/2014/main" id="{38B7AC07-5923-46FC-8E6E-00A4FE4D0416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05 / 08</a:t>
            </a:r>
          </a:p>
        </p:txBody>
      </p:sp>
      <p:sp>
        <p:nvSpPr>
          <p:cNvPr id="4" name="slide-05-title">
            <a:extLst>
              <a:ext uri="{FF2B5EF4-FFF2-40B4-BE49-F238E27FC236}">
                <a16:creationId xmlns:a16="http://schemas.microsoft.com/office/drawing/2014/main" id="{19F1715F-4B4F-4461-8C48-D5A092D4ACE7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8915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75" b="1">
                <a:solidFill>
                  <a:srgbClr val="082653"/>
                </a:solidFill>
              </a:defRPr>
            </a:pPr>
            <a:r>
              <a:rPr sz="3375" b="1">
                <a:solidFill>
                  <a:srgbClr val="082653"/>
                </a:solidFill>
              </a:rPr>
              <a:t>ONE DASHBOARD. THREE</a:t>
            </a:r>
          </a:p>
          <a:p>
            <a:pPr>
              <a:defRPr sz="3375" b="1">
                <a:solidFill>
                  <a:srgbClr val="082653"/>
                </a:solidFill>
              </a:defRPr>
            </a:pPr>
            <a:r>
              <a:rPr sz="3375" b="1">
                <a:solidFill>
                  <a:srgbClr val="082653"/>
                </a:solidFill>
              </a:rPr>
              <a:t>OPERATIONAL VIEWS.</a:t>
            </a:r>
          </a:p>
        </p:txBody>
      </p:sp>
      <p:sp>
        <p:nvSpPr>
          <p:cNvPr id="5" name="slide-05-subtitle">
            <a:extLst>
              <a:ext uri="{FF2B5EF4-FFF2-40B4-BE49-F238E27FC236}">
                <a16:creationId xmlns:a16="http://schemas.microsoft.com/office/drawing/2014/main" id="{63CEB309-C9A2-4FC2-A89B-3B1CD9BCFD5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E2D42"/>
                </a:solidFill>
              </a:defRPr>
            </a:pPr>
            <a:r>
              <a:rPr sz="1575" dirty="0">
                <a:solidFill>
                  <a:srgbClr val="1E2D42"/>
                </a:solidFill>
              </a:rPr>
              <a:t>Interactive pages move from the overall delay problem to the supplier, customer, vehicle, and GPS drivers behind it.</a:t>
            </a:r>
          </a:p>
        </p:txBody>
      </p:sp>
      <p:sp>
        <p:nvSpPr>
          <p:cNvPr id="6" name="delay-dashboard-frame">
            <a:extLst>
              <a:ext uri="{FF2B5EF4-FFF2-40B4-BE49-F238E27FC236}">
                <a16:creationId xmlns:a16="http://schemas.microsoft.com/office/drawing/2014/main" id="{A74E1EDA-CFDF-41C5-AFB9-256EDA27A8F9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89154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3619500"/>
            <a:ext cx="8686800" cy="4886325"/>
          </a:xfrm>
          <a:prstGeom prst="rect">
            <a:avLst/>
          </a:prstGeom>
        </p:spPr>
      </p:pic>
      <p:sp>
        <p:nvSpPr>
          <p:cNvPr id="8" name="delay-dashboard-label-bg">
            <a:extLst>
              <a:ext uri="{FF2B5EF4-FFF2-40B4-BE49-F238E27FC236}">
                <a16:creationId xmlns:a16="http://schemas.microsoft.com/office/drawing/2014/main" id="{94C77EB5-102A-4B67-91CD-3117E1183A26}"/>
              </a:ext>
            </a:extLst>
          </p:cNvPr>
          <p:cNvSpPr>
            <a:spLocks noGrp="1"/>
          </p:cNvSpPr>
          <p:nvPr/>
        </p:nvSpPr>
        <p:spPr>
          <a:xfrm>
            <a:off x="914400" y="3244907"/>
            <a:ext cx="3162300" cy="352425"/>
          </a:xfrm>
          <a:prstGeom prst="roundRect">
            <a:avLst>
              <a:gd name="adj" fmla="val 11538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9" name="delay-dashboard-label">
            <a:extLst>
              <a:ext uri="{FF2B5EF4-FFF2-40B4-BE49-F238E27FC236}">
                <a16:creationId xmlns:a16="http://schemas.microsoft.com/office/drawing/2014/main" id="{623A7E91-2A50-4D68-B76B-A0F7C1B1067B}"/>
              </a:ext>
            </a:extLst>
          </p:cNvPr>
          <p:cNvSpPr>
            <a:spLocks noGrp="1"/>
          </p:cNvSpPr>
          <p:nvPr/>
        </p:nvSpPr>
        <p:spPr>
          <a:xfrm>
            <a:off x="1104900" y="3278157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01  DELAY ANALYSIS</a:t>
            </a:r>
          </a:p>
        </p:txBody>
      </p:sp>
      <p:sp>
        <p:nvSpPr>
          <p:cNvPr id="10" name="supplier-dashboard-frame">
            <a:extLst>
              <a:ext uri="{FF2B5EF4-FFF2-40B4-BE49-F238E27FC236}">
                <a16:creationId xmlns:a16="http://schemas.microsoft.com/office/drawing/2014/main" id="{82DDBFD4-6D9E-4D80-9D00-110E4D655B6F}"/>
              </a:ext>
            </a:extLst>
          </p:cNvPr>
          <p:cNvSpPr>
            <a:spLocks noGrp="1"/>
          </p:cNvSpPr>
          <p:nvPr/>
        </p:nvSpPr>
        <p:spPr>
          <a:xfrm>
            <a:off x="685800" y="8743950"/>
            <a:ext cx="4305300" cy="241935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2000" y="8820150"/>
            <a:ext cx="4152900" cy="2333625"/>
          </a:xfrm>
          <a:prstGeom prst="rect">
            <a:avLst/>
          </a:prstGeom>
        </p:spPr>
      </p:pic>
      <p:sp>
        <p:nvSpPr>
          <p:cNvPr id="12" name="supplier-label-bg">
            <a:extLst>
              <a:ext uri="{FF2B5EF4-FFF2-40B4-BE49-F238E27FC236}">
                <a16:creationId xmlns:a16="http://schemas.microsoft.com/office/drawing/2014/main" id="{C3199CF9-3F26-4E9A-A48F-310753796FA3}"/>
              </a:ext>
            </a:extLst>
          </p:cNvPr>
          <p:cNvSpPr>
            <a:spLocks noGrp="1"/>
          </p:cNvSpPr>
          <p:nvPr/>
        </p:nvSpPr>
        <p:spPr>
          <a:xfrm>
            <a:off x="838200" y="8527993"/>
            <a:ext cx="2324100" cy="253016"/>
          </a:xfrm>
          <a:prstGeom prst="roundRect">
            <a:avLst>
              <a:gd name="adj" fmla="val 14286"/>
            </a:avLst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13" name="supplier-label">
            <a:extLst>
              <a:ext uri="{FF2B5EF4-FFF2-40B4-BE49-F238E27FC236}">
                <a16:creationId xmlns:a16="http://schemas.microsoft.com/office/drawing/2014/main" id="{A8A460D1-88B1-43DE-A577-10D4EFD2E62C}"/>
              </a:ext>
            </a:extLst>
          </p:cNvPr>
          <p:cNvSpPr>
            <a:spLocks noGrp="1"/>
          </p:cNvSpPr>
          <p:nvPr/>
        </p:nvSpPr>
        <p:spPr>
          <a:xfrm>
            <a:off x="971550" y="8495259"/>
            <a:ext cx="2076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02  SUPPLIERS &amp; CUSTOMERS</a:t>
            </a:r>
          </a:p>
        </p:txBody>
      </p:sp>
      <p:sp>
        <p:nvSpPr>
          <p:cNvPr id="14" name="fleet-dashboard-frame">
            <a:extLst>
              <a:ext uri="{FF2B5EF4-FFF2-40B4-BE49-F238E27FC236}">
                <a16:creationId xmlns:a16="http://schemas.microsoft.com/office/drawing/2014/main" id="{BACD1C70-3182-42F7-977D-848DA3802B53}"/>
              </a:ext>
            </a:extLst>
          </p:cNvPr>
          <p:cNvSpPr>
            <a:spLocks noGrp="1"/>
          </p:cNvSpPr>
          <p:nvPr/>
        </p:nvSpPr>
        <p:spPr>
          <a:xfrm>
            <a:off x="5295900" y="8743950"/>
            <a:ext cx="4305300" cy="241935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72100" y="8820150"/>
            <a:ext cx="4152900" cy="2333625"/>
          </a:xfrm>
          <a:prstGeom prst="rect">
            <a:avLst/>
          </a:prstGeom>
        </p:spPr>
      </p:pic>
      <p:sp>
        <p:nvSpPr>
          <p:cNvPr id="16" name="fleet-label-bg">
            <a:extLst>
              <a:ext uri="{FF2B5EF4-FFF2-40B4-BE49-F238E27FC236}">
                <a16:creationId xmlns:a16="http://schemas.microsoft.com/office/drawing/2014/main" id="{BD21E21A-87C9-4EF8-BFB8-1B96E36E753B}"/>
              </a:ext>
            </a:extLst>
          </p:cNvPr>
          <p:cNvSpPr>
            <a:spLocks noGrp="1"/>
          </p:cNvSpPr>
          <p:nvPr/>
        </p:nvSpPr>
        <p:spPr>
          <a:xfrm>
            <a:off x="5448300" y="8527994"/>
            <a:ext cx="2476500" cy="269646"/>
          </a:xfrm>
          <a:prstGeom prst="roundRect">
            <a:avLst>
              <a:gd name="adj" fmla="val 14286"/>
            </a:avLst>
          </a:prstGeom>
          <a:solidFill>
            <a:srgbClr val="5B3B98"/>
          </a:solidFill>
          <a:ln w="0">
            <a:noFill/>
            <a:prstDash val="solid"/>
          </a:ln>
        </p:spPr>
      </p:sp>
      <p:sp>
        <p:nvSpPr>
          <p:cNvPr id="17" name="fleet-label">
            <a:extLst>
              <a:ext uri="{FF2B5EF4-FFF2-40B4-BE49-F238E27FC236}">
                <a16:creationId xmlns:a16="http://schemas.microsoft.com/office/drawing/2014/main" id="{EA7CF6C5-C3CF-4151-81C4-B82A419159E8}"/>
              </a:ext>
            </a:extLst>
          </p:cNvPr>
          <p:cNvSpPr>
            <a:spLocks noGrp="1"/>
          </p:cNvSpPr>
          <p:nvPr/>
        </p:nvSpPr>
        <p:spPr>
          <a:xfrm>
            <a:off x="5581650" y="8511890"/>
            <a:ext cx="1600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03  FLEET &amp; GPS</a:t>
            </a:r>
          </a:p>
        </p:txBody>
      </p:sp>
      <p:sp>
        <p:nvSpPr>
          <p:cNvPr id="18" name="slide-05-summary-band">
            <a:extLst>
              <a:ext uri="{FF2B5EF4-FFF2-40B4-BE49-F238E27FC236}">
                <a16:creationId xmlns:a16="http://schemas.microsoft.com/office/drawing/2014/main" id="{A6961476-31FB-4C28-937F-4733D90C4551}"/>
              </a:ext>
            </a:extLst>
          </p:cNvPr>
          <p:cNvSpPr>
            <a:spLocks noGrp="1"/>
          </p:cNvSpPr>
          <p:nvPr/>
        </p:nvSpPr>
        <p:spPr>
          <a:xfrm>
            <a:off x="685800" y="11468100"/>
            <a:ext cx="8915400" cy="590550"/>
          </a:xfrm>
          <a:prstGeom prst="roundRect">
            <a:avLst>
              <a:gd name="adj" fmla="val 12903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19" name="slide-05-summary-label">
            <a:extLst>
              <a:ext uri="{FF2B5EF4-FFF2-40B4-BE49-F238E27FC236}">
                <a16:creationId xmlns:a16="http://schemas.microsoft.com/office/drawing/2014/main" id="{E2F5B96F-62A7-425E-9377-A49C1AE75FFC}"/>
              </a:ext>
            </a:extLst>
          </p:cNvPr>
          <p:cNvSpPr>
            <a:spLocks noGrp="1"/>
          </p:cNvSpPr>
          <p:nvPr/>
        </p:nvSpPr>
        <p:spPr>
          <a:xfrm>
            <a:off x="914400" y="11639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FROM SQL MODEL TO INTERACTIVE MONITORING</a:t>
            </a:r>
          </a:p>
        </p:txBody>
      </p:sp>
      <p:sp>
        <p:nvSpPr>
          <p:cNvPr id="20" name="slide-05-summary-stats">
            <a:extLst>
              <a:ext uri="{FF2B5EF4-FFF2-40B4-BE49-F238E27FC236}">
                <a16:creationId xmlns:a16="http://schemas.microsoft.com/office/drawing/2014/main" id="{B63AF221-2455-4D0F-9600-7D20F6DA838F}"/>
              </a:ext>
            </a:extLst>
          </p:cNvPr>
          <p:cNvSpPr>
            <a:spLocks noGrp="1"/>
          </p:cNvSpPr>
          <p:nvPr/>
        </p:nvSpPr>
        <p:spPr>
          <a:xfrm>
            <a:off x="5562600" y="116395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47B2A"/>
                </a:solidFill>
              </a:defRPr>
            </a:pPr>
            <a:r>
              <a:rPr sz="975" b="1">
                <a:solidFill>
                  <a:srgbClr val="F47B2A"/>
                </a:solidFill>
              </a:rPr>
              <a:t>6,773 SHIPMENTS  ·  32 FEATURES  ·  MAR 2019–SEP 2020</a:t>
            </a:r>
          </a:p>
        </p:txBody>
      </p:sp>
      <p:sp>
        <p:nvSpPr>
          <p:cNvPr id="21" name="slide-05-footer-left">
            <a:extLst>
              <a:ext uri="{FF2B5EF4-FFF2-40B4-BE49-F238E27FC236}">
                <a16:creationId xmlns:a16="http://schemas.microsoft.com/office/drawing/2014/main" id="{6E7C035D-81D1-4957-B960-39C0E7C2CA46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22" name="slide-05-footer-right">
            <a:extLst>
              <a:ext uri="{FF2B5EF4-FFF2-40B4-BE49-F238E27FC236}">
                <a16:creationId xmlns:a16="http://schemas.microsoft.com/office/drawing/2014/main" id="{C591E40B-45AB-4D25-984B-DCCB4DDB3BEE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63221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-06-top-accent">
            <a:extLst>
              <a:ext uri="{FF2B5EF4-FFF2-40B4-BE49-F238E27FC236}">
                <a16:creationId xmlns:a16="http://schemas.microsoft.com/office/drawing/2014/main" id="{0CCD8CC6-308E-4C72-BBE7-34D91052710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6-eyebrow">
            <a:extLst>
              <a:ext uri="{FF2B5EF4-FFF2-40B4-BE49-F238E27FC236}">
                <a16:creationId xmlns:a16="http://schemas.microsoft.com/office/drawing/2014/main" id="{4E4C31FB-8305-40FE-AA10-F6C2B5B8033F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KEY INSIGHTS</a:t>
            </a:r>
          </a:p>
        </p:txBody>
      </p:sp>
      <p:sp>
        <p:nvSpPr>
          <p:cNvPr id="3" name="slide-06-number">
            <a:extLst>
              <a:ext uri="{FF2B5EF4-FFF2-40B4-BE49-F238E27FC236}">
                <a16:creationId xmlns:a16="http://schemas.microsoft.com/office/drawing/2014/main" id="{DEFB1B4E-BD69-4A19-B0D1-4D8994A6D034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06 / 08</a:t>
            </a:r>
          </a:p>
        </p:txBody>
      </p:sp>
      <p:sp>
        <p:nvSpPr>
          <p:cNvPr id="4" name="slide-06-title">
            <a:extLst>
              <a:ext uri="{FF2B5EF4-FFF2-40B4-BE49-F238E27FC236}">
                <a16:creationId xmlns:a16="http://schemas.microsoft.com/office/drawing/2014/main" id="{64A17B34-F69C-4F05-9857-2042CCD08206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8915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82653"/>
                </a:solidFill>
              </a:defRPr>
            </a:pPr>
            <a:r>
              <a:rPr sz="3225" b="1">
                <a:solidFill>
                  <a:srgbClr val="082653"/>
                </a:solidFill>
              </a:rPr>
              <a:t>THE DELAY PROBLEM HAS</a:t>
            </a:r>
          </a:p>
          <a:p>
            <a:pPr>
              <a:defRPr sz="3225" b="1">
                <a:solidFill>
                  <a:srgbClr val="082653"/>
                </a:solidFill>
              </a:defRPr>
            </a:pPr>
            <a:r>
              <a:rPr sz="3225" b="1">
                <a:solidFill>
                  <a:srgbClr val="082653"/>
                </a:solidFill>
              </a:rPr>
              <a:t>CLEAR OPERATIONAL DRIVERS</a:t>
            </a:r>
          </a:p>
        </p:txBody>
      </p:sp>
      <p:sp>
        <p:nvSpPr>
          <p:cNvPr id="5" name="slide-06-subtitle">
            <a:extLst>
              <a:ext uri="{FF2B5EF4-FFF2-40B4-BE49-F238E27FC236}">
                <a16:creationId xmlns:a16="http://schemas.microsoft.com/office/drawing/2014/main" id="{FC16B057-DDC5-4A24-972E-ABD2E4C2ED2D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E2D42"/>
                </a:solidFill>
              </a:defRPr>
            </a:pPr>
            <a:r>
              <a:rPr sz="1575">
                <a:solidFill>
                  <a:srgbClr val="1E2D42"/>
                </a:solidFill>
              </a:rPr>
              <a:t>The risk is concentrated across time, distance, tracking quality, vehicle type, and partner performance.</a:t>
            </a:r>
          </a:p>
        </p:txBody>
      </p:sp>
      <p:sp>
        <p:nvSpPr>
          <p:cNvPr id="6" name="crisis-band">
            <a:extLst>
              <a:ext uri="{FF2B5EF4-FFF2-40B4-BE49-F238E27FC236}">
                <a16:creationId xmlns:a16="http://schemas.microsoft.com/office/drawing/2014/main" id="{2BDC5968-476C-4139-87FB-D0DD5EA8F9FC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8915400" cy="1352550"/>
          </a:xfrm>
          <a:prstGeom prst="roundRect">
            <a:avLst>
              <a:gd name="adj" fmla="val 5634"/>
            </a:avLst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7" name="crisis-label">
            <a:extLst>
              <a:ext uri="{FF2B5EF4-FFF2-40B4-BE49-F238E27FC236}">
                <a16:creationId xmlns:a16="http://schemas.microsoft.com/office/drawing/2014/main" id="{B1FA56D2-1C38-4F75-84D4-2E6903B54870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CRISIS MONTHS</a:t>
            </a:r>
          </a:p>
        </p:txBody>
      </p:sp>
      <p:sp>
        <p:nvSpPr>
          <p:cNvPr id="8" name="crisis-value">
            <a:extLst>
              <a:ext uri="{FF2B5EF4-FFF2-40B4-BE49-F238E27FC236}">
                <a16:creationId xmlns:a16="http://schemas.microsoft.com/office/drawing/2014/main" id="{35D6A82E-906C-40EF-B5E1-E7930CDA9A04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crisis-copy">
            <a:extLst>
              <a:ext uri="{FF2B5EF4-FFF2-40B4-BE49-F238E27FC236}">
                <a16:creationId xmlns:a16="http://schemas.microsoft.com/office/drawing/2014/main" id="{4CC5AC97-B589-48BB-9E45-6D851516670F}"/>
              </a:ext>
            </a:extLst>
          </p:cNvPr>
          <p:cNvSpPr>
            <a:spLocks noGrp="1"/>
          </p:cNvSpPr>
          <p:nvPr/>
        </p:nvSpPr>
        <p:spPr>
          <a:xfrm>
            <a:off x="3790950" y="3810000"/>
            <a:ext cx="3905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monthly delay rate reached 96–100%</a:t>
            </a:r>
          </a:p>
        </p:txBody>
      </p:sp>
      <p:sp>
        <p:nvSpPr>
          <p:cNvPr id="10" name="crisis-period">
            <a:extLst>
              <a:ext uri="{FF2B5EF4-FFF2-40B4-BE49-F238E27FC236}">
                <a16:creationId xmlns:a16="http://schemas.microsoft.com/office/drawing/2014/main" id="{D1D2B580-D977-4DF1-893A-E579E037BE04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1771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E7E8"/>
                </a:solidFill>
              </a:defRPr>
            </a:pPr>
            <a:r>
              <a:rPr sz="1125" b="1">
                <a:solidFill>
                  <a:srgbClr val="FFE7E8"/>
                </a:solidFill>
              </a:rPr>
              <a:t>JUL '19 – MAY '20 WINDOW</a:t>
            </a:r>
          </a:p>
        </p:txBody>
      </p:sp>
      <p:sp>
        <p:nvSpPr>
          <p:cNvPr id="11" name="distance-card">
            <a:extLst>
              <a:ext uri="{FF2B5EF4-FFF2-40B4-BE49-F238E27FC236}">
                <a16:creationId xmlns:a16="http://schemas.microsoft.com/office/drawing/2014/main" id="{13A7B5F1-F821-4C6B-B526-E63BD4BBBA44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43053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12" name="distance-title">
            <a:extLst>
              <a:ext uri="{FF2B5EF4-FFF2-40B4-BE49-F238E27FC236}">
                <a16:creationId xmlns:a16="http://schemas.microsoft.com/office/drawing/2014/main" id="{48343F0D-1C65-4EE8-9BDD-6DD448C1B15B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01  DISTANCE RISK</a:t>
            </a:r>
          </a:p>
        </p:txBody>
      </p:sp>
      <p:sp>
        <p:nvSpPr>
          <p:cNvPr id="13" name="distance-copy">
            <a:extLst>
              <a:ext uri="{FF2B5EF4-FFF2-40B4-BE49-F238E27FC236}">
                <a16:creationId xmlns:a16="http://schemas.microsoft.com/office/drawing/2014/main" id="{124CCFD9-2C59-4135-8729-83B01D375033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E2D42"/>
                </a:solidFill>
              </a:defRPr>
            </a:pPr>
            <a:r>
              <a:rPr sz="1200">
                <a:solidFill>
                  <a:srgbClr val="1E2D42"/>
                </a:solidFill>
              </a:rPr>
              <a:t>Very long and short routes show the highest delay rates.</a:t>
            </a:r>
          </a:p>
        </p:txBody>
      </p:sp>
      <p:sp>
        <p:nvSpPr>
          <p:cNvPr id="14" name="distance-label-0">
            <a:extLst>
              <a:ext uri="{FF2B5EF4-FFF2-40B4-BE49-F238E27FC236}">
                <a16:creationId xmlns:a16="http://schemas.microsoft.com/office/drawing/2014/main" id="{2530E16A-9F61-4B4F-AF42-20251CB3DF36}"/>
              </a:ext>
            </a:extLst>
          </p:cNvPr>
          <p:cNvSpPr>
            <a:spLocks noGrp="1"/>
          </p:cNvSpPr>
          <p:nvPr/>
        </p:nvSpPr>
        <p:spPr>
          <a:xfrm>
            <a:off x="914400" y="62103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VERY LONG</a:t>
            </a:r>
          </a:p>
        </p:txBody>
      </p:sp>
      <p:sp>
        <p:nvSpPr>
          <p:cNvPr id="15" name="distance-track-0">
            <a:extLst>
              <a:ext uri="{FF2B5EF4-FFF2-40B4-BE49-F238E27FC236}">
                <a16:creationId xmlns:a16="http://schemas.microsoft.com/office/drawing/2014/main" id="{238CB831-1E12-4A47-9EA4-7B8160FF60EB}"/>
              </a:ext>
            </a:extLst>
          </p:cNvPr>
          <p:cNvSpPr>
            <a:spLocks noGrp="1"/>
          </p:cNvSpPr>
          <p:nvPr/>
        </p:nvSpPr>
        <p:spPr>
          <a:xfrm>
            <a:off x="1809750" y="619125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16" name="distance-bar-0">
            <a:extLst>
              <a:ext uri="{FF2B5EF4-FFF2-40B4-BE49-F238E27FC236}">
                <a16:creationId xmlns:a16="http://schemas.microsoft.com/office/drawing/2014/main" id="{78FC0140-55A6-495C-B6EC-93A982321A69}"/>
              </a:ext>
            </a:extLst>
          </p:cNvPr>
          <p:cNvSpPr>
            <a:spLocks noGrp="1"/>
          </p:cNvSpPr>
          <p:nvPr/>
        </p:nvSpPr>
        <p:spPr>
          <a:xfrm>
            <a:off x="1809750" y="6191250"/>
            <a:ext cx="1899826" cy="190500"/>
          </a:xfrm>
          <a:prstGeom prst="roundRect">
            <a:avLst>
              <a:gd name="adj" fmla="val 20000"/>
            </a:avLst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17" name="distance-value-0">
            <a:extLst>
              <a:ext uri="{FF2B5EF4-FFF2-40B4-BE49-F238E27FC236}">
                <a16:creationId xmlns:a16="http://schemas.microsoft.com/office/drawing/2014/main" id="{A9E95398-A1AE-4A10-BC1B-AAD0F9D10CBF}"/>
              </a:ext>
            </a:extLst>
          </p:cNvPr>
          <p:cNvSpPr>
            <a:spLocks noGrp="1"/>
          </p:cNvSpPr>
          <p:nvPr/>
        </p:nvSpPr>
        <p:spPr>
          <a:xfrm>
            <a:off x="3486150" y="6200775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81.08%</a:t>
            </a:r>
          </a:p>
        </p:txBody>
      </p:sp>
      <p:sp>
        <p:nvSpPr>
          <p:cNvPr id="18" name="distance-label-1">
            <a:extLst>
              <a:ext uri="{FF2B5EF4-FFF2-40B4-BE49-F238E27FC236}">
                <a16:creationId xmlns:a16="http://schemas.microsoft.com/office/drawing/2014/main" id="{18EA2815-ACEA-45CE-8673-7DD17D3D31AB}"/>
              </a:ext>
            </a:extLst>
          </p:cNvPr>
          <p:cNvSpPr>
            <a:spLocks noGrp="1"/>
          </p:cNvSpPr>
          <p:nvPr/>
        </p:nvSpPr>
        <p:spPr>
          <a:xfrm>
            <a:off x="914400" y="65341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SHORT</a:t>
            </a:r>
          </a:p>
        </p:txBody>
      </p:sp>
      <p:sp>
        <p:nvSpPr>
          <p:cNvPr id="19" name="distance-track-1">
            <a:extLst>
              <a:ext uri="{FF2B5EF4-FFF2-40B4-BE49-F238E27FC236}">
                <a16:creationId xmlns:a16="http://schemas.microsoft.com/office/drawing/2014/main" id="{4F39D769-E14D-4EB9-B4D2-FA0C2A58CE3D}"/>
              </a:ext>
            </a:extLst>
          </p:cNvPr>
          <p:cNvSpPr>
            <a:spLocks noGrp="1"/>
          </p:cNvSpPr>
          <p:nvPr/>
        </p:nvSpPr>
        <p:spPr>
          <a:xfrm>
            <a:off x="1809750" y="651510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20" name="distance-bar-1">
            <a:extLst>
              <a:ext uri="{FF2B5EF4-FFF2-40B4-BE49-F238E27FC236}">
                <a16:creationId xmlns:a16="http://schemas.microsoft.com/office/drawing/2014/main" id="{05602BAB-FC2D-405D-81AC-6389187CE823}"/>
              </a:ext>
            </a:extLst>
          </p:cNvPr>
          <p:cNvSpPr>
            <a:spLocks noGrp="1"/>
          </p:cNvSpPr>
          <p:nvPr/>
        </p:nvSpPr>
        <p:spPr>
          <a:xfrm>
            <a:off x="1809750" y="6515100"/>
            <a:ext cx="1712374" cy="190500"/>
          </a:xfrm>
          <a:prstGeom prst="roundRect">
            <a:avLst>
              <a:gd name="adj" fmla="val 20000"/>
            </a:avLst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1" name="distance-value-1">
            <a:extLst>
              <a:ext uri="{FF2B5EF4-FFF2-40B4-BE49-F238E27FC236}">
                <a16:creationId xmlns:a16="http://schemas.microsoft.com/office/drawing/2014/main" id="{756EA508-EE32-4E93-B24D-B6F9C84C7506}"/>
              </a:ext>
            </a:extLst>
          </p:cNvPr>
          <p:cNvSpPr>
            <a:spLocks noGrp="1"/>
          </p:cNvSpPr>
          <p:nvPr/>
        </p:nvSpPr>
        <p:spPr>
          <a:xfrm>
            <a:off x="3486150" y="6524625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73.08%</a:t>
            </a:r>
          </a:p>
        </p:txBody>
      </p:sp>
      <p:sp>
        <p:nvSpPr>
          <p:cNvPr id="22" name="distance-label-2">
            <a:extLst>
              <a:ext uri="{FF2B5EF4-FFF2-40B4-BE49-F238E27FC236}">
                <a16:creationId xmlns:a16="http://schemas.microsoft.com/office/drawing/2014/main" id="{11EDF957-A18D-40BE-BA26-4B06A21ED59D}"/>
              </a:ext>
            </a:extLst>
          </p:cNvPr>
          <p:cNvSpPr>
            <a:spLocks noGrp="1"/>
          </p:cNvSpPr>
          <p:nvPr/>
        </p:nvSpPr>
        <p:spPr>
          <a:xfrm>
            <a:off x="914400" y="68580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LONG</a:t>
            </a:r>
          </a:p>
        </p:txBody>
      </p:sp>
      <p:sp>
        <p:nvSpPr>
          <p:cNvPr id="23" name="distance-track-2">
            <a:extLst>
              <a:ext uri="{FF2B5EF4-FFF2-40B4-BE49-F238E27FC236}">
                <a16:creationId xmlns:a16="http://schemas.microsoft.com/office/drawing/2014/main" id="{372BDBA5-E81A-476A-9873-A2DE5DBFF236}"/>
              </a:ext>
            </a:extLst>
          </p:cNvPr>
          <p:cNvSpPr>
            <a:spLocks noGrp="1"/>
          </p:cNvSpPr>
          <p:nvPr/>
        </p:nvSpPr>
        <p:spPr>
          <a:xfrm>
            <a:off x="1809750" y="683895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24" name="distance-bar-2">
            <a:extLst>
              <a:ext uri="{FF2B5EF4-FFF2-40B4-BE49-F238E27FC236}">
                <a16:creationId xmlns:a16="http://schemas.microsoft.com/office/drawing/2014/main" id="{2321369B-006B-4784-B8EF-FB7ABC93DF78}"/>
              </a:ext>
            </a:extLst>
          </p:cNvPr>
          <p:cNvSpPr>
            <a:spLocks noGrp="1"/>
          </p:cNvSpPr>
          <p:nvPr/>
        </p:nvSpPr>
        <p:spPr>
          <a:xfrm>
            <a:off x="1809750" y="6838950"/>
            <a:ext cx="1226873" cy="190500"/>
          </a:xfrm>
          <a:prstGeom prst="roundRect">
            <a:avLst>
              <a:gd name="adj" fmla="val 20000"/>
            </a:avLst>
          </a:prstGeom>
          <a:solidFill>
            <a:srgbClr val="F5A25D"/>
          </a:solidFill>
          <a:ln w="0">
            <a:noFill/>
            <a:prstDash val="solid"/>
          </a:ln>
        </p:spPr>
      </p:sp>
      <p:sp>
        <p:nvSpPr>
          <p:cNvPr id="25" name="distance-value-2">
            <a:extLst>
              <a:ext uri="{FF2B5EF4-FFF2-40B4-BE49-F238E27FC236}">
                <a16:creationId xmlns:a16="http://schemas.microsoft.com/office/drawing/2014/main" id="{1262AB01-5DDE-4DAB-9952-B863DA8C7E1C}"/>
              </a:ext>
            </a:extLst>
          </p:cNvPr>
          <p:cNvSpPr>
            <a:spLocks noGrp="1"/>
          </p:cNvSpPr>
          <p:nvPr/>
        </p:nvSpPr>
        <p:spPr>
          <a:xfrm>
            <a:off x="3486150" y="6848475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52.36%</a:t>
            </a:r>
          </a:p>
        </p:txBody>
      </p:sp>
      <p:sp>
        <p:nvSpPr>
          <p:cNvPr id="26" name="distance-label-3">
            <a:extLst>
              <a:ext uri="{FF2B5EF4-FFF2-40B4-BE49-F238E27FC236}">
                <a16:creationId xmlns:a16="http://schemas.microsoft.com/office/drawing/2014/main" id="{567D3C5B-1EA9-4AE8-A4FD-1A6ACA9E0CCF}"/>
              </a:ext>
            </a:extLst>
          </p:cNvPr>
          <p:cNvSpPr>
            <a:spLocks noGrp="1"/>
          </p:cNvSpPr>
          <p:nvPr/>
        </p:nvSpPr>
        <p:spPr>
          <a:xfrm>
            <a:off x="914400" y="7181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MEDIUM</a:t>
            </a:r>
          </a:p>
        </p:txBody>
      </p:sp>
      <p:sp>
        <p:nvSpPr>
          <p:cNvPr id="27" name="distance-track-3">
            <a:extLst>
              <a:ext uri="{FF2B5EF4-FFF2-40B4-BE49-F238E27FC236}">
                <a16:creationId xmlns:a16="http://schemas.microsoft.com/office/drawing/2014/main" id="{48418DC7-166C-4991-B0CD-0871D3274953}"/>
              </a:ext>
            </a:extLst>
          </p:cNvPr>
          <p:cNvSpPr>
            <a:spLocks noGrp="1"/>
          </p:cNvSpPr>
          <p:nvPr/>
        </p:nvSpPr>
        <p:spPr>
          <a:xfrm>
            <a:off x="1809750" y="716280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28" name="distance-bar-3">
            <a:extLst>
              <a:ext uri="{FF2B5EF4-FFF2-40B4-BE49-F238E27FC236}">
                <a16:creationId xmlns:a16="http://schemas.microsoft.com/office/drawing/2014/main" id="{286CF238-B02B-4E9E-B376-356A8397AEA8}"/>
              </a:ext>
            </a:extLst>
          </p:cNvPr>
          <p:cNvSpPr>
            <a:spLocks noGrp="1"/>
          </p:cNvSpPr>
          <p:nvPr/>
        </p:nvSpPr>
        <p:spPr>
          <a:xfrm>
            <a:off x="1809750" y="7162800"/>
            <a:ext cx="1010366" cy="190500"/>
          </a:xfrm>
          <a:prstGeom prst="roundRect">
            <a:avLst>
              <a:gd name="adj" fmla="val 20000"/>
            </a:avLst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29" name="distance-value-3">
            <a:extLst>
              <a:ext uri="{FF2B5EF4-FFF2-40B4-BE49-F238E27FC236}">
                <a16:creationId xmlns:a16="http://schemas.microsoft.com/office/drawing/2014/main" id="{9CD929FF-10B3-4A75-99C4-56EAE58840E8}"/>
              </a:ext>
            </a:extLst>
          </p:cNvPr>
          <p:cNvSpPr>
            <a:spLocks noGrp="1"/>
          </p:cNvSpPr>
          <p:nvPr/>
        </p:nvSpPr>
        <p:spPr>
          <a:xfrm>
            <a:off x="3486150" y="7172325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43.12%</a:t>
            </a:r>
          </a:p>
        </p:txBody>
      </p:sp>
      <p:sp>
        <p:nvSpPr>
          <p:cNvPr id="30" name="gps-card">
            <a:extLst>
              <a:ext uri="{FF2B5EF4-FFF2-40B4-BE49-F238E27FC236}">
                <a16:creationId xmlns:a16="http://schemas.microsoft.com/office/drawing/2014/main" id="{4C28319F-7BCD-47D7-8C18-6D84B8E5E9D2}"/>
              </a:ext>
            </a:extLst>
          </p:cNvPr>
          <p:cNvSpPr>
            <a:spLocks noGrp="1"/>
          </p:cNvSpPr>
          <p:nvPr/>
        </p:nvSpPr>
        <p:spPr>
          <a:xfrm>
            <a:off x="5295900" y="5143500"/>
            <a:ext cx="43053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31" name="gps-title">
            <a:extLst>
              <a:ext uri="{FF2B5EF4-FFF2-40B4-BE49-F238E27FC236}">
                <a16:creationId xmlns:a16="http://schemas.microsoft.com/office/drawing/2014/main" id="{FB89A988-DCF0-4FE8-ADA4-5A9321170E7F}"/>
              </a:ext>
            </a:extLst>
          </p:cNvPr>
          <p:cNvSpPr>
            <a:spLocks noGrp="1"/>
          </p:cNvSpPr>
          <p:nvPr/>
        </p:nvSpPr>
        <p:spPr>
          <a:xfrm>
            <a:off x="5524500" y="5353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02  GPS PROVIDER GAP</a:t>
            </a:r>
          </a:p>
        </p:txBody>
      </p:sp>
      <p:sp>
        <p:nvSpPr>
          <p:cNvPr id="32" name="gps-copy">
            <a:extLst>
              <a:ext uri="{FF2B5EF4-FFF2-40B4-BE49-F238E27FC236}">
                <a16:creationId xmlns:a16="http://schemas.microsoft.com/office/drawing/2014/main" id="{3086A238-22F8-4EF6-A057-7BF875782919}"/>
              </a:ext>
            </a:extLst>
          </p:cNvPr>
          <p:cNvSpPr>
            <a:spLocks noGrp="1"/>
          </p:cNvSpPr>
          <p:nvPr/>
        </p:nvSpPr>
        <p:spPr>
          <a:xfrm>
            <a:off x="5524500" y="56578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E2D42"/>
                </a:solidFill>
              </a:defRPr>
            </a:pPr>
            <a:r>
              <a:rPr sz="1200">
                <a:solidFill>
                  <a:srgbClr val="1E2D42"/>
                </a:solidFill>
              </a:rPr>
              <a:t>Tracking-provider performance varies dramatically.</a:t>
            </a:r>
          </a:p>
        </p:txBody>
      </p:sp>
      <p:sp>
        <p:nvSpPr>
          <p:cNvPr id="33" name="gps-label-0">
            <a:extLst>
              <a:ext uri="{FF2B5EF4-FFF2-40B4-BE49-F238E27FC236}">
                <a16:creationId xmlns:a16="http://schemas.microsoft.com/office/drawing/2014/main" id="{4426F2F9-3110-4143-8840-A0572E66DEA1}"/>
              </a:ext>
            </a:extLst>
          </p:cNvPr>
          <p:cNvSpPr>
            <a:spLocks noGrp="1"/>
          </p:cNvSpPr>
          <p:nvPr/>
        </p:nvSpPr>
        <p:spPr>
          <a:xfrm>
            <a:off x="5524500" y="62103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MANUAL</a:t>
            </a:r>
          </a:p>
        </p:txBody>
      </p:sp>
      <p:sp>
        <p:nvSpPr>
          <p:cNvPr id="34" name="gps-track-0">
            <a:extLst>
              <a:ext uri="{FF2B5EF4-FFF2-40B4-BE49-F238E27FC236}">
                <a16:creationId xmlns:a16="http://schemas.microsoft.com/office/drawing/2014/main" id="{3F85D9BA-A2BA-42C2-9834-52737A79439A}"/>
              </a:ext>
            </a:extLst>
          </p:cNvPr>
          <p:cNvSpPr>
            <a:spLocks noGrp="1"/>
          </p:cNvSpPr>
          <p:nvPr/>
        </p:nvSpPr>
        <p:spPr>
          <a:xfrm>
            <a:off x="6419850" y="619125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35" name="gps-bar-0">
            <a:extLst>
              <a:ext uri="{FF2B5EF4-FFF2-40B4-BE49-F238E27FC236}">
                <a16:creationId xmlns:a16="http://schemas.microsoft.com/office/drawing/2014/main" id="{B86F330E-99D4-4DD7-B75B-57759B93FE0C}"/>
              </a:ext>
            </a:extLst>
          </p:cNvPr>
          <p:cNvSpPr>
            <a:spLocks noGrp="1"/>
          </p:cNvSpPr>
          <p:nvPr/>
        </p:nvSpPr>
        <p:spPr>
          <a:xfrm>
            <a:off x="6419850" y="6191250"/>
            <a:ext cx="2319719" cy="190500"/>
          </a:xfrm>
          <a:prstGeom prst="roundRect">
            <a:avLst>
              <a:gd name="adj" fmla="val 20000"/>
            </a:avLst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36" name="gps-value-0">
            <a:extLst>
              <a:ext uri="{FF2B5EF4-FFF2-40B4-BE49-F238E27FC236}">
                <a16:creationId xmlns:a16="http://schemas.microsoft.com/office/drawing/2014/main" id="{F4F9B29C-EA72-4599-95FD-C06BAA786DAE}"/>
              </a:ext>
            </a:extLst>
          </p:cNvPr>
          <p:cNvSpPr>
            <a:spLocks noGrp="1"/>
          </p:cNvSpPr>
          <p:nvPr/>
        </p:nvSpPr>
        <p:spPr>
          <a:xfrm>
            <a:off x="8172450" y="62007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37" name="gps-label-1">
            <a:extLst>
              <a:ext uri="{FF2B5EF4-FFF2-40B4-BE49-F238E27FC236}">
                <a16:creationId xmlns:a16="http://schemas.microsoft.com/office/drawing/2014/main" id="{B1E671A4-6782-4319-894E-D6445A79E598}"/>
              </a:ext>
            </a:extLst>
          </p:cNvPr>
          <p:cNvSpPr>
            <a:spLocks noGrp="1"/>
          </p:cNvSpPr>
          <p:nvPr/>
        </p:nvSpPr>
        <p:spPr>
          <a:xfrm>
            <a:off x="5524500" y="65341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CONSENT</a:t>
            </a:r>
          </a:p>
        </p:txBody>
      </p:sp>
      <p:sp>
        <p:nvSpPr>
          <p:cNvPr id="38" name="gps-track-1">
            <a:extLst>
              <a:ext uri="{FF2B5EF4-FFF2-40B4-BE49-F238E27FC236}">
                <a16:creationId xmlns:a16="http://schemas.microsoft.com/office/drawing/2014/main" id="{02D0F391-96F3-4747-A034-E4294B3075C2}"/>
              </a:ext>
            </a:extLst>
          </p:cNvPr>
          <p:cNvSpPr>
            <a:spLocks noGrp="1"/>
          </p:cNvSpPr>
          <p:nvPr/>
        </p:nvSpPr>
        <p:spPr>
          <a:xfrm>
            <a:off x="6419850" y="651510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39" name="gps-bar-1">
            <a:extLst>
              <a:ext uri="{FF2B5EF4-FFF2-40B4-BE49-F238E27FC236}">
                <a16:creationId xmlns:a16="http://schemas.microsoft.com/office/drawing/2014/main" id="{C9864B64-292E-4053-9F34-844DD9BF473C}"/>
              </a:ext>
            </a:extLst>
          </p:cNvPr>
          <p:cNvSpPr>
            <a:spLocks noGrp="1"/>
          </p:cNvSpPr>
          <p:nvPr/>
        </p:nvSpPr>
        <p:spPr>
          <a:xfrm>
            <a:off x="6419850" y="6515100"/>
            <a:ext cx="2038541" cy="190500"/>
          </a:xfrm>
          <a:prstGeom prst="roundRect">
            <a:avLst>
              <a:gd name="adj" fmla="val 20000"/>
            </a:avLst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40" name="gps-value-1">
            <a:extLst>
              <a:ext uri="{FF2B5EF4-FFF2-40B4-BE49-F238E27FC236}">
                <a16:creationId xmlns:a16="http://schemas.microsoft.com/office/drawing/2014/main" id="{B8BEC355-EE41-420B-8C3F-8F0D7A703BEB}"/>
              </a:ext>
            </a:extLst>
          </p:cNvPr>
          <p:cNvSpPr>
            <a:spLocks noGrp="1"/>
          </p:cNvSpPr>
          <p:nvPr/>
        </p:nvSpPr>
        <p:spPr>
          <a:xfrm>
            <a:off x="8172450" y="65246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87%</a:t>
            </a:r>
          </a:p>
        </p:txBody>
      </p:sp>
      <p:sp>
        <p:nvSpPr>
          <p:cNvPr id="41" name="gps-label-2">
            <a:extLst>
              <a:ext uri="{FF2B5EF4-FFF2-40B4-BE49-F238E27FC236}">
                <a16:creationId xmlns:a16="http://schemas.microsoft.com/office/drawing/2014/main" id="{41ABCC0A-27E3-4CD5-9A48-36BCB4FE4901}"/>
              </a:ext>
            </a:extLst>
          </p:cNvPr>
          <p:cNvSpPr>
            <a:spLocks noGrp="1"/>
          </p:cNvSpPr>
          <p:nvPr/>
        </p:nvSpPr>
        <p:spPr>
          <a:xfrm>
            <a:off x="5524500" y="68580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EKTA</a:t>
            </a:r>
          </a:p>
        </p:txBody>
      </p:sp>
      <p:sp>
        <p:nvSpPr>
          <p:cNvPr id="42" name="gps-track-2">
            <a:extLst>
              <a:ext uri="{FF2B5EF4-FFF2-40B4-BE49-F238E27FC236}">
                <a16:creationId xmlns:a16="http://schemas.microsoft.com/office/drawing/2014/main" id="{A01A6C03-F2BA-43F3-94E9-FD0DE52C8000}"/>
              </a:ext>
            </a:extLst>
          </p:cNvPr>
          <p:cNvSpPr>
            <a:spLocks noGrp="1"/>
          </p:cNvSpPr>
          <p:nvPr/>
        </p:nvSpPr>
        <p:spPr>
          <a:xfrm>
            <a:off x="6419850" y="683895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43" name="gps-bar-2">
            <a:extLst>
              <a:ext uri="{FF2B5EF4-FFF2-40B4-BE49-F238E27FC236}">
                <a16:creationId xmlns:a16="http://schemas.microsoft.com/office/drawing/2014/main" id="{6095F3CD-33B8-4AB3-9A2C-39DC797677E0}"/>
              </a:ext>
            </a:extLst>
          </p:cNvPr>
          <p:cNvSpPr>
            <a:spLocks noGrp="1"/>
          </p:cNvSpPr>
          <p:nvPr/>
        </p:nvSpPr>
        <p:spPr>
          <a:xfrm>
            <a:off x="6419850" y="6838950"/>
            <a:ext cx="1663637" cy="190500"/>
          </a:xfrm>
          <a:prstGeom prst="roundRect">
            <a:avLst>
              <a:gd name="adj" fmla="val 20000"/>
            </a:avLst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44" name="gps-value-2">
            <a:extLst>
              <a:ext uri="{FF2B5EF4-FFF2-40B4-BE49-F238E27FC236}">
                <a16:creationId xmlns:a16="http://schemas.microsoft.com/office/drawing/2014/main" id="{2B049E4D-CC1E-4628-A295-7B9C8E5FB908}"/>
              </a:ext>
            </a:extLst>
          </p:cNvPr>
          <p:cNvSpPr>
            <a:spLocks noGrp="1"/>
          </p:cNvSpPr>
          <p:nvPr/>
        </p:nvSpPr>
        <p:spPr>
          <a:xfrm>
            <a:off x="8172450" y="68484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45" name="gps-label-3">
            <a:extLst>
              <a:ext uri="{FF2B5EF4-FFF2-40B4-BE49-F238E27FC236}">
                <a16:creationId xmlns:a16="http://schemas.microsoft.com/office/drawing/2014/main" id="{0766BFB8-4EC0-4E44-AD68-68E392C537B1}"/>
              </a:ext>
            </a:extLst>
          </p:cNvPr>
          <p:cNvSpPr>
            <a:spLocks noGrp="1"/>
          </p:cNvSpPr>
          <p:nvPr/>
        </p:nvSpPr>
        <p:spPr>
          <a:xfrm>
            <a:off x="5524500" y="7181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718096"/>
                </a:solidFill>
              </a:defRPr>
            </a:pPr>
            <a:r>
              <a:rPr sz="900" b="1">
                <a:solidFill>
                  <a:srgbClr val="718096"/>
                </a:solidFill>
              </a:rPr>
              <a:t>VAMOSYS</a:t>
            </a:r>
          </a:p>
        </p:txBody>
      </p:sp>
      <p:sp>
        <p:nvSpPr>
          <p:cNvPr id="46" name="gps-track-3">
            <a:extLst>
              <a:ext uri="{FF2B5EF4-FFF2-40B4-BE49-F238E27FC236}">
                <a16:creationId xmlns:a16="http://schemas.microsoft.com/office/drawing/2014/main" id="{B1A70582-158F-4052-827E-78C0CAEE118D}"/>
              </a:ext>
            </a:extLst>
          </p:cNvPr>
          <p:cNvSpPr>
            <a:spLocks noGrp="1"/>
          </p:cNvSpPr>
          <p:nvPr/>
        </p:nvSpPr>
        <p:spPr>
          <a:xfrm>
            <a:off x="6419850" y="7162800"/>
            <a:ext cx="2343150" cy="190500"/>
          </a:xfrm>
          <a:prstGeom prst="roundRect">
            <a:avLst>
              <a:gd name="adj" fmla="val 20000"/>
            </a:avLst>
          </a:prstGeom>
          <a:solidFill>
            <a:srgbClr val="E6EDF7"/>
          </a:solidFill>
          <a:ln w="0">
            <a:noFill/>
            <a:prstDash val="solid"/>
          </a:ln>
        </p:spPr>
      </p:sp>
      <p:sp>
        <p:nvSpPr>
          <p:cNvPr id="47" name="gps-bar-3">
            <a:extLst>
              <a:ext uri="{FF2B5EF4-FFF2-40B4-BE49-F238E27FC236}">
                <a16:creationId xmlns:a16="http://schemas.microsoft.com/office/drawing/2014/main" id="{DFF75682-A6BB-4BC1-89FE-48C7EDA39F20}"/>
              </a:ext>
            </a:extLst>
          </p:cNvPr>
          <p:cNvSpPr>
            <a:spLocks noGrp="1"/>
          </p:cNvSpPr>
          <p:nvPr/>
        </p:nvSpPr>
        <p:spPr>
          <a:xfrm>
            <a:off x="6419850" y="7162800"/>
            <a:ext cx="281178" cy="190500"/>
          </a:xfrm>
          <a:prstGeom prst="roundRect">
            <a:avLst>
              <a:gd name="adj" fmla="val 20000"/>
            </a:avLst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48" name="gps-value-3">
            <a:extLst>
              <a:ext uri="{FF2B5EF4-FFF2-40B4-BE49-F238E27FC236}">
                <a16:creationId xmlns:a16="http://schemas.microsoft.com/office/drawing/2014/main" id="{F9445F50-E121-476B-9F3A-FF07A2A60D66}"/>
              </a:ext>
            </a:extLst>
          </p:cNvPr>
          <p:cNvSpPr>
            <a:spLocks noGrp="1"/>
          </p:cNvSpPr>
          <p:nvPr/>
        </p:nvSpPr>
        <p:spPr>
          <a:xfrm>
            <a:off x="8172450" y="71723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49" name="vehicle-card">
            <a:extLst>
              <a:ext uri="{FF2B5EF4-FFF2-40B4-BE49-F238E27FC236}">
                <a16:creationId xmlns:a16="http://schemas.microsoft.com/office/drawing/2014/main" id="{FAC10399-E87C-4D0F-BE94-A4352F266AFB}"/>
              </a:ext>
            </a:extLst>
          </p:cNvPr>
          <p:cNvSpPr>
            <a:spLocks noGrp="1"/>
          </p:cNvSpPr>
          <p:nvPr/>
        </p:nvSpPr>
        <p:spPr>
          <a:xfrm>
            <a:off x="685800" y="7962900"/>
            <a:ext cx="43053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50" name="vehicle-title">
            <a:extLst>
              <a:ext uri="{FF2B5EF4-FFF2-40B4-BE49-F238E27FC236}">
                <a16:creationId xmlns:a16="http://schemas.microsoft.com/office/drawing/2014/main" id="{D235DC97-A619-4612-BAC5-100253455ACD}"/>
              </a:ext>
            </a:extLst>
          </p:cNvPr>
          <p:cNvSpPr>
            <a:spLocks noGrp="1"/>
          </p:cNvSpPr>
          <p:nvPr/>
        </p:nvSpPr>
        <p:spPr>
          <a:xfrm>
            <a:off x="914400" y="8172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03  VEHICLE PRESSURE</a:t>
            </a:r>
          </a:p>
        </p:txBody>
      </p:sp>
      <p:sp>
        <p:nvSpPr>
          <p:cNvPr id="51" name="vehicle-value-a">
            <a:extLst>
              <a:ext uri="{FF2B5EF4-FFF2-40B4-BE49-F238E27FC236}">
                <a16:creationId xmlns:a16="http://schemas.microsoft.com/office/drawing/2014/main" id="{4E32B26A-2121-4BB1-A6C3-276EB3FC9F82}"/>
              </a:ext>
            </a:extLst>
          </p:cNvPr>
          <p:cNvSpPr>
            <a:spLocks noGrp="1"/>
          </p:cNvSpPr>
          <p:nvPr/>
        </p:nvSpPr>
        <p:spPr>
          <a:xfrm>
            <a:off x="914400" y="86296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D20A16"/>
                </a:solidFill>
              </a:defRPr>
            </a:pPr>
            <a:r>
              <a:rPr sz="2850" b="1">
                <a:solidFill>
                  <a:srgbClr val="D20A16"/>
                </a:solidFill>
              </a:rPr>
              <a:t>81.53%</a:t>
            </a:r>
          </a:p>
        </p:txBody>
      </p:sp>
      <p:sp>
        <p:nvSpPr>
          <p:cNvPr id="52" name="vehicle-label-a">
            <a:extLst>
              <a:ext uri="{FF2B5EF4-FFF2-40B4-BE49-F238E27FC236}">
                <a16:creationId xmlns:a16="http://schemas.microsoft.com/office/drawing/2014/main" id="{16B5B515-CC75-4841-88DD-FC48AD014392}"/>
              </a:ext>
            </a:extLst>
          </p:cNvPr>
          <p:cNvSpPr>
            <a:spLocks noGrp="1"/>
          </p:cNvSpPr>
          <p:nvPr/>
        </p:nvSpPr>
        <p:spPr>
          <a:xfrm>
            <a:off x="914400" y="912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18096"/>
                </a:solidFill>
              </a:defRPr>
            </a:pPr>
            <a:r>
              <a:rPr sz="975" b="1">
                <a:solidFill>
                  <a:srgbClr val="718096"/>
                </a:solidFill>
              </a:rPr>
              <a:t>32 FT SINGLE-AXLE 7MT</a:t>
            </a:r>
          </a:p>
        </p:txBody>
      </p:sp>
      <p:sp>
        <p:nvSpPr>
          <p:cNvPr id="53" name="vehicle-value-b">
            <a:extLst>
              <a:ext uri="{FF2B5EF4-FFF2-40B4-BE49-F238E27FC236}">
                <a16:creationId xmlns:a16="http://schemas.microsoft.com/office/drawing/2014/main" id="{1A4984BE-70E1-438C-950E-A69B678D1268}"/>
              </a:ext>
            </a:extLst>
          </p:cNvPr>
          <p:cNvSpPr>
            <a:spLocks noGrp="1"/>
          </p:cNvSpPr>
          <p:nvPr/>
        </p:nvSpPr>
        <p:spPr>
          <a:xfrm>
            <a:off x="2800350" y="862965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F47B2A"/>
                </a:solidFill>
              </a:defRPr>
            </a:pPr>
            <a:r>
              <a:rPr sz="2850" b="1">
                <a:solidFill>
                  <a:srgbClr val="F47B2A"/>
                </a:solidFill>
              </a:rPr>
              <a:t>80.81%</a:t>
            </a:r>
          </a:p>
        </p:txBody>
      </p:sp>
      <p:sp>
        <p:nvSpPr>
          <p:cNvPr id="54" name="vehicle-label-b">
            <a:extLst>
              <a:ext uri="{FF2B5EF4-FFF2-40B4-BE49-F238E27FC236}">
                <a16:creationId xmlns:a16="http://schemas.microsoft.com/office/drawing/2014/main" id="{3DBED11D-91B4-47E8-9D85-125DC2EAD399}"/>
              </a:ext>
            </a:extLst>
          </p:cNvPr>
          <p:cNvSpPr>
            <a:spLocks noGrp="1"/>
          </p:cNvSpPr>
          <p:nvPr/>
        </p:nvSpPr>
        <p:spPr>
          <a:xfrm>
            <a:off x="2800350" y="912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18096"/>
                </a:solidFill>
              </a:defRPr>
            </a:pPr>
            <a:r>
              <a:rPr sz="975" b="1">
                <a:solidFill>
                  <a:srgbClr val="718096"/>
                </a:solidFill>
              </a:rPr>
              <a:t>40 FT 3XL TRAILER 35MT</a:t>
            </a:r>
          </a:p>
        </p:txBody>
      </p:sp>
      <p:sp>
        <p:nvSpPr>
          <p:cNvPr id="55" name="vehicle-volume-strip">
            <a:extLst>
              <a:ext uri="{FF2B5EF4-FFF2-40B4-BE49-F238E27FC236}">
                <a16:creationId xmlns:a16="http://schemas.microsoft.com/office/drawing/2014/main" id="{368608F1-8C0B-4A6D-A03A-F9698D68EBD1}"/>
              </a:ext>
            </a:extLst>
          </p:cNvPr>
          <p:cNvSpPr>
            <a:spLocks noGrp="1"/>
          </p:cNvSpPr>
          <p:nvPr/>
        </p:nvSpPr>
        <p:spPr>
          <a:xfrm>
            <a:off x="914400" y="9563100"/>
            <a:ext cx="3695700" cy="457200"/>
          </a:xfrm>
          <a:prstGeom prst="roundRect">
            <a:avLst>
              <a:gd name="adj" fmla="val 12500"/>
            </a:avLst>
          </a:prstGeom>
          <a:solidFill>
            <a:srgbClr val="EEF4FC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56" name="vehicle-volume">
            <a:extLst>
              <a:ext uri="{FF2B5EF4-FFF2-40B4-BE49-F238E27FC236}">
                <a16:creationId xmlns:a16="http://schemas.microsoft.com/office/drawing/2014/main" id="{F21B6410-A8CB-470E-9E89-68B0A9FD8B32}"/>
              </a:ext>
            </a:extLst>
          </p:cNvPr>
          <p:cNvSpPr>
            <a:spLocks noGrp="1"/>
          </p:cNvSpPr>
          <p:nvPr/>
        </p:nvSpPr>
        <p:spPr>
          <a:xfrm>
            <a:off x="1066800" y="9696450"/>
            <a:ext cx="3390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554A3"/>
                </a:solidFill>
              </a:defRPr>
            </a:pPr>
            <a:r>
              <a:rPr sz="975" b="1">
                <a:solidFill>
                  <a:srgbClr val="1554A3"/>
                </a:solidFill>
              </a:rPr>
              <a:t>2,559 trips on the highest-volume 40 FT 3XL trailer</a:t>
            </a:r>
          </a:p>
        </p:txBody>
      </p:sp>
      <p:sp>
        <p:nvSpPr>
          <p:cNvPr id="57" name="partner-card">
            <a:extLst>
              <a:ext uri="{FF2B5EF4-FFF2-40B4-BE49-F238E27FC236}">
                <a16:creationId xmlns:a16="http://schemas.microsoft.com/office/drawing/2014/main" id="{ADAC46F0-779B-4C9D-A8A2-D7AD23B9EEDB}"/>
              </a:ext>
            </a:extLst>
          </p:cNvPr>
          <p:cNvSpPr>
            <a:spLocks noGrp="1"/>
          </p:cNvSpPr>
          <p:nvPr/>
        </p:nvSpPr>
        <p:spPr>
          <a:xfrm>
            <a:off x="5295900" y="7962900"/>
            <a:ext cx="43053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58" name="partner-title">
            <a:extLst>
              <a:ext uri="{FF2B5EF4-FFF2-40B4-BE49-F238E27FC236}">
                <a16:creationId xmlns:a16="http://schemas.microsoft.com/office/drawing/2014/main" id="{F484979D-7D9B-4573-9084-80D2B92DDB30}"/>
              </a:ext>
            </a:extLst>
          </p:cNvPr>
          <p:cNvSpPr>
            <a:spLocks noGrp="1"/>
          </p:cNvSpPr>
          <p:nvPr/>
        </p:nvSpPr>
        <p:spPr>
          <a:xfrm>
            <a:off x="5524500" y="8172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2653"/>
                </a:solidFill>
              </a:defRPr>
            </a:pPr>
            <a:r>
              <a:rPr sz="1350" b="1">
                <a:solidFill>
                  <a:srgbClr val="082653"/>
                </a:solidFill>
              </a:rPr>
              <a:t>04  PARTNER HOTSPOTS</a:t>
            </a:r>
          </a:p>
        </p:txBody>
      </p:sp>
      <p:sp>
        <p:nvSpPr>
          <p:cNvPr id="59" name="supplier-risk-label">
            <a:extLst>
              <a:ext uri="{FF2B5EF4-FFF2-40B4-BE49-F238E27FC236}">
                <a16:creationId xmlns:a16="http://schemas.microsoft.com/office/drawing/2014/main" id="{88BB4939-089A-4927-BB44-37A6563AB0C9}"/>
              </a:ext>
            </a:extLst>
          </p:cNvPr>
          <p:cNvSpPr>
            <a:spLocks noGrp="1"/>
          </p:cNvSpPr>
          <p:nvPr/>
        </p:nvSpPr>
        <p:spPr>
          <a:xfrm>
            <a:off x="5524500" y="8667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18096"/>
                </a:solidFill>
              </a:defRPr>
            </a:pPr>
            <a:r>
              <a:rPr sz="975" b="1">
                <a:solidFill>
                  <a:srgbClr val="718096"/>
                </a:solidFill>
              </a:rPr>
              <a:t>SUPPLIER</a:t>
            </a:r>
          </a:p>
        </p:txBody>
      </p:sp>
      <p:sp>
        <p:nvSpPr>
          <p:cNvPr id="60" name="supplier-risk-value">
            <a:extLst>
              <a:ext uri="{FF2B5EF4-FFF2-40B4-BE49-F238E27FC236}">
                <a16:creationId xmlns:a16="http://schemas.microsoft.com/office/drawing/2014/main" id="{2AC06F66-9719-4F51-854A-53EB9D87778E}"/>
              </a:ext>
            </a:extLst>
          </p:cNvPr>
          <p:cNvSpPr>
            <a:spLocks noGrp="1"/>
          </p:cNvSpPr>
          <p:nvPr/>
        </p:nvSpPr>
        <p:spPr>
          <a:xfrm>
            <a:off x="5524500" y="88963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D20A16"/>
                </a:solidFill>
              </a:defRPr>
            </a:pPr>
            <a:r>
              <a:rPr sz="2700" b="1">
                <a:solidFill>
                  <a:srgbClr val="D20A16"/>
                </a:solidFill>
              </a:rPr>
              <a:t>95.38%</a:t>
            </a:r>
          </a:p>
        </p:txBody>
      </p:sp>
      <p:sp>
        <p:nvSpPr>
          <p:cNvPr id="61" name="supplier-risk-name">
            <a:extLst>
              <a:ext uri="{FF2B5EF4-FFF2-40B4-BE49-F238E27FC236}">
                <a16:creationId xmlns:a16="http://schemas.microsoft.com/office/drawing/2014/main" id="{C5FE07A2-BDA5-49B7-9302-0FE746D7A9B3}"/>
              </a:ext>
            </a:extLst>
          </p:cNvPr>
          <p:cNvSpPr>
            <a:spLocks noGrp="1"/>
          </p:cNvSpPr>
          <p:nvPr/>
        </p:nvSpPr>
        <p:spPr>
          <a:xfrm>
            <a:off x="5524500" y="9334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E2D42"/>
                </a:solidFill>
              </a:defRPr>
            </a:pPr>
            <a:r>
              <a:rPr sz="1050" b="1">
                <a:solidFill>
                  <a:srgbClr val="1E2D42"/>
                </a:solidFill>
              </a:rPr>
              <a:t>K. Ramachandran</a:t>
            </a:r>
          </a:p>
        </p:txBody>
      </p:sp>
      <p:sp>
        <p:nvSpPr>
          <p:cNvPr id="62" name="customer-risk-label">
            <a:extLst>
              <a:ext uri="{FF2B5EF4-FFF2-40B4-BE49-F238E27FC236}">
                <a16:creationId xmlns:a16="http://schemas.microsoft.com/office/drawing/2014/main" id="{8EA0783A-165B-44AA-9E20-05AD6C48D631}"/>
              </a:ext>
            </a:extLst>
          </p:cNvPr>
          <p:cNvSpPr>
            <a:spLocks noGrp="1"/>
          </p:cNvSpPr>
          <p:nvPr/>
        </p:nvSpPr>
        <p:spPr>
          <a:xfrm>
            <a:off x="7524750" y="8667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18096"/>
                </a:solidFill>
              </a:defRPr>
            </a:pPr>
            <a:r>
              <a:rPr sz="975" b="1">
                <a:solidFill>
                  <a:srgbClr val="718096"/>
                </a:solidFill>
              </a:rPr>
              <a:t>CUSTOMER</a:t>
            </a:r>
          </a:p>
        </p:txBody>
      </p:sp>
      <p:sp>
        <p:nvSpPr>
          <p:cNvPr id="63" name="customer-risk-value">
            <a:extLst>
              <a:ext uri="{FF2B5EF4-FFF2-40B4-BE49-F238E27FC236}">
                <a16:creationId xmlns:a16="http://schemas.microsoft.com/office/drawing/2014/main" id="{04A5FC98-A3B4-4D53-A22E-93F3E4C1F17D}"/>
              </a:ext>
            </a:extLst>
          </p:cNvPr>
          <p:cNvSpPr>
            <a:spLocks noGrp="1"/>
          </p:cNvSpPr>
          <p:nvPr/>
        </p:nvSpPr>
        <p:spPr>
          <a:xfrm>
            <a:off x="7524750" y="88963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47B2A"/>
                </a:solidFill>
              </a:defRPr>
            </a:pPr>
            <a:r>
              <a:rPr sz="2700" b="1">
                <a:solidFill>
                  <a:srgbClr val="F47B2A"/>
                </a:solidFill>
              </a:rPr>
              <a:t>73.35%</a:t>
            </a:r>
          </a:p>
        </p:txBody>
      </p:sp>
      <p:sp>
        <p:nvSpPr>
          <p:cNvPr id="64" name="customer-risk-name">
            <a:extLst>
              <a:ext uri="{FF2B5EF4-FFF2-40B4-BE49-F238E27FC236}">
                <a16:creationId xmlns:a16="http://schemas.microsoft.com/office/drawing/2014/main" id="{DFFF5375-50FD-410C-B972-ECB64601C0EF}"/>
              </a:ext>
            </a:extLst>
          </p:cNvPr>
          <p:cNvSpPr>
            <a:spLocks noGrp="1"/>
          </p:cNvSpPr>
          <p:nvPr/>
        </p:nvSpPr>
        <p:spPr>
          <a:xfrm>
            <a:off x="7524750" y="93345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E2D42"/>
                </a:solidFill>
              </a:defRPr>
            </a:pPr>
            <a:r>
              <a:rPr sz="1050" b="1">
                <a:solidFill>
                  <a:srgbClr val="1E2D42"/>
                </a:solidFill>
              </a:rPr>
              <a:t>Ford India</a:t>
            </a:r>
          </a:p>
        </p:txBody>
      </p:sp>
      <p:sp>
        <p:nvSpPr>
          <p:cNvPr id="65" name="partner-note">
            <a:extLst>
              <a:ext uri="{FF2B5EF4-FFF2-40B4-BE49-F238E27FC236}">
                <a16:creationId xmlns:a16="http://schemas.microsoft.com/office/drawing/2014/main" id="{38C75C6E-FB16-4DCD-AFCF-A77EFD7D2A05}"/>
              </a:ext>
            </a:extLst>
          </p:cNvPr>
          <p:cNvSpPr>
            <a:spLocks noGrp="1"/>
          </p:cNvSpPr>
          <p:nvPr/>
        </p:nvSpPr>
        <p:spPr>
          <a:xfrm>
            <a:off x="5524500" y="97345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E2D42"/>
                </a:solidFill>
              </a:defRPr>
            </a:pPr>
            <a:r>
              <a:rPr sz="1050">
                <a:solidFill>
                  <a:srgbClr val="1E2D42"/>
                </a:solidFill>
              </a:rPr>
              <a:t>Delay risk is concentrated, not evenly distributed across partners.</a:t>
            </a:r>
          </a:p>
        </p:txBody>
      </p:sp>
      <p:sp>
        <p:nvSpPr>
          <p:cNvPr id="66" name="slide-06-takeaway-band">
            <a:extLst>
              <a:ext uri="{FF2B5EF4-FFF2-40B4-BE49-F238E27FC236}">
                <a16:creationId xmlns:a16="http://schemas.microsoft.com/office/drawing/2014/main" id="{E39ED28B-3E04-4653-BB78-26F72998DAFB}"/>
              </a:ext>
            </a:extLst>
          </p:cNvPr>
          <p:cNvSpPr>
            <a:spLocks noGrp="1"/>
          </p:cNvSpPr>
          <p:nvPr/>
        </p:nvSpPr>
        <p:spPr>
          <a:xfrm>
            <a:off x="685800" y="10534650"/>
            <a:ext cx="8915400" cy="895350"/>
          </a:xfrm>
          <a:prstGeom prst="roundRect">
            <a:avLst>
              <a:gd name="adj" fmla="val 8511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67" name="takeaway-label">
            <a:extLst>
              <a:ext uri="{FF2B5EF4-FFF2-40B4-BE49-F238E27FC236}">
                <a16:creationId xmlns:a16="http://schemas.microsoft.com/office/drawing/2014/main" id="{64CF9176-8E44-4B7E-9BD5-E1AF6502B181}"/>
              </a:ext>
            </a:extLst>
          </p:cNvPr>
          <p:cNvSpPr>
            <a:spLocks noGrp="1"/>
          </p:cNvSpPr>
          <p:nvPr/>
        </p:nvSpPr>
        <p:spPr>
          <a:xfrm>
            <a:off x="914400" y="10687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47B2A"/>
                </a:solidFill>
              </a:defRPr>
            </a:pPr>
            <a:r>
              <a:rPr sz="1125" b="1">
                <a:solidFill>
                  <a:srgbClr val="F47B2A"/>
                </a:solidFill>
              </a:rPr>
              <a:t>TAKEAWAY</a:t>
            </a:r>
          </a:p>
        </p:txBody>
      </p:sp>
      <p:sp>
        <p:nvSpPr>
          <p:cNvPr id="68" name="takeaway-copy">
            <a:extLst>
              <a:ext uri="{FF2B5EF4-FFF2-40B4-BE49-F238E27FC236}">
                <a16:creationId xmlns:a16="http://schemas.microsoft.com/office/drawing/2014/main" id="{B5B1B397-51AA-4867-8EC3-6D9F229E0CE7}"/>
              </a:ext>
            </a:extLst>
          </p:cNvPr>
          <p:cNvSpPr>
            <a:spLocks noGrp="1"/>
          </p:cNvSpPr>
          <p:nvPr/>
        </p:nvSpPr>
        <p:spPr>
          <a:xfrm>
            <a:off x="914400" y="1095375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single blanket fix will not work—the response must target routes, tracking providers, vehicle types, and high-risk partners.</a:t>
            </a:r>
          </a:p>
        </p:txBody>
      </p:sp>
      <p:sp>
        <p:nvSpPr>
          <p:cNvPr id="69" name="slide-06-footer-left">
            <a:extLst>
              <a:ext uri="{FF2B5EF4-FFF2-40B4-BE49-F238E27FC236}">
                <a16:creationId xmlns:a16="http://schemas.microsoft.com/office/drawing/2014/main" id="{8E48972B-DE8B-4AE4-AE06-1B6E01C2BE3B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70" name="slide-06-footer-right">
            <a:extLst>
              <a:ext uri="{FF2B5EF4-FFF2-40B4-BE49-F238E27FC236}">
                <a16:creationId xmlns:a16="http://schemas.microsoft.com/office/drawing/2014/main" id="{4901E028-58A3-459A-B9E6-28C7E50EB3A4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6402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-07-top-accent">
            <a:extLst>
              <a:ext uri="{FF2B5EF4-FFF2-40B4-BE49-F238E27FC236}">
                <a16:creationId xmlns:a16="http://schemas.microsoft.com/office/drawing/2014/main" id="{ACFDB9AA-F936-48CE-B5B3-428BB517CAF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7-eyebrow">
            <a:extLst>
              <a:ext uri="{FF2B5EF4-FFF2-40B4-BE49-F238E27FC236}">
                <a16:creationId xmlns:a16="http://schemas.microsoft.com/office/drawing/2014/main" id="{1D3ECF18-0A79-4169-9D5D-A8EDA860E101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BUSINESS RECOMMENDATIONS</a:t>
            </a:r>
          </a:p>
        </p:txBody>
      </p:sp>
      <p:sp>
        <p:nvSpPr>
          <p:cNvPr id="3" name="slide-07-number">
            <a:extLst>
              <a:ext uri="{FF2B5EF4-FFF2-40B4-BE49-F238E27FC236}">
                <a16:creationId xmlns:a16="http://schemas.microsoft.com/office/drawing/2014/main" id="{3D3A5229-D46A-481A-A666-B741506F6014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07 / 08</a:t>
            </a:r>
          </a:p>
        </p:txBody>
      </p:sp>
      <p:sp>
        <p:nvSpPr>
          <p:cNvPr id="4" name="slide-07-title">
            <a:extLst>
              <a:ext uri="{FF2B5EF4-FFF2-40B4-BE49-F238E27FC236}">
                <a16:creationId xmlns:a16="http://schemas.microsoft.com/office/drawing/2014/main" id="{7B660031-5B55-44B7-AF68-A92E8933FDD2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8915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75" b="1">
                <a:solidFill>
                  <a:srgbClr val="082653"/>
                </a:solidFill>
              </a:defRPr>
            </a:pPr>
            <a:r>
              <a:rPr sz="3375" b="1">
                <a:solidFill>
                  <a:srgbClr val="082653"/>
                </a:solidFill>
              </a:rPr>
              <a:t>TURN INSIGHTS INTO</a:t>
            </a:r>
          </a:p>
          <a:p>
            <a:pPr>
              <a:defRPr sz="3375" b="1">
                <a:solidFill>
                  <a:srgbClr val="082653"/>
                </a:solidFill>
              </a:defRPr>
            </a:pPr>
            <a:r>
              <a:rPr sz="3375" b="1">
                <a:solidFill>
                  <a:srgbClr val="082653"/>
                </a:solidFill>
              </a:rPr>
              <a:t>AN OPERATING PLAN</a:t>
            </a:r>
          </a:p>
        </p:txBody>
      </p:sp>
      <p:sp>
        <p:nvSpPr>
          <p:cNvPr id="5" name="slide-07-subtitle">
            <a:extLst>
              <a:ext uri="{FF2B5EF4-FFF2-40B4-BE49-F238E27FC236}">
                <a16:creationId xmlns:a16="http://schemas.microsoft.com/office/drawing/2014/main" id="{EA3DC578-A7D6-46CF-8FDB-ACD0EA7CB876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E2D42"/>
                </a:solidFill>
              </a:defRPr>
            </a:pPr>
            <a:r>
              <a:rPr sz="1575">
                <a:solidFill>
                  <a:srgbClr val="1E2D42"/>
                </a:solidFill>
              </a:rPr>
              <a:t>Each action targets a bottleneck exposed by the EDA, SQL analysis, and Power BI dashboard.</a:t>
            </a:r>
          </a:p>
        </p:txBody>
      </p:sp>
      <p:sp>
        <p:nvSpPr>
          <p:cNvPr id="6" name="actions-label">
            <a:extLst>
              <a:ext uri="{FF2B5EF4-FFF2-40B4-BE49-F238E27FC236}">
                <a16:creationId xmlns:a16="http://schemas.microsoft.com/office/drawing/2014/main" id="{F5917416-66FD-49B3-8534-C21B212BF5B3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554A3"/>
                </a:solidFill>
              </a:defRPr>
            </a:pPr>
            <a:r>
              <a:rPr sz="1200" b="1">
                <a:solidFill>
                  <a:srgbClr val="1554A3"/>
                </a:solidFill>
              </a:rPr>
              <a:t>PRIORITY ACTIONS</a:t>
            </a:r>
          </a:p>
        </p:txBody>
      </p:sp>
      <p:sp>
        <p:nvSpPr>
          <p:cNvPr id="7" name="recommendation-0">
            <a:extLst>
              <a:ext uri="{FF2B5EF4-FFF2-40B4-BE49-F238E27FC236}">
                <a16:creationId xmlns:a16="http://schemas.microsoft.com/office/drawing/2014/main" id="{BEFC27B1-7ACC-4B29-ABC0-AAA4CAE963DD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6578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8" name="recommendation-0-accent">
            <a:extLst>
              <a:ext uri="{FF2B5EF4-FFF2-40B4-BE49-F238E27FC236}">
                <a16:creationId xmlns:a16="http://schemas.microsoft.com/office/drawing/2014/main" id="{CB4CE024-C488-4B0C-824E-01DEF9D4B04E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95250" cy="1504950"/>
          </a:xfrm>
          <a:prstGeom prst="rect">
            <a:avLst/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9" name="recommendation-0-number-bg">
            <a:extLst>
              <a:ext uri="{FF2B5EF4-FFF2-40B4-BE49-F238E27FC236}">
                <a16:creationId xmlns:a16="http://schemas.microsoft.com/office/drawing/2014/main" id="{2C05DC67-AB86-469F-9881-01F73FBDA34D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457200" cy="457200"/>
          </a:xfrm>
          <a:prstGeom prst="ellipse">
            <a:avLst/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10" name="recommendation-0-number">
            <a:extLst>
              <a:ext uri="{FF2B5EF4-FFF2-40B4-BE49-F238E27FC236}">
                <a16:creationId xmlns:a16="http://schemas.microsoft.com/office/drawing/2014/main" id="{CEBB56BC-6943-4470-ABC6-EEA61FF389F1}"/>
              </a:ext>
            </a:extLst>
          </p:cNvPr>
          <p:cNvSpPr>
            <a:spLocks noGrp="1"/>
          </p:cNvSpPr>
          <p:nvPr/>
        </p:nvSpPr>
        <p:spPr>
          <a:xfrm>
            <a:off x="933450" y="42195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ommendation-0-title">
            <a:extLst>
              <a:ext uri="{FF2B5EF4-FFF2-40B4-BE49-F238E27FC236}">
                <a16:creationId xmlns:a16="http://schemas.microsoft.com/office/drawing/2014/main" id="{E0E163F2-D7D4-4E99-AE9E-4F9247F4D93D}"/>
              </a:ext>
            </a:extLst>
          </p:cNvPr>
          <p:cNvSpPr>
            <a:spLocks noGrp="1"/>
          </p:cNvSpPr>
          <p:nvPr/>
        </p:nvSpPr>
        <p:spPr>
          <a:xfrm>
            <a:off x="1562100" y="40767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82653"/>
                </a:solidFill>
              </a:defRPr>
            </a:pPr>
            <a:r>
              <a:rPr sz="1425" b="1">
                <a:solidFill>
                  <a:srgbClr val="082653"/>
                </a:solidFill>
              </a:rPr>
              <a:t>CONTROL HIGH-RISK ROUTES</a:t>
            </a:r>
          </a:p>
        </p:txBody>
      </p:sp>
      <p:sp>
        <p:nvSpPr>
          <p:cNvPr id="12" name="recommendation-0-evidence">
            <a:extLst>
              <a:ext uri="{FF2B5EF4-FFF2-40B4-BE49-F238E27FC236}">
                <a16:creationId xmlns:a16="http://schemas.microsoft.com/office/drawing/2014/main" id="{DC8ECA23-D432-4FF0-9009-77AED7603BAC}"/>
              </a:ext>
            </a:extLst>
          </p:cNvPr>
          <p:cNvSpPr>
            <a:spLocks noGrp="1"/>
          </p:cNvSpPr>
          <p:nvPr/>
        </p:nvSpPr>
        <p:spPr>
          <a:xfrm>
            <a:off x="1562100" y="44005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20A16"/>
                </a:solidFill>
              </a:defRPr>
            </a:pPr>
            <a:r>
              <a:rPr sz="1050" b="1">
                <a:solidFill>
                  <a:srgbClr val="D20A16"/>
                </a:solidFill>
              </a:rPr>
              <a:t>81.08% very long  ·  73.08% short</a:t>
            </a:r>
          </a:p>
        </p:txBody>
      </p:sp>
      <p:sp>
        <p:nvSpPr>
          <p:cNvPr id="13" name="recommendation-0-action">
            <a:extLst>
              <a:ext uri="{FF2B5EF4-FFF2-40B4-BE49-F238E27FC236}">
                <a16:creationId xmlns:a16="http://schemas.microsoft.com/office/drawing/2014/main" id="{A2E6CF3F-9FC6-4740-BEC3-A51C363775DD}"/>
              </a:ext>
            </a:extLst>
          </p:cNvPr>
          <p:cNvSpPr>
            <a:spLocks noGrp="1"/>
          </p:cNvSpPr>
          <p:nvPr/>
        </p:nvSpPr>
        <p:spPr>
          <a:xfrm>
            <a:off x="1562100" y="47244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E2D42"/>
                </a:solidFill>
              </a:defRPr>
            </a:pPr>
            <a:r>
              <a:rPr sz="1125">
                <a:solidFill>
                  <a:srgbClr val="1E2D42"/>
                </a:solidFill>
              </a:rPr>
              <a:t>Create route-specific service rules, capacity plans, and exception alerts instead of one operating standard for every distance band.</a:t>
            </a:r>
          </a:p>
        </p:txBody>
      </p:sp>
      <p:sp>
        <p:nvSpPr>
          <p:cNvPr id="14" name="recommendation-1">
            <a:extLst>
              <a:ext uri="{FF2B5EF4-FFF2-40B4-BE49-F238E27FC236}">
                <a16:creationId xmlns:a16="http://schemas.microsoft.com/office/drawing/2014/main" id="{EEA32A35-31A8-4804-8DE7-D792A04B4A93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56578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15" name="recommendation-1-accent">
            <a:extLst>
              <a:ext uri="{FF2B5EF4-FFF2-40B4-BE49-F238E27FC236}">
                <a16:creationId xmlns:a16="http://schemas.microsoft.com/office/drawing/2014/main" id="{F4728C65-215D-439F-B46F-FAB0D1D8115D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95250" cy="150495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16" name="recommendation-1-number-bg">
            <a:extLst>
              <a:ext uri="{FF2B5EF4-FFF2-40B4-BE49-F238E27FC236}">
                <a16:creationId xmlns:a16="http://schemas.microsoft.com/office/drawing/2014/main" id="{CA744F52-046D-4169-8E2E-29D3E396E200}"/>
              </a:ext>
            </a:extLst>
          </p:cNvPr>
          <p:cNvSpPr>
            <a:spLocks noGrp="1"/>
          </p:cNvSpPr>
          <p:nvPr/>
        </p:nvSpPr>
        <p:spPr>
          <a:xfrm>
            <a:off x="933450" y="5819775"/>
            <a:ext cx="457200" cy="457200"/>
          </a:xfrm>
          <a:prstGeom prst="ellipse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17" name="recommendation-1-number">
            <a:extLst>
              <a:ext uri="{FF2B5EF4-FFF2-40B4-BE49-F238E27FC236}">
                <a16:creationId xmlns:a16="http://schemas.microsoft.com/office/drawing/2014/main" id="{4DFA848E-146D-42B6-B062-5ED98D9F3352}"/>
              </a:ext>
            </a:extLst>
          </p:cNvPr>
          <p:cNvSpPr>
            <a:spLocks noGrp="1"/>
          </p:cNvSpPr>
          <p:nvPr/>
        </p:nvSpPr>
        <p:spPr>
          <a:xfrm>
            <a:off x="933450" y="5943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recommendation-1-title">
            <a:extLst>
              <a:ext uri="{FF2B5EF4-FFF2-40B4-BE49-F238E27FC236}">
                <a16:creationId xmlns:a16="http://schemas.microsoft.com/office/drawing/2014/main" id="{1C846F1A-F582-4D8C-9662-36995BFA9069}"/>
              </a:ext>
            </a:extLst>
          </p:cNvPr>
          <p:cNvSpPr>
            <a:spLocks noGrp="1"/>
          </p:cNvSpPr>
          <p:nvPr/>
        </p:nvSpPr>
        <p:spPr>
          <a:xfrm>
            <a:off x="1562100" y="58007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82653"/>
                </a:solidFill>
              </a:defRPr>
            </a:pPr>
            <a:r>
              <a:rPr sz="1425" b="1">
                <a:solidFill>
                  <a:srgbClr val="082653"/>
                </a:solidFill>
              </a:rPr>
              <a:t>STANDARDIZE GPS DATA</a:t>
            </a:r>
          </a:p>
        </p:txBody>
      </p:sp>
      <p:sp>
        <p:nvSpPr>
          <p:cNvPr id="19" name="recommendation-1-evidence">
            <a:extLst>
              <a:ext uri="{FF2B5EF4-FFF2-40B4-BE49-F238E27FC236}">
                <a16:creationId xmlns:a16="http://schemas.microsoft.com/office/drawing/2014/main" id="{B8B58785-C667-48DE-8857-36DA1140CD2F}"/>
              </a:ext>
            </a:extLst>
          </p:cNvPr>
          <p:cNvSpPr>
            <a:spLocks noGrp="1"/>
          </p:cNvSpPr>
          <p:nvPr/>
        </p:nvSpPr>
        <p:spPr>
          <a:xfrm>
            <a:off x="1562100" y="612457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47B2A"/>
                </a:solidFill>
              </a:defRPr>
            </a:pPr>
            <a:r>
              <a:rPr sz="1050" b="1">
                <a:solidFill>
                  <a:srgbClr val="F47B2A"/>
                </a:solidFill>
              </a:rPr>
              <a:t>MANUAL 99%  ·  CONSENT TRACK 87%</a:t>
            </a:r>
          </a:p>
        </p:txBody>
      </p:sp>
      <p:sp>
        <p:nvSpPr>
          <p:cNvPr id="20" name="recommendation-1-action">
            <a:extLst>
              <a:ext uri="{FF2B5EF4-FFF2-40B4-BE49-F238E27FC236}">
                <a16:creationId xmlns:a16="http://schemas.microsoft.com/office/drawing/2014/main" id="{7B9DD752-0CED-40D0-B0E1-32B537C6AD32}"/>
              </a:ext>
            </a:extLst>
          </p:cNvPr>
          <p:cNvSpPr>
            <a:spLocks noGrp="1"/>
          </p:cNvSpPr>
          <p:nvPr/>
        </p:nvSpPr>
        <p:spPr>
          <a:xfrm>
            <a:off x="1562100" y="6448425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E2D42"/>
                </a:solidFill>
              </a:defRPr>
            </a:pPr>
            <a:r>
              <a:rPr sz="1125">
                <a:solidFill>
                  <a:srgbClr val="1E2D42"/>
                </a:solidFill>
              </a:rPr>
              <a:t>Reduce manual tracking, standardize provider names, and monitor GPS completeness and provider-level delay performance.</a:t>
            </a:r>
          </a:p>
        </p:txBody>
      </p:sp>
      <p:sp>
        <p:nvSpPr>
          <p:cNvPr id="21" name="recommendation-2">
            <a:extLst>
              <a:ext uri="{FF2B5EF4-FFF2-40B4-BE49-F238E27FC236}">
                <a16:creationId xmlns:a16="http://schemas.microsoft.com/office/drawing/2014/main" id="{2BFA7381-27F8-4EA1-8A8F-AADE8D66995A}"/>
              </a:ext>
            </a:extLst>
          </p:cNvPr>
          <p:cNvSpPr>
            <a:spLocks noGrp="1"/>
          </p:cNvSpPr>
          <p:nvPr/>
        </p:nvSpPr>
        <p:spPr>
          <a:xfrm>
            <a:off x="685800" y="7334250"/>
            <a:ext cx="56578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22" name="recommendation-2-accent">
            <a:extLst>
              <a:ext uri="{FF2B5EF4-FFF2-40B4-BE49-F238E27FC236}">
                <a16:creationId xmlns:a16="http://schemas.microsoft.com/office/drawing/2014/main" id="{DCB6B627-C57C-44E5-8ED1-A5B9B2E574B8}"/>
              </a:ext>
            </a:extLst>
          </p:cNvPr>
          <p:cNvSpPr>
            <a:spLocks noGrp="1"/>
          </p:cNvSpPr>
          <p:nvPr/>
        </p:nvSpPr>
        <p:spPr>
          <a:xfrm>
            <a:off x="685800" y="7334250"/>
            <a:ext cx="95250" cy="1504950"/>
          </a:xfrm>
          <a:prstGeom prst="rect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23" name="recommendation-2-number-bg">
            <a:extLst>
              <a:ext uri="{FF2B5EF4-FFF2-40B4-BE49-F238E27FC236}">
                <a16:creationId xmlns:a16="http://schemas.microsoft.com/office/drawing/2014/main" id="{E35811C7-F482-4E31-8470-766A48E9C60C}"/>
              </a:ext>
            </a:extLst>
          </p:cNvPr>
          <p:cNvSpPr>
            <a:spLocks noGrp="1"/>
          </p:cNvSpPr>
          <p:nvPr/>
        </p:nvSpPr>
        <p:spPr>
          <a:xfrm>
            <a:off x="933450" y="7543800"/>
            <a:ext cx="457200" cy="457200"/>
          </a:xfrm>
          <a:prstGeom prst="ellipse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24" name="recommendation-2-number">
            <a:extLst>
              <a:ext uri="{FF2B5EF4-FFF2-40B4-BE49-F238E27FC236}">
                <a16:creationId xmlns:a16="http://schemas.microsoft.com/office/drawing/2014/main" id="{753E83A9-BCF3-4A9D-835E-B895FE218EDD}"/>
              </a:ext>
            </a:extLst>
          </p:cNvPr>
          <p:cNvSpPr>
            <a:spLocks noGrp="1"/>
          </p:cNvSpPr>
          <p:nvPr/>
        </p:nvSpPr>
        <p:spPr>
          <a:xfrm>
            <a:off x="933450" y="766762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recommendation-2-title">
            <a:extLst>
              <a:ext uri="{FF2B5EF4-FFF2-40B4-BE49-F238E27FC236}">
                <a16:creationId xmlns:a16="http://schemas.microsoft.com/office/drawing/2014/main" id="{1338D1AD-CBEE-4308-8C1B-B31BBE3DE099}"/>
              </a:ext>
            </a:extLst>
          </p:cNvPr>
          <p:cNvSpPr>
            <a:spLocks noGrp="1"/>
          </p:cNvSpPr>
          <p:nvPr/>
        </p:nvSpPr>
        <p:spPr>
          <a:xfrm>
            <a:off x="1562100" y="75247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82653"/>
                </a:solidFill>
              </a:defRPr>
            </a:pPr>
            <a:r>
              <a:rPr sz="1425" b="1">
                <a:solidFill>
                  <a:srgbClr val="082653"/>
                </a:solidFill>
              </a:rPr>
              <a:t>INTERVENE BY VEHICLE TYPE</a:t>
            </a:r>
          </a:p>
        </p:txBody>
      </p:sp>
      <p:sp>
        <p:nvSpPr>
          <p:cNvPr id="26" name="recommendation-2-evidence">
            <a:extLst>
              <a:ext uri="{FF2B5EF4-FFF2-40B4-BE49-F238E27FC236}">
                <a16:creationId xmlns:a16="http://schemas.microsoft.com/office/drawing/2014/main" id="{058B7B15-40D1-4BAD-8C0B-2D506B3D6A8C}"/>
              </a:ext>
            </a:extLst>
          </p:cNvPr>
          <p:cNvSpPr>
            <a:spLocks noGrp="1"/>
          </p:cNvSpPr>
          <p:nvPr/>
        </p:nvSpPr>
        <p:spPr>
          <a:xfrm>
            <a:off x="1562100" y="78486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554A3"/>
                </a:solidFill>
              </a:defRPr>
            </a:pPr>
            <a:r>
              <a:rPr sz="1050" b="1">
                <a:solidFill>
                  <a:srgbClr val="1554A3"/>
                </a:solidFill>
              </a:rPr>
              <a:t>81.53% single-axle  ·  80.81% 3XL trailer</a:t>
            </a:r>
          </a:p>
        </p:txBody>
      </p:sp>
      <p:sp>
        <p:nvSpPr>
          <p:cNvPr id="27" name="recommendation-2-action">
            <a:extLst>
              <a:ext uri="{FF2B5EF4-FFF2-40B4-BE49-F238E27FC236}">
                <a16:creationId xmlns:a16="http://schemas.microsoft.com/office/drawing/2014/main" id="{05978701-2698-4610-A5CB-BF6435FD0ED9}"/>
              </a:ext>
            </a:extLst>
          </p:cNvPr>
          <p:cNvSpPr>
            <a:spLocks noGrp="1"/>
          </p:cNvSpPr>
          <p:nvPr/>
        </p:nvSpPr>
        <p:spPr>
          <a:xfrm>
            <a:off x="1562100" y="81724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E2D42"/>
                </a:solidFill>
              </a:defRPr>
            </a:pPr>
            <a:r>
              <a:rPr sz="1125">
                <a:solidFill>
                  <a:srgbClr val="1E2D42"/>
                </a:solidFill>
              </a:rPr>
              <a:t>Audit dispatch, maintenance, load planning, and route assignment for the vehicle types carrying the highest delay exposure.</a:t>
            </a:r>
          </a:p>
        </p:txBody>
      </p:sp>
      <p:sp>
        <p:nvSpPr>
          <p:cNvPr id="28" name="recommendation-3">
            <a:extLst>
              <a:ext uri="{FF2B5EF4-FFF2-40B4-BE49-F238E27FC236}">
                <a16:creationId xmlns:a16="http://schemas.microsoft.com/office/drawing/2014/main" id="{DFA828AE-6C66-4F1B-A05F-ABA2DFE753B3}"/>
              </a:ext>
            </a:extLst>
          </p:cNvPr>
          <p:cNvSpPr>
            <a:spLocks noGrp="1"/>
          </p:cNvSpPr>
          <p:nvPr/>
        </p:nvSpPr>
        <p:spPr>
          <a:xfrm>
            <a:off x="685800" y="9058275"/>
            <a:ext cx="56578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29" name="recommendation-3-accent">
            <a:extLst>
              <a:ext uri="{FF2B5EF4-FFF2-40B4-BE49-F238E27FC236}">
                <a16:creationId xmlns:a16="http://schemas.microsoft.com/office/drawing/2014/main" id="{D5DDF5BC-F725-4188-B02B-0EE76EE7299B}"/>
              </a:ext>
            </a:extLst>
          </p:cNvPr>
          <p:cNvSpPr>
            <a:spLocks noGrp="1"/>
          </p:cNvSpPr>
          <p:nvPr/>
        </p:nvSpPr>
        <p:spPr>
          <a:xfrm>
            <a:off x="685800" y="9058275"/>
            <a:ext cx="95250" cy="1504950"/>
          </a:xfrm>
          <a:prstGeom prst="rect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30" name="recommendation-3-number-bg">
            <a:extLst>
              <a:ext uri="{FF2B5EF4-FFF2-40B4-BE49-F238E27FC236}">
                <a16:creationId xmlns:a16="http://schemas.microsoft.com/office/drawing/2014/main" id="{4DE952A3-7D70-4AC6-861E-7B4294B09808}"/>
              </a:ext>
            </a:extLst>
          </p:cNvPr>
          <p:cNvSpPr>
            <a:spLocks noGrp="1"/>
          </p:cNvSpPr>
          <p:nvPr/>
        </p:nvSpPr>
        <p:spPr>
          <a:xfrm>
            <a:off x="933450" y="9267825"/>
            <a:ext cx="457200" cy="45720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31" name="recommendation-3-number">
            <a:extLst>
              <a:ext uri="{FF2B5EF4-FFF2-40B4-BE49-F238E27FC236}">
                <a16:creationId xmlns:a16="http://schemas.microsoft.com/office/drawing/2014/main" id="{A7718481-D64A-4FC5-B268-17AFF264A9D2}"/>
              </a:ext>
            </a:extLst>
          </p:cNvPr>
          <p:cNvSpPr>
            <a:spLocks noGrp="1"/>
          </p:cNvSpPr>
          <p:nvPr/>
        </p:nvSpPr>
        <p:spPr>
          <a:xfrm>
            <a:off x="933450" y="93916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" name="recommendation-3-title">
            <a:extLst>
              <a:ext uri="{FF2B5EF4-FFF2-40B4-BE49-F238E27FC236}">
                <a16:creationId xmlns:a16="http://schemas.microsoft.com/office/drawing/2014/main" id="{2CEB1401-6D0E-42C1-A4C2-ACF101025C6C}"/>
              </a:ext>
            </a:extLst>
          </p:cNvPr>
          <p:cNvSpPr>
            <a:spLocks noGrp="1"/>
          </p:cNvSpPr>
          <p:nvPr/>
        </p:nvSpPr>
        <p:spPr>
          <a:xfrm>
            <a:off x="1562100" y="92487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82653"/>
                </a:solidFill>
              </a:defRPr>
            </a:pPr>
            <a:r>
              <a:rPr sz="1425" b="1">
                <a:solidFill>
                  <a:srgbClr val="082653"/>
                </a:solidFill>
              </a:rPr>
              <a:t>ENFORCE PARTNER ACCOUNTABILITY</a:t>
            </a:r>
          </a:p>
        </p:txBody>
      </p:sp>
      <p:sp>
        <p:nvSpPr>
          <p:cNvPr id="33" name="recommendation-3-evidence">
            <a:extLst>
              <a:ext uri="{FF2B5EF4-FFF2-40B4-BE49-F238E27FC236}">
                <a16:creationId xmlns:a16="http://schemas.microsoft.com/office/drawing/2014/main" id="{3694B4B8-7617-4F5B-8141-DE4F979CFD22}"/>
              </a:ext>
            </a:extLst>
          </p:cNvPr>
          <p:cNvSpPr>
            <a:spLocks noGrp="1"/>
          </p:cNvSpPr>
          <p:nvPr/>
        </p:nvSpPr>
        <p:spPr>
          <a:xfrm>
            <a:off x="1562100" y="957262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F6B2A"/>
                </a:solidFill>
              </a:defRPr>
            </a:pPr>
            <a:r>
              <a:rPr sz="1050" b="1">
                <a:solidFill>
                  <a:srgbClr val="3F6B2A"/>
                </a:solidFill>
              </a:rPr>
              <a:t>95.38% supplier  ·  73.35% customer</a:t>
            </a:r>
          </a:p>
        </p:txBody>
      </p:sp>
      <p:sp>
        <p:nvSpPr>
          <p:cNvPr id="34" name="recommendation-3-action">
            <a:extLst>
              <a:ext uri="{FF2B5EF4-FFF2-40B4-BE49-F238E27FC236}">
                <a16:creationId xmlns:a16="http://schemas.microsoft.com/office/drawing/2014/main" id="{50F20A96-FB65-4CB5-A47D-C2D5162B9193}"/>
              </a:ext>
            </a:extLst>
          </p:cNvPr>
          <p:cNvSpPr>
            <a:spLocks noGrp="1"/>
          </p:cNvSpPr>
          <p:nvPr/>
        </p:nvSpPr>
        <p:spPr>
          <a:xfrm>
            <a:off x="1562100" y="9896475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E2D42"/>
                </a:solidFill>
              </a:defRPr>
            </a:pPr>
            <a:r>
              <a:rPr sz="1125">
                <a:solidFill>
                  <a:srgbClr val="1E2D42"/>
                </a:solidFill>
              </a:rPr>
              <a:t>Run root-cause reviews with high-risk partners, define service-level ownership, and resolve the 737 unknown-supplier records.</a:t>
            </a:r>
          </a:p>
        </p:txBody>
      </p:sp>
      <p:sp>
        <p:nvSpPr>
          <p:cNvPr id="35" name="control-loop-panel">
            <a:extLst>
              <a:ext uri="{FF2B5EF4-FFF2-40B4-BE49-F238E27FC236}">
                <a16:creationId xmlns:a16="http://schemas.microsoft.com/office/drawing/2014/main" id="{9CA8A6A4-09AC-4634-BCF1-9C3BCD0CC7B9}"/>
              </a:ext>
            </a:extLst>
          </p:cNvPr>
          <p:cNvSpPr>
            <a:spLocks noGrp="1"/>
          </p:cNvSpPr>
          <p:nvPr/>
        </p:nvSpPr>
        <p:spPr>
          <a:xfrm>
            <a:off x="6686550" y="3486150"/>
            <a:ext cx="2914650" cy="4876800"/>
          </a:xfrm>
          <a:prstGeom prst="roundRect">
            <a:avLst>
              <a:gd name="adj" fmla="val 2614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36" name="control-loop-label">
            <a:extLst>
              <a:ext uri="{FF2B5EF4-FFF2-40B4-BE49-F238E27FC236}">
                <a16:creationId xmlns:a16="http://schemas.microsoft.com/office/drawing/2014/main" id="{EE61DFB2-0491-495A-99A7-EB37FB472E9A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47B2A"/>
                </a:solidFill>
              </a:defRPr>
            </a:pPr>
            <a:r>
              <a:rPr sz="1125" b="1">
                <a:solidFill>
                  <a:srgbClr val="F47B2A"/>
                </a:solidFill>
              </a:rPr>
              <a:t>MANAGEMENT CONTROL LOOP</a:t>
            </a:r>
          </a:p>
        </p:txBody>
      </p:sp>
      <p:sp>
        <p:nvSpPr>
          <p:cNvPr id="37" name="loop-0-circle">
            <a:extLst>
              <a:ext uri="{FF2B5EF4-FFF2-40B4-BE49-F238E27FC236}">
                <a16:creationId xmlns:a16="http://schemas.microsoft.com/office/drawing/2014/main" id="{A0049512-81DA-4BAE-B6F4-D6CF4B782947}"/>
              </a:ext>
            </a:extLst>
          </p:cNvPr>
          <p:cNvSpPr>
            <a:spLocks noGrp="1"/>
          </p:cNvSpPr>
          <p:nvPr/>
        </p:nvSpPr>
        <p:spPr>
          <a:xfrm>
            <a:off x="6953250" y="4210050"/>
            <a:ext cx="552450" cy="552450"/>
          </a:xfrm>
          <a:prstGeom prst="ellipse">
            <a:avLst/>
          </a:prstGeom>
          <a:solidFill>
            <a:srgbClr val="1554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loop-0-number">
            <a:extLst>
              <a:ext uri="{FF2B5EF4-FFF2-40B4-BE49-F238E27FC236}">
                <a16:creationId xmlns:a16="http://schemas.microsoft.com/office/drawing/2014/main" id="{B7BCFC65-480C-4339-A273-823AD36BCEAF}"/>
              </a:ext>
            </a:extLst>
          </p:cNvPr>
          <p:cNvSpPr>
            <a:spLocks noGrp="1"/>
          </p:cNvSpPr>
          <p:nvPr/>
        </p:nvSpPr>
        <p:spPr>
          <a:xfrm>
            <a:off x="6953250" y="43719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loop-0-title">
            <a:extLst>
              <a:ext uri="{FF2B5EF4-FFF2-40B4-BE49-F238E27FC236}">
                <a16:creationId xmlns:a16="http://schemas.microsoft.com/office/drawing/2014/main" id="{E1BE2302-91BE-4B40-9551-35123ED94D45}"/>
              </a:ext>
            </a:extLst>
          </p:cNvPr>
          <p:cNvSpPr>
            <a:spLocks noGrp="1"/>
          </p:cNvSpPr>
          <p:nvPr/>
        </p:nvSpPr>
        <p:spPr>
          <a:xfrm>
            <a:off x="7696200" y="42291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40" name="loop-0-body">
            <a:extLst>
              <a:ext uri="{FF2B5EF4-FFF2-40B4-BE49-F238E27FC236}">
                <a16:creationId xmlns:a16="http://schemas.microsoft.com/office/drawing/2014/main" id="{0B08B5DC-1EA3-40C5-A15C-ACE31E049942}"/>
              </a:ext>
            </a:extLst>
          </p:cNvPr>
          <p:cNvSpPr>
            <a:spLocks noGrp="1"/>
          </p:cNvSpPr>
          <p:nvPr/>
        </p:nvSpPr>
        <p:spPr>
          <a:xfrm>
            <a:off x="7696200" y="45148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DDE8F8"/>
                </a:solidFill>
              </a:defRPr>
            </a:pPr>
            <a:r>
              <a:rPr sz="975">
                <a:solidFill>
                  <a:srgbClr val="DDE8F8"/>
                </a:solidFill>
              </a:rPr>
              <a:t>Power BI flags changes</a:t>
            </a:r>
          </a:p>
        </p:txBody>
      </p:sp>
      <p:sp>
        <p:nvSpPr>
          <p:cNvPr id="41" name="loop-0-line">
            <a:extLst>
              <a:ext uri="{FF2B5EF4-FFF2-40B4-BE49-F238E27FC236}">
                <a16:creationId xmlns:a16="http://schemas.microsoft.com/office/drawing/2014/main" id="{47701723-E138-49C6-89E6-77A232F09945}"/>
              </a:ext>
            </a:extLst>
          </p:cNvPr>
          <p:cNvSpPr>
            <a:spLocks noGrp="1"/>
          </p:cNvSpPr>
          <p:nvPr/>
        </p:nvSpPr>
        <p:spPr>
          <a:xfrm>
            <a:off x="7219950" y="4762500"/>
            <a:ext cx="28575" cy="400050"/>
          </a:xfrm>
          <a:prstGeom prst="rect">
            <a:avLst/>
          </a:prstGeom>
          <a:solidFill>
            <a:srgbClr val="6F8FB8"/>
          </a:solidFill>
          <a:ln w="0">
            <a:noFill/>
            <a:prstDash val="solid"/>
          </a:ln>
        </p:spPr>
      </p:sp>
      <p:sp>
        <p:nvSpPr>
          <p:cNvPr id="42" name="loop-1-circle">
            <a:extLst>
              <a:ext uri="{FF2B5EF4-FFF2-40B4-BE49-F238E27FC236}">
                <a16:creationId xmlns:a16="http://schemas.microsoft.com/office/drawing/2014/main" id="{03F418BE-17A5-45EA-88DB-39F75706EA81}"/>
              </a:ext>
            </a:extLst>
          </p:cNvPr>
          <p:cNvSpPr>
            <a:spLocks noGrp="1"/>
          </p:cNvSpPr>
          <p:nvPr/>
        </p:nvSpPr>
        <p:spPr>
          <a:xfrm>
            <a:off x="6953250" y="5162550"/>
            <a:ext cx="552450" cy="552450"/>
          </a:xfrm>
          <a:prstGeom prst="ellipse">
            <a:avLst/>
          </a:prstGeom>
          <a:solidFill>
            <a:srgbClr val="1554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loop-1-number">
            <a:extLst>
              <a:ext uri="{FF2B5EF4-FFF2-40B4-BE49-F238E27FC236}">
                <a16:creationId xmlns:a16="http://schemas.microsoft.com/office/drawing/2014/main" id="{BC4FDC2B-FA25-4254-866E-64D0C58A505D}"/>
              </a:ext>
            </a:extLst>
          </p:cNvPr>
          <p:cNvSpPr>
            <a:spLocks noGrp="1"/>
          </p:cNvSpPr>
          <p:nvPr/>
        </p:nvSpPr>
        <p:spPr>
          <a:xfrm>
            <a:off x="6953250" y="53244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4" name="loop-1-title">
            <a:extLst>
              <a:ext uri="{FF2B5EF4-FFF2-40B4-BE49-F238E27FC236}">
                <a16:creationId xmlns:a16="http://schemas.microsoft.com/office/drawing/2014/main" id="{1E543D2E-F153-4F73-89EF-C78D996D5976}"/>
              </a:ext>
            </a:extLst>
          </p:cNvPr>
          <p:cNvSpPr>
            <a:spLocks noGrp="1"/>
          </p:cNvSpPr>
          <p:nvPr/>
        </p:nvSpPr>
        <p:spPr>
          <a:xfrm>
            <a:off x="7696200" y="5181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INVESTIGATE</a:t>
            </a:r>
          </a:p>
        </p:txBody>
      </p:sp>
      <p:sp>
        <p:nvSpPr>
          <p:cNvPr id="45" name="loop-1-body">
            <a:extLst>
              <a:ext uri="{FF2B5EF4-FFF2-40B4-BE49-F238E27FC236}">
                <a16:creationId xmlns:a16="http://schemas.microsoft.com/office/drawing/2014/main" id="{31A14455-C33A-4FB9-B0E4-C652680A7205}"/>
              </a:ext>
            </a:extLst>
          </p:cNvPr>
          <p:cNvSpPr>
            <a:spLocks noGrp="1"/>
          </p:cNvSpPr>
          <p:nvPr/>
        </p:nvSpPr>
        <p:spPr>
          <a:xfrm>
            <a:off x="7696200" y="54673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DDE8F8"/>
                </a:solidFill>
              </a:defRPr>
            </a:pPr>
            <a:r>
              <a:rPr sz="975">
                <a:solidFill>
                  <a:srgbClr val="DDE8F8"/>
                </a:solidFill>
              </a:rPr>
              <a:t>SQL traces the driver</a:t>
            </a:r>
          </a:p>
        </p:txBody>
      </p:sp>
      <p:sp>
        <p:nvSpPr>
          <p:cNvPr id="46" name="loop-1-line">
            <a:extLst>
              <a:ext uri="{FF2B5EF4-FFF2-40B4-BE49-F238E27FC236}">
                <a16:creationId xmlns:a16="http://schemas.microsoft.com/office/drawing/2014/main" id="{6E59AC15-250E-4290-A0CC-557C6957CBAF}"/>
              </a:ext>
            </a:extLst>
          </p:cNvPr>
          <p:cNvSpPr>
            <a:spLocks noGrp="1"/>
          </p:cNvSpPr>
          <p:nvPr/>
        </p:nvSpPr>
        <p:spPr>
          <a:xfrm>
            <a:off x="7219950" y="5715000"/>
            <a:ext cx="28575" cy="400050"/>
          </a:xfrm>
          <a:prstGeom prst="rect">
            <a:avLst/>
          </a:prstGeom>
          <a:solidFill>
            <a:srgbClr val="6F8FB8"/>
          </a:solidFill>
          <a:ln w="0">
            <a:noFill/>
            <a:prstDash val="solid"/>
          </a:ln>
        </p:spPr>
      </p:sp>
      <p:sp>
        <p:nvSpPr>
          <p:cNvPr id="47" name="loop-2-circle">
            <a:extLst>
              <a:ext uri="{FF2B5EF4-FFF2-40B4-BE49-F238E27FC236}">
                <a16:creationId xmlns:a16="http://schemas.microsoft.com/office/drawing/2014/main" id="{7A1F9F82-8F0A-4BDF-BD4E-7A343E52F3D3}"/>
              </a:ext>
            </a:extLst>
          </p:cNvPr>
          <p:cNvSpPr>
            <a:spLocks noGrp="1"/>
          </p:cNvSpPr>
          <p:nvPr/>
        </p:nvSpPr>
        <p:spPr>
          <a:xfrm>
            <a:off x="6953250" y="6115050"/>
            <a:ext cx="552450" cy="552450"/>
          </a:xfrm>
          <a:prstGeom prst="ellipse">
            <a:avLst/>
          </a:prstGeom>
          <a:solidFill>
            <a:srgbClr val="F47B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loop-2-number">
            <a:extLst>
              <a:ext uri="{FF2B5EF4-FFF2-40B4-BE49-F238E27FC236}">
                <a16:creationId xmlns:a16="http://schemas.microsoft.com/office/drawing/2014/main" id="{06BEE547-8482-4103-B650-CB6EAA40823A}"/>
              </a:ext>
            </a:extLst>
          </p:cNvPr>
          <p:cNvSpPr>
            <a:spLocks noGrp="1"/>
          </p:cNvSpPr>
          <p:nvPr/>
        </p:nvSpPr>
        <p:spPr>
          <a:xfrm>
            <a:off x="6953250" y="62769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9" name="loop-2-title">
            <a:extLst>
              <a:ext uri="{FF2B5EF4-FFF2-40B4-BE49-F238E27FC236}">
                <a16:creationId xmlns:a16="http://schemas.microsoft.com/office/drawing/2014/main" id="{1F2D50FA-202A-4C74-B53C-827B65269E1E}"/>
              </a:ext>
            </a:extLst>
          </p:cNvPr>
          <p:cNvSpPr>
            <a:spLocks noGrp="1"/>
          </p:cNvSpPr>
          <p:nvPr/>
        </p:nvSpPr>
        <p:spPr>
          <a:xfrm>
            <a:off x="7696200" y="61341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50" name="loop-2-body">
            <a:extLst>
              <a:ext uri="{FF2B5EF4-FFF2-40B4-BE49-F238E27FC236}">
                <a16:creationId xmlns:a16="http://schemas.microsoft.com/office/drawing/2014/main" id="{1D7E7734-18F9-48E4-9737-BF592D6CCFC7}"/>
              </a:ext>
            </a:extLst>
          </p:cNvPr>
          <p:cNvSpPr>
            <a:spLocks noGrp="1"/>
          </p:cNvSpPr>
          <p:nvPr/>
        </p:nvSpPr>
        <p:spPr>
          <a:xfrm>
            <a:off x="7696200" y="64198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DDE8F8"/>
                </a:solidFill>
              </a:defRPr>
            </a:pPr>
            <a:r>
              <a:rPr sz="975">
                <a:solidFill>
                  <a:srgbClr val="DDE8F8"/>
                </a:solidFill>
              </a:rPr>
              <a:t>Operations owns response</a:t>
            </a:r>
          </a:p>
        </p:txBody>
      </p:sp>
      <p:sp>
        <p:nvSpPr>
          <p:cNvPr id="51" name="loop-2-line">
            <a:extLst>
              <a:ext uri="{FF2B5EF4-FFF2-40B4-BE49-F238E27FC236}">
                <a16:creationId xmlns:a16="http://schemas.microsoft.com/office/drawing/2014/main" id="{EB8C9338-024E-4A99-A179-BF602F375705}"/>
              </a:ext>
            </a:extLst>
          </p:cNvPr>
          <p:cNvSpPr>
            <a:spLocks noGrp="1"/>
          </p:cNvSpPr>
          <p:nvPr/>
        </p:nvSpPr>
        <p:spPr>
          <a:xfrm>
            <a:off x="7219950" y="6667500"/>
            <a:ext cx="28575" cy="400050"/>
          </a:xfrm>
          <a:prstGeom prst="rect">
            <a:avLst/>
          </a:prstGeom>
          <a:solidFill>
            <a:srgbClr val="6F8FB8"/>
          </a:solidFill>
          <a:ln w="0">
            <a:noFill/>
            <a:prstDash val="solid"/>
          </a:ln>
        </p:spPr>
      </p:sp>
      <p:sp>
        <p:nvSpPr>
          <p:cNvPr id="52" name="loop-3-circle">
            <a:extLst>
              <a:ext uri="{FF2B5EF4-FFF2-40B4-BE49-F238E27FC236}">
                <a16:creationId xmlns:a16="http://schemas.microsoft.com/office/drawing/2014/main" id="{0C0BD10F-51A1-4347-83E4-054A4CB5F9D6}"/>
              </a:ext>
            </a:extLst>
          </p:cNvPr>
          <p:cNvSpPr>
            <a:spLocks noGrp="1"/>
          </p:cNvSpPr>
          <p:nvPr/>
        </p:nvSpPr>
        <p:spPr>
          <a:xfrm>
            <a:off x="6953250" y="7067550"/>
            <a:ext cx="552450" cy="552450"/>
          </a:xfrm>
          <a:prstGeom prst="ellipse">
            <a:avLst/>
          </a:prstGeom>
          <a:solidFill>
            <a:srgbClr val="1554A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loop-3-number">
            <a:extLst>
              <a:ext uri="{FF2B5EF4-FFF2-40B4-BE49-F238E27FC236}">
                <a16:creationId xmlns:a16="http://schemas.microsoft.com/office/drawing/2014/main" id="{E572A0E2-A8AE-486F-B942-19C39F012DFA}"/>
              </a:ext>
            </a:extLst>
          </p:cNvPr>
          <p:cNvSpPr>
            <a:spLocks noGrp="1"/>
          </p:cNvSpPr>
          <p:nvPr/>
        </p:nvSpPr>
        <p:spPr>
          <a:xfrm>
            <a:off x="6953250" y="72294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4" name="loop-3-title">
            <a:extLst>
              <a:ext uri="{FF2B5EF4-FFF2-40B4-BE49-F238E27FC236}">
                <a16:creationId xmlns:a16="http://schemas.microsoft.com/office/drawing/2014/main" id="{1288A0BE-FE1F-4D95-9730-9D53259E840C}"/>
              </a:ext>
            </a:extLst>
          </p:cNvPr>
          <p:cNvSpPr>
            <a:spLocks noGrp="1"/>
          </p:cNvSpPr>
          <p:nvPr/>
        </p:nvSpPr>
        <p:spPr>
          <a:xfrm>
            <a:off x="7696200" y="7086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55" name="loop-3-body">
            <a:extLst>
              <a:ext uri="{FF2B5EF4-FFF2-40B4-BE49-F238E27FC236}">
                <a16:creationId xmlns:a16="http://schemas.microsoft.com/office/drawing/2014/main" id="{28A2B2B9-E434-4282-8FAF-97BD0994DB12}"/>
              </a:ext>
            </a:extLst>
          </p:cNvPr>
          <p:cNvSpPr>
            <a:spLocks noGrp="1"/>
          </p:cNvSpPr>
          <p:nvPr/>
        </p:nvSpPr>
        <p:spPr>
          <a:xfrm>
            <a:off x="7696200" y="73723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DDE8F8"/>
                </a:solidFill>
              </a:defRPr>
            </a:pPr>
            <a:r>
              <a:rPr sz="975">
                <a:solidFill>
                  <a:srgbClr val="DDE8F8"/>
                </a:solidFill>
              </a:rPr>
              <a:t>KPIs confirm movement</a:t>
            </a:r>
          </a:p>
        </p:txBody>
      </p:sp>
      <p:sp>
        <p:nvSpPr>
          <p:cNvPr id="56" name="success-panel">
            <a:extLst>
              <a:ext uri="{FF2B5EF4-FFF2-40B4-BE49-F238E27FC236}">
                <a16:creationId xmlns:a16="http://schemas.microsoft.com/office/drawing/2014/main" id="{139AC019-0FA4-4D46-BC12-98A9FC6918A0}"/>
              </a:ext>
            </a:extLst>
          </p:cNvPr>
          <p:cNvSpPr>
            <a:spLocks noGrp="1"/>
          </p:cNvSpPr>
          <p:nvPr/>
        </p:nvSpPr>
        <p:spPr>
          <a:xfrm>
            <a:off x="6686550" y="8610600"/>
            <a:ext cx="291465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57" name="success-title">
            <a:extLst>
              <a:ext uri="{FF2B5EF4-FFF2-40B4-BE49-F238E27FC236}">
                <a16:creationId xmlns:a16="http://schemas.microsoft.com/office/drawing/2014/main" id="{F8F78EBC-5091-4453-88A6-DF11A7AF4A25}"/>
              </a:ext>
            </a:extLst>
          </p:cNvPr>
          <p:cNvSpPr>
            <a:spLocks noGrp="1"/>
          </p:cNvSpPr>
          <p:nvPr/>
        </p:nvSpPr>
        <p:spPr>
          <a:xfrm>
            <a:off x="6934200" y="8839200"/>
            <a:ext cx="2419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WHAT SUCCESS LOOKS LIKE</a:t>
            </a:r>
          </a:p>
        </p:txBody>
      </p:sp>
      <p:sp>
        <p:nvSpPr>
          <p:cNvPr id="58" name="success-0-check">
            <a:extLst>
              <a:ext uri="{FF2B5EF4-FFF2-40B4-BE49-F238E27FC236}">
                <a16:creationId xmlns:a16="http://schemas.microsoft.com/office/drawing/2014/main" id="{448EEDC8-A4BD-4D89-8A88-8F507CE62419}"/>
              </a:ext>
            </a:extLst>
          </p:cNvPr>
          <p:cNvSpPr>
            <a:spLocks noGrp="1"/>
          </p:cNvSpPr>
          <p:nvPr/>
        </p:nvSpPr>
        <p:spPr>
          <a:xfrm>
            <a:off x="6953250" y="9286875"/>
            <a:ext cx="190500" cy="19050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59" name="success-0-mark">
            <a:extLst>
              <a:ext uri="{FF2B5EF4-FFF2-40B4-BE49-F238E27FC236}">
                <a16:creationId xmlns:a16="http://schemas.microsoft.com/office/drawing/2014/main" id="{8FBF5780-F239-4C71-BFFA-ED09E5F176C2}"/>
              </a:ext>
            </a:extLst>
          </p:cNvPr>
          <p:cNvSpPr>
            <a:spLocks noGrp="1"/>
          </p:cNvSpPr>
          <p:nvPr/>
        </p:nvSpPr>
        <p:spPr>
          <a:xfrm>
            <a:off x="6953250" y="929640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success-0-text">
            <a:extLst>
              <a:ext uri="{FF2B5EF4-FFF2-40B4-BE49-F238E27FC236}">
                <a16:creationId xmlns:a16="http://schemas.microsoft.com/office/drawing/2014/main" id="{F92A0D2C-2DB3-4EA7-B795-DFF6F05CBB27}"/>
              </a:ext>
            </a:extLst>
          </p:cNvPr>
          <p:cNvSpPr>
            <a:spLocks noGrp="1"/>
          </p:cNvSpPr>
          <p:nvPr/>
        </p:nvSpPr>
        <p:spPr>
          <a:xfrm>
            <a:off x="7277100" y="92773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E2D42"/>
                </a:solidFill>
              </a:defRPr>
            </a:pPr>
            <a:r>
              <a:rPr sz="1050">
                <a:solidFill>
                  <a:srgbClr val="1E2D42"/>
                </a:solidFill>
              </a:rPr>
              <a:t>Lower delay rate</a:t>
            </a:r>
          </a:p>
        </p:txBody>
      </p:sp>
      <p:sp>
        <p:nvSpPr>
          <p:cNvPr id="61" name="success-1-check">
            <a:extLst>
              <a:ext uri="{FF2B5EF4-FFF2-40B4-BE49-F238E27FC236}">
                <a16:creationId xmlns:a16="http://schemas.microsoft.com/office/drawing/2014/main" id="{39C0A5CC-EA9C-483F-B09C-98063665DE32}"/>
              </a:ext>
            </a:extLst>
          </p:cNvPr>
          <p:cNvSpPr>
            <a:spLocks noGrp="1"/>
          </p:cNvSpPr>
          <p:nvPr/>
        </p:nvSpPr>
        <p:spPr>
          <a:xfrm>
            <a:off x="6953250" y="9648825"/>
            <a:ext cx="190500" cy="19050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62" name="success-1-mark">
            <a:extLst>
              <a:ext uri="{FF2B5EF4-FFF2-40B4-BE49-F238E27FC236}">
                <a16:creationId xmlns:a16="http://schemas.microsoft.com/office/drawing/2014/main" id="{981649AA-1C23-4EE7-AE6E-AAE4BA5A227C}"/>
              </a:ext>
            </a:extLst>
          </p:cNvPr>
          <p:cNvSpPr>
            <a:spLocks noGrp="1"/>
          </p:cNvSpPr>
          <p:nvPr/>
        </p:nvSpPr>
        <p:spPr>
          <a:xfrm>
            <a:off x="6953250" y="965835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3" name="success-1-text">
            <a:extLst>
              <a:ext uri="{FF2B5EF4-FFF2-40B4-BE49-F238E27FC236}">
                <a16:creationId xmlns:a16="http://schemas.microsoft.com/office/drawing/2014/main" id="{4777FE9E-2C4A-4B2C-B01E-B7586E8C0634}"/>
              </a:ext>
            </a:extLst>
          </p:cNvPr>
          <p:cNvSpPr>
            <a:spLocks noGrp="1"/>
          </p:cNvSpPr>
          <p:nvPr/>
        </p:nvSpPr>
        <p:spPr>
          <a:xfrm>
            <a:off x="7277100" y="96393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E2D42"/>
                </a:solidFill>
              </a:defRPr>
            </a:pPr>
            <a:r>
              <a:rPr sz="1050">
                <a:solidFill>
                  <a:srgbClr val="1E2D42"/>
                </a:solidFill>
              </a:rPr>
              <a:t>Higher on-time rate</a:t>
            </a:r>
          </a:p>
        </p:txBody>
      </p:sp>
      <p:sp>
        <p:nvSpPr>
          <p:cNvPr id="64" name="success-2-check">
            <a:extLst>
              <a:ext uri="{FF2B5EF4-FFF2-40B4-BE49-F238E27FC236}">
                <a16:creationId xmlns:a16="http://schemas.microsoft.com/office/drawing/2014/main" id="{C04911F0-5BAF-4EA8-BE16-2D169F577F0C}"/>
              </a:ext>
            </a:extLst>
          </p:cNvPr>
          <p:cNvSpPr>
            <a:spLocks noGrp="1"/>
          </p:cNvSpPr>
          <p:nvPr/>
        </p:nvSpPr>
        <p:spPr>
          <a:xfrm>
            <a:off x="6953250" y="10010775"/>
            <a:ext cx="190500" cy="19050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65" name="success-2-mark">
            <a:extLst>
              <a:ext uri="{FF2B5EF4-FFF2-40B4-BE49-F238E27FC236}">
                <a16:creationId xmlns:a16="http://schemas.microsoft.com/office/drawing/2014/main" id="{59C77664-188E-445A-BC19-DF051ECA8DB8}"/>
              </a:ext>
            </a:extLst>
          </p:cNvPr>
          <p:cNvSpPr>
            <a:spLocks noGrp="1"/>
          </p:cNvSpPr>
          <p:nvPr/>
        </p:nvSpPr>
        <p:spPr>
          <a:xfrm>
            <a:off x="6953250" y="1002030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success-2-text">
            <a:extLst>
              <a:ext uri="{FF2B5EF4-FFF2-40B4-BE49-F238E27FC236}">
                <a16:creationId xmlns:a16="http://schemas.microsoft.com/office/drawing/2014/main" id="{3655D261-6C15-45A7-816C-F1C47ED8F006}"/>
              </a:ext>
            </a:extLst>
          </p:cNvPr>
          <p:cNvSpPr>
            <a:spLocks noGrp="1"/>
          </p:cNvSpPr>
          <p:nvPr/>
        </p:nvSpPr>
        <p:spPr>
          <a:xfrm>
            <a:off x="7277100" y="100012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E2D42"/>
                </a:solidFill>
              </a:defRPr>
            </a:pPr>
            <a:r>
              <a:rPr sz="1050">
                <a:solidFill>
                  <a:srgbClr val="1E2D42"/>
                </a:solidFill>
              </a:rPr>
              <a:t>Cleaner GPS and supplier data</a:t>
            </a:r>
          </a:p>
        </p:txBody>
      </p:sp>
      <p:sp>
        <p:nvSpPr>
          <p:cNvPr id="67" name="success-3-check">
            <a:extLst>
              <a:ext uri="{FF2B5EF4-FFF2-40B4-BE49-F238E27FC236}">
                <a16:creationId xmlns:a16="http://schemas.microsoft.com/office/drawing/2014/main" id="{35359D55-5E92-4E93-9BA7-399C55CF2F6A}"/>
              </a:ext>
            </a:extLst>
          </p:cNvPr>
          <p:cNvSpPr>
            <a:spLocks noGrp="1"/>
          </p:cNvSpPr>
          <p:nvPr/>
        </p:nvSpPr>
        <p:spPr>
          <a:xfrm>
            <a:off x="6953250" y="10372725"/>
            <a:ext cx="190500" cy="19050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68" name="success-3-mark">
            <a:extLst>
              <a:ext uri="{FF2B5EF4-FFF2-40B4-BE49-F238E27FC236}">
                <a16:creationId xmlns:a16="http://schemas.microsoft.com/office/drawing/2014/main" id="{63B94F09-5978-425A-A01E-CE3FC66A3B28}"/>
              </a:ext>
            </a:extLst>
          </p:cNvPr>
          <p:cNvSpPr>
            <a:spLocks noGrp="1"/>
          </p:cNvSpPr>
          <p:nvPr/>
        </p:nvSpPr>
        <p:spPr>
          <a:xfrm>
            <a:off x="6953250" y="1038225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success-3-text">
            <a:extLst>
              <a:ext uri="{FF2B5EF4-FFF2-40B4-BE49-F238E27FC236}">
                <a16:creationId xmlns:a16="http://schemas.microsoft.com/office/drawing/2014/main" id="{3A9FBF14-14E0-4200-8819-A61EAE0EA455}"/>
              </a:ext>
            </a:extLst>
          </p:cNvPr>
          <p:cNvSpPr>
            <a:spLocks noGrp="1"/>
          </p:cNvSpPr>
          <p:nvPr/>
        </p:nvSpPr>
        <p:spPr>
          <a:xfrm>
            <a:off x="7277100" y="10363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1E2D42"/>
                </a:solidFill>
              </a:defRPr>
            </a:pPr>
            <a:r>
              <a:rPr sz="1050">
                <a:solidFill>
                  <a:srgbClr val="1E2D42"/>
                </a:solidFill>
              </a:rPr>
              <a:t>Fewer failed or stuck shipments</a:t>
            </a:r>
          </a:p>
        </p:txBody>
      </p:sp>
      <p:sp>
        <p:nvSpPr>
          <p:cNvPr id="70" name="slide-07-principle-band">
            <a:extLst>
              <a:ext uri="{FF2B5EF4-FFF2-40B4-BE49-F238E27FC236}">
                <a16:creationId xmlns:a16="http://schemas.microsoft.com/office/drawing/2014/main" id="{6173AF4D-C150-43F2-90B2-8DE26A24A021}"/>
              </a:ext>
            </a:extLst>
          </p:cNvPr>
          <p:cNvSpPr>
            <a:spLocks noGrp="1"/>
          </p:cNvSpPr>
          <p:nvPr/>
        </p:nvSpPr>
        <p:spPr>
          <a:xfrm>
            <a:off x="685800" y="11010900"/>
            <a:ext cx="8915400" cy="609600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71" name="principle-label">
            <a:extLst>
              <a:ext uri="{FF2B5EF4-FFF2-40B4-BE49-F238E27FC236}">
                <a16:creationId xmlns:a16="http://schemas.microsoft.com/office/drawing/2014/main" id="{34AD2288-795F-4502-B981-08A23E870C34}"/>
              </a:ext>
            </a:extLst>
          </p:cNvPr>
          <p:cNvSpPr>
            <a:spLocks noGrp="1"/>
          </p:cNvSpPr>
          <p:nvPr/>
        </p:nvSpPr>
        <p:spPr>
          <a:xfrm>
            <a:off x="914400" y="111823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554A3"/>
                </a:solidFill>
              </a:defRPr>
            </a:pPr>
            <a:r>
              <a:rPr sz="1050" b="1">
                <a:solidFill>
                  <a:srgbClr val="1554A3"/>
                </a:solidFill>
              </a:rPr>
              <a:t>OPERATING PRINCIPLE</a:t>
            </a:r>
          </a:p>
        </p:txBody>
      </p:sp>
      <p:sp>
        <p:nvSpPr>
          <p:cNvPr id="72" name="principle-copy">
            <a:extLst>
              <a:ext uri="{FF2B5EF4-FFF2-40B4-BE49-F238E27FC236}">
                <a16:creationId xmlns:a16="http://schemas.microsoft.com/office/drawing/2014/main" id="{316C4DAD-B438-4830-AC99-822CD349AFE7}"/>
              </a:ext>
            </a:extLst>
          </p:cNvPr>
          <p:cNvSpPr>
            <a:spLocks noGrp="1"/>
          </p:cNvSpPr>
          <p:nvPr/>
        </p:nvSpPr>
        <p:spPr>
          <a:xfrm>
            <a:off x="2914650" y="11163300"/>
            <a:ext cx="638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82653"/>
                </a:solidFill>
              </a:defRPr>
            </a:pPr>
            <a:r>
              <a:rPr sz="1275" b="1">
                <a:solidFill>
                  <a:srgbClr val="082653"/>
                </a:solidFill>
              </a:rPr>
              <a:t>Use the dashboard as a recurring management system, not a one-time report.</a:t>
            </a:r>
          </a:p>
        </p:txBody>
      </p:sp>
      <p:sp>
        <p:nvSpPr>
          <p:cNvPr id="73" name="slide-07-footer-left">
            <a:extLst>
              <a:ext uri="{FF2B5EF4-FFF2-40B4-BE49-F238E27FC236}">
                <a16:creationId xmlns:a16="http://schemas.microsoft.com/office/drawing/2014/main" id="{23649596-C52C-43BD-9550-4D4B7E18F474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74" name="slide-07-footer-right">
            <a:extLst>
              <a:ext uri="{FF2B5EF4-FFF2-40B4-BE49-F238E27FC236}">
                <a16:creationId xmlns:a16="http://schemas.microsoft.com/office/drawing/2014/main" id="{113A6D8F-36D5-43C8-9205-94A29FA1BE85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52920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-08-top-accent">
            <a:extLst>
              <a:ext uri="{FF2B5EF4-FFF2-40B4-BE49-F238E27FC236}">
                <a16:creationId xmlns:a16="http://schemas.microsoft.com/office/drawing/2014/main" id="{C698F716-3365-4D4B-BCB8-546187BB1D9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76300" cy="76200"/>
          </a:xfrm>
          <a:prstGeom prst="rect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2" name="slide-08-eyebrow">
            <a:extLst>
              <a:ext uri="{FF2B5EF4-FFF2-40B4-BE49-F238E27FC236}">
                <a16:creationId xmlns:a16="http://schemas.microsoft.com/office/drawing/2014/main" id="{82A7D7EB-277C-4346-8C88-58F648CD672C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554A3"/>
                </a:solidFill>
              </a:defRPr>
            </a:pPr>
            <a:r>
              <a:rPr sz="1500" b="1">
                <a:solidFill>
                  <a:srgbClr val="1554A3"/>
                </a:solidFill>
              </a:rPr>
              <a:t>PROJECT REPOSITORY</a:t>
            </a:r>
          </a:p>
        </p:txBody>
      </p:sp>
      <p:sp>
        <p:nvSpPr>
          <p:cNvPr id="3" name="slide-08-number">
            <a:extLst>
              <a:ext uri="{FF2B5EF4-FFF2-40B4-BE49-F238E27FC236}">
                <a16:creationId xmlns:a16="http://schemas.microsoft.com/office/drawing/2014/main" id="{88A72FCD-600D-471C-A291-6789293E8303}"/>
              </a:ext>
            </a:extLst>
          </p:cNvPr>
          <p:cNvSpPr>
            <a:spLocks noGrp="1"/>
          </p:cNvSpPr>
          <p:nvPr/>
        </p:nvSpPr>
        <p:spPr>
          <a:xfrm>
            <a:off x="8286750" y="94297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718096"/>
                </a:solidFill>
              </a:defRPr>
            </a:pPr>
            <a:r>
              <a:rPr sz="1350" b="1">
                <a:solidFill>
                  <a:srgbClr val="718096"/>
                </a:solidFill>
              </a:rPr>
              <a:t>08 / 08</a:t>
            </a:r>
          </a:p>
        </p:txBody>
      </p:sp>
      <p:sp>
        <p:nvSpPr>
          <p:cNvPr id="4" name="slide-08-title">
            <a:extLst>
              <a:ext uri="{FF2B5EF4-FFF2-40B4-BE49-F238E27FC236}">
                <a16:creationId xmlns:a16="http://schemas.microsoft.com/office/drawing/2014/main" id="{33D444DE-F93E-42BB-883E-EDAFDF5D6F8B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8915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525" b="1">
                <a:solidFill>
                  <a:srgbClr val="082653"/>
                </a:solidFill>
              </a:defRPr>
            </a:pPr>
            <a:r>
              <a:rPr sz="3525" b="1">
                <a:solidFill>
                  <a:srgbClr val="082653"/>
                </a:solidFill>
              </a:rPr>
              <a:t>EXPLORE THE FULL</a:t>
            </a:r>
          </a:p>
          <a:p>
            <a:pPr>
              <a:defRPr sz="3525" b="1">
                <a:solidFill>
                  <a:srgbClr val="082653"/>
                </a:solidFill>
              </a:defRPr>
            </a:pPr>
            <a:r>
              <a:rPr sz="3525" b="1">
                <a:solidFill>
                  <a:srgbClr val="082653"/>
                </a:solidFill>
              </a:rPr>
              <a:t>END-TO-END PROJECT</a:t>
            </a:r>
          </a:p>
        </p:txBody>
      </p:sp>
      <p:sp>
        <p:nvSpPr>
          <p:cNvPr id="5" name="slide-08-subtitle">
            <a:extLst>
              <a:ext uri="{FF2B5EF4-FFF2-40B4-BE49-F238E27FC236}">
                <a16:creationId xmlns:a16="http://schemas.microsoft.com/office/drawing/2014/main" id="{C7125FAE-99D8-4C7C-9FDA-BD06D10E980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E2D42"/>
                </a:solidFill>
              </a:defRPr>
            </a:pPr>
            <a:r>
              <a:rPr sz="1575">
                <a:solidFill>
                  <a:srgbClr val="1E2D42"/>
                </a:solidFill>
              </a:rPr>
              <a:t>From raw logistics data to business recommendations, the complete analytical workflow is structured for GitHub.</a:t>
            </a:r>
          </a:p>
        </p:txBody>
      </p:sp>
      <p:sp>
        <p:nvSpPr>
          <p:cNvPr id="6" name="repository-hero">
            <a:extLst>
              <a:ext uri="{FF2B5EF4-FFF2-40B4-BE49-F238E27FC236}">
                <a16:creationId xmlns:a16="http://schemas.microsoft.com/office/drawing/2014/main" id="{AFE54CB9-A7CE-41BB-A39F-CDEDC89EA0E1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8915400" cy="3467100"/>
          </a:xfrm>
          <a:prstGeom prst="roundRect">
            <a:avLst>
              <a:gd name="adj" fmla="val 2198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7" name="repository-icon-bg">
            <a:extLst>
              <a:ext uri="{FF2B5EF4-FFF2-40B4-BE49-F238E27FC236}">
                <a16:creationId xmlns:a16="http://schemas.microsoft.com/office/drawing/2014/main" id="{F2E35F87-3810-485E-AC23-959365D0ADF4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1638300" cy="16383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2F80ED"/>
            </a:solidFill>
            <a:prstDash val="solid"/>
          </a:ln>
        </p:spPr>
      </p:sp>
      <p:sp>
        <p:nvSpPr>
          <p:cNvPr id="8" name="repository-icon">
            <a:extLst>
              <a:ext uri="{FF2B5EF4-FFF2-40B4-BE49-F238E27FC236}">
                <a16:creationId xmlns:a16="http://schemas.microsoft.com/office/drawing/2014/main" id="{63643779-416B-4660-86D8-A749A15273AF}"/>
              </a:ext>
            </a:extLst>
          </p:cNvPr>
          <p:cNvSpPr>
            <a:spLocks noGrp="1"/>
          </p:cNvSpPr>
          <p:nvPr/>
        </p:nvSpPr>
        <p:spPr>
          <a:xfrm>
            <a:off x="1085850" y="4400550"/>
            <a:ext cx="1638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082653"/>
                </a:solidFill>
              </a:defRPr>
            </a:pPr>
            <a:r>
              <a:rPr sz="3600" b="1">
                <a:solidFill>
                  <a:srgbClr val="082653"/>
                </a:solidFill>
              </a:rPr>
              <a:t>&lt;/&gt;</a:t>
            </a:r>
          </a:p>
        </p:txBody>
      </p:sp>
      <p:sp>
        <p:nvSpPr>
          <p:cNvPr id="9" name="repository-platform">
            <a:extLst>
              <a:ext uri="{FF2B5EF4-FFF2-40B4-BE49-F238E27FC236}">
                <a16:creationId xmlns:a16="http://schemas.microsoft.com/office/drawing/2014/main" id="{BF8AB6A0-91E2-4461-9838-BDDFE0166385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554A3"/>
                </a:solidFill>
              </a:defRPr>
            </a:pPr>
            <a:r>
              <a:rPr sz="1200" b="1">
                <a:solidFill>
                  <a:srgbClr val="1554A3"/>
                </a:solidFill>
              </a:rPr>
              <a:t>GITHUB</a:t>
            </a:r>
          </a:p>
        </p:txBody>
      </p:sp>
      <p:sp>
        <p:nvSpPr>
          <p:cNvPr id="10" name="repository-owner">
            <a:extLst>
              <a:ext uri="{FF2B5EF4-FFF2-40B4-BE49-F238E27FC236}">
                <a16:creationId xmlns:a16="http://schemas.microsoft.com/office/drawing/2014/main" id="{A83B5E1D-5578-4D3B-B91C-864475CDCC4F}"/>
              </a:ext>
            </a:extLst>
          </p:cNvPr>
          <p:cNvSpPr>
            <a:spLocks noGrp="1"/>
          </p:cNvSpPr>
          <p:nvPr/>
        </p:nvSpPr>
        <p:spPr>
          <a:xfrm>
            <a:off x="3162300" y="38862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FB9DF"/>
                </a:solidFill>
              </a:defRPr>
            </a:pPr>
            <a:r>
              <a:rPr sz="1200" b="1">
                <a:solidFill>
                  <a:srgbClr val="9FB9DF"/>
                </a:solidFill>
              </a:rPr>
              <a:t>MOHAMEDTAREK00212  /</a:t>
            </a:r>
          </a:p>
        </p:txBody>
      </p:sp>
      <p:sp>
        <p:nvSpPr>
          <p:cNvPr id="11" name="repository-name">
            <a:extLst>
              <a:ext uri="{FF2B5EF4-FFF2-40B4-BE49-F238E27FC236}">
                <a16:creationId xmlns:a16="http://schemas.microsoft.com/office/drawing/2014/main" id="{80BFCE8E-752D-4334-B89F-4043E29CC37C}"/>
              </a:ext>
            </a:extLst>
          </p:cNvPr>
          <p:cNvSpPr>
            <a:spLocks noGrp="1"/>
          </p:cNvSpPr>
          <p:nvPr/>
        </p:nvSpPr>
        <p:spPr>
          <a:xfrm>
            <a:off x="3162300" y="421005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Transportation-Logistics</a:t>
            </a:r>
          </a:p>
        </p:txBody>
      </p:sp>
      <p:sp>
        <p:nvSpPr>
          <p:cNvPr id="12" name="repository-description">
            <a:extLst>
              <a:ext uri="{FF2B5EF4-FFF2-40B4-BE49-F238E27FC236}">
                <a16:creationId xmlns:a16="http://schemas.microsoft.com/office/drawing/2014/main" id="{C6AE084F-7197-41B4-AC47-570355CCCC9A}"/>
              </a:ext>
            </a:extLst>
          </p:cNvPr>
          <p:cNvSpPr>
            <a:spLocks noGrp="1"/>
          </p:cNvSpPr>
          <p:nvPr/>
        </p:nvSpPr>
        <p:spPr>
          <a:xfrm>
            <a:off x="3162300" y="4819650"/>
            <a:ext cx="581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DDE8F8"/>
                </a:solidFill>
              </a:defRPr>
            </a:pPr>
            <a:r>
              <a:rPr sz="1500">
                <a:solidFill>
                  <a:srgbClr val="DDE8F8"/>
                </a:solidFill>
              </a:rPr>
              <a:t>Transportation &amp; Logistics Analytics</a:t>
            </a:r>
          </a:p>
          <a:p>
            <a:pPr>
              <a:defRPr sz="1500">
                <a:solidFill>
                  <a:srgbClr val="DDE8F8"/>
                </a:solidFill>
              </a:defRPr>
            </a:pPr>
            <a:r>
              <a:rPr sz="1500">
                <a:solidFill>
                  <a:srgbClr val="DDE8F8"/>
                </a:solidFill>
              </a:rPr>
              <a:t>End-to-End Data Analytics and BI Case Study</a:t>
            </a:r>
          </a:p>
        </p:txBody>
      </p:sp>
      <p:sp>
        <p:nvSpPr>
          <p:cNvPr id="13" name="repository-link-bg">
            <a:extLst>
              <a:ext uri="{FF2B5EF4-FFF2-40B4-BE49-F238E27FC236}">
                <a16:creationId xmlns:a16="http://schemas.microsoft.com/office/drawing/2014/main" id="{A3C48BB6-39D3-4F81-B799-3BEB4FAF6855}"/>
              </a:ext>
            </a:extLst>
          </p:cNvPr>
          <p:cNvSpPr>
            <a:spLocks noGrp="1"/>
          </p:cNvSpPr>
          <p:nvPr/>
        </p:nvSpPr>
        <p:spPr>
          <a:xfrm>
            <a:off x="3162300" y="5791200"/>
            <a:ext cx="5810250" cy="723900"/>
          </a:xfrm>
          <a:prstGeom prst="roundRect">
            <a:avLst>
              <a:gd name="adj" fmla="val 10526"/>
            </a:avLst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14" name="repository-link-label">
            <a:extLst>
              <a:ext uri="{FF2B5EF4-FFF2-40B4-BE49-F238E27FC236}">
                <a16:creationId xmlns:a16="http://schemas.microsoft.com/office/drawing/2014/main" id="{6995E60C-929A-4D21-8439-70635842B300}"/>
              </a:ext>
            </a:extLst>
          </p:cNvPr>
          <p:cNvSpPr>
            <a:spLocks noGrp="1"/>
          </p:cNvSpPr>
          <p:nvPr/>
        </p:nvSpPr>
        <p:spPr>
          <a:xfrm>
            <a:off x="3371850" y="5905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VIEW THE PROJECT</a:t>
            </a:r>
          </a:p>
        </p:txBody>
      </p:sp>
      <p:sp>
        <p:nvSpPr>
          <p:cNvPr id="15" name="repository-link">
            <a:extLst>
              <a:ext uri="{FF2B5EF4-FFF2-40B4-BE49-F238E27FC236}">
                <a16:creationId xmlns:a16="http://schemas.microsoft.com/office/drawing/2014/main" id="{2CA20D0E-01C3-4B1D-87D8-A13F4C7984E1}"/>
              </a:ext>
            </a:extLst>
          </p:cNvPr>
          <p:cNvSpPr>
            <a:spLocks noGrp="1"/>
          </p:cNvSpPr>
          <p:nvPr/>
        </p:nvSpPr>
        <p:spPr>
          <a:xfrm>
            <a:off x="3371850" y="6172200"/>
            <a:ext cx="539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github.com/Mohamedtarek00212/Transportation-Logistics</a:t>
            </a:r>
          </a:p>
        </p:txBody>
      </p:sp>
      <p:sp>
        <p:nvSpPr>
          <p:cNvPr id="16" name="linkedin-link">
            <a:extLst>
              <a:ext uri="{FF2B5EF4-FFF2-40B4-BE49-F238E27FC236}">
                <a16:creationId xmlns:a16="http://schemas.microsoft.com/office/drawing/2014/main" id="{060F31E3-ADBC-4CD1-B809-6C0CB1AC7688}"/>
              </a:ext>
            </a:extLst>
          </p:cNvPr>
          <p:cNvSpPr>
            <a:spLocks noGrp="1"/>
          </p:cNvSpPr>
          <p:nvPr/>
        </p:nvSpPr>
        <p:spPr>
          <a:xfrm>
            <a:off x="3371850" y="6619875"/>
            <a:ext cx="2724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9E7F7"/>
                </a:solidFill>
              </a:defRPr>
            </a:pPr>
            <a:r>
              <a:rPr sz="975" b="1">
                <a:solidFill>
                  <a:srgbClr val="D9E7F7"/>
                </a:solidFill>
              </a:rPr>
              <a:t>LINKEDIN  |  mohamedtarek-aboelkhir</a:t>
            </a:r>
          </a:p>
        </p:txBody>
      </p:sp>
      <p:sp>
        <p:nvSpPr>
          <p:cNvPr id="17" name="powerbi-link">
            <a:extLst>
              <a:ext uri="{FF2B5EF4-FFF2-40B4-BE49-F238E27FC236}">
                <a16:creationId xmlns:a16="http://schemas.microsoft.com/office/drawing/2014/main" id="{B6D73FFA-1727-48E8-B293-7A0FB48ABBBC}"/>
              </a:ext>
            </a:extLst>
          </p:cNvPr>
          <p:cNvSpPr>
            <a:spLocks noGrp="1"/>
          </p:cNvSpPr>
          <p:nvPr/>
        </p:nvSpPr>
        <p:spPr>
          <a:xfrm>
            <a:off x="6153150" y="6619875"/>
            <a:ext cx="2609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B36C"/>
                </a:solidFill>
              </a:defRPr>
            </a:pPr>
            <a:r>
              <a:rPr sz="975" b="1">
                <a:solidFill>
                  <a:srgbClr val="F9B36C"/>
                </a:solidFill>
              </a:rPr>
              <a:t>LIVE POWER BI  |  INTERACTIVE DASHBOARD</a:t>
            </a:r>
          </a:p>
        </p:txBody>
      </p:sp>
      <p:sp>
        <p:nvSpPr>
          <p:cNvPr id="18" name="scope-label">
            <a:extLst>
              <a:ext uri="{FF2B5EF4-FFF2-40B4-BE49-F238E27FC236}">
                <a16:creationId xmlns:a16="http://schemas.microsoft.com/office/drawing/2014/main" id="{5100E8E3-20B0-4268-A66D-779B358DD57C}"/>
              </a:ext>
            </a:extLst>
          </p:cNvPr>
          <p:cNvSpPr>
            <a:spLocks noGrp="1"/>
          </p:cNvSpPr>
          <p:nvPr/>
        </p:nvSpPr>
        <p:spPr>
          <a:xfrm>
            <a:off x="685800" y="73342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554A3"/>
                </a:solidFill>
              </a:defRPr>
            </a:pPr>
            <a:r>
              <a:rPr sz="1275" b="1">
                <a:solidFill>
                  <a:srgbClr val="1554A3"/>
                </a:solidFill>
              </a:rPr>
              <a:t>END-TO-END PROJECT SCOPE</a:t>
            </a:r>
          </a:p>
        </p:txBody>
      </p:sp>
      <p:sp>
        <p:nvSpPr>
          <p:cNvPr id="19" name="scope-0">
            <a:extLst>
              <a:ext uri="{FF2B5EF4-FFF2-40B4-BE49-F238E27FC236}">
                <a16:creationId xmlns:a16="http://schemas.microsoft.com/office/drawing/2014/main" id="{DA5A5835-4010-416D-82F3-68C4C4E03D79}"/>
              </a:ext>
            </a:extLst>
          </p:cNvPr>
          <p:cNvSpPr>
            <a:spLocks noGrp="1"/>
          </p:cNvSpPr>
          <p:nvPr/>
        </p:nvSpPr>
        <p:spPr>
          <a:xfrm>
            <a:off x="685800" y="7810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20" name="scope-0-number-bg">
            <a:extLst>
              <a:ext uri="{FF2B5EF4-FFF2-40B4-BE49-F238E27FC236}">
                <a16:creationId xmlns:a16="http://schemas.microsoft.com/office/drawing/2014/main" id="{D99CB813-B7D5-4CE6-9B29-8F80F69913A9}"/>
              </a:ext>
            </a:extLst>
          </p:cNvPr>
          <p:cNvSpPr>
            <a:spLocks noGrp="1"/>
          </p:cNvSpPr>
          <p:nvPr/>
        </p:nvSpPr>
        <p:spPr>
          <a:xfrm>
            <a:off x="857250" y="7981950"/>
            <a:ext cx="400050" cy="400050"/>
          </a:xfrm>
          <a:prstGeom prst="ellipse">
            <a:avLst/>
          </a:prstGeom>
          <a:solidFill>
            <a:srgbClr val="1554A3"/>
          </a:solidFill>
          <a:ln w="0">
            <a:noFill/>
            <a:prstDash val="solid"/>
          </a:ln>
        </p:spPr>
      </p:sp>
      <p:sp>
        <p:nvSpPr>
          <p:cNvPr id="21" name="scope-0-number">
            <a:extLst>
              <a:ext uri="{FF2B5EF4-FFF2-40B4-BE49-F238E27FC236}">
                <a16:creationId xmlns:a16="http://schemas.microsoft.com/office/drawing/2014/main" id="{6473C2BD-ED60-4F07-BABA-E2C4D76F3E97}"/>
              </a:ext>
            </a:extLst>
          </p:cNvPr>
          <p:cNvSpPr>
            <a:spLocks noGrp="1"/>
          </p:cNvSpPr>
          <p:nvPr/>
        </p:nvSpPr>
        <p:spPr>
          <a:xfrm>
            <a:off x="857250" y="80867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2" name="scope-0-title">
            <a:extLst>
              <a:ext uri="{FF2B5EF4-FFF2-40B4-BE49-F238E27FC236}">
                <a16:creationId xmlns:a16="http://schemas.microsoft.com/office/drawing/2014/main" id="{7D3AB458-121F-420B-BB9E-01E0E7BCF911}"/>
              </a:ext>
            </a:extLst>
          </p:cNvPr>
          <p:cNvSpPr>
            <a:spLocks noGrp="1"/>
          </p:cNvSpPr>
          <p:nvPr/>
        </p:nvSpPr>
        <p:spPr>
          <a:xfrm>
            <a:off x="1409700" y="7981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CLEANED DATASET</a:t>
            </a:r>
          </a:p>
        </p:txBody>
      </p:sp>
      <p:sp>
        <p:nvSpPr>
          <p:cNvPr id="23" name="scope-0-body">
            <a:extLst>
              <a:ext uri="{FF2B5EF4-FFF2-40B4-BE49-F238E27FC236}">
                <a16:creationId xmlns:a16="http://schemas.microsoft.com/office/drawing/2014/main" id="{494EA2C6-B76D-44C0-8EF3-B983D246D447}"/>
              </a:ext>
            </a:extLst>
          </p:cNvPr>
          <p:cNvSpPr>
            <a:spLocks noGrp="1"/>
          </p:cNvSpPr>
          <p:nvPr/>
        </p:nvSpPr>
        <p:spPr>
          <a:xfrm>
            <a:off x="1409700" y="82867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Validated analysis-ready records</a:t>
            </a:r>
          </a:p>
        </p:txBody>
      </p:sp>
      <p:sp>
        <p:nvSpPr>
          <p:cNvPr id="24" name="scope-1">
            <a:extLst>
              <a:ext uri="{FF2B5EF4-FFF2-40B4-BE49-F238E27FC236}">
                <a16:creationId xmlns:a16="http://schemas.microsoft.com/office/drawing/2014/main" id="{714B0D66-BD26-4B8E-B509-2030736E53A3}"/>
              </a:ext>
            </a:extLst>
          </p:cNvPr>
          <p:cNvSpPr>
            <a:spLocks noGrp="1"/>
          </p:cNvSpPr>
          <p:nvPr/>
        </p:nvSpPr>
        <p:spPr>
          <a:xfrm>
            <a:off x="3714750" y="7810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25" name="scope-1-number-bg">
            <a:extLst>
              <a:ext uri="{FF2B5EF4-FFF2-40B4-BE49-F238E27FC236}">
                <a16:creationId xmlns:a16="http://schemas.microsoft.com/office/drawing/2014/main" id="{4747FBF4-92B8-4763-BFDC-0D9C9347B0FA}"/>
              </a:ext>
            </a:extLst>
          </p:cNvPr>
          <p:cNvSpPr>
            <a:spLocks noGrp="1"/>
          </p:cNvSpPr>
          <p:nvPr/>
        </p:nvSpPr>
        <p:spPr>
          <a:xfrm>
            <a:off x="3886200" y="7981950"/>
            <a:ext cx="400050" cy="4000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26" name="scope-1-number">
            <a:extLst>
              <a:ext uri="{FF2B5EF4-FFF2-40B4-BE49-F238E27FC236}">
                <a16:creationId xmlns:a16="http://schemas.microsoft.com/office/drawing/2014/main" id="{5341B1FF-00BF-400E-9D28-5032DEE3F899}"/>
              </a:ext>
            </a:extLst>
          </p:cNvPr>
          <p:cNvSpPr>
            <a:spLocks noGrp="1"/>
          </p:cNvSpPr>
          <p:nvPr/>
        </p:nvSpPr>
        <p:spPr>
          <a:xfrm>
            <a:off x="3886200" y="80867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7" name="scope-1-title">
            <a:extLst>
              <a:ext uri="{FF2B5EF4-FFF2-40B4-BE49-F238E27FC236}">
                <a16:creationId xmlns:a16="http://schemas.microsoft.com/office/drawing/2014/main" id="{A4B14F5C-7F6F-40E0-9465-0DB55BCB58D9}"/>
              </a:ext>
            </a:extLst>
          </p:cNvPr>
          <p:cNvSpPr>
            <a:spLocks noGrp="1"/>
          </p:cNvSpPr>
          <p:nvPr/>
        </p:nvSpPr>
        <p:spPr>
          <a:xfrm>
            <a:off x="4438650" y="7981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EDA NOTEBOOK</a:t>
            </a:r>
          </a:p>
        </p:txBody>
      </p:sp>
      <p:sp>
        <p:nvSpPr>
          <p:cNvPr id="28" name="scope-1-body">
            <a:extLst>
              <a:ext uri="{FF2B5EF4-FFF2-40B4-BE49-F238E27FC236}">
                <a16:creationId xmlns:a16="http://schemas.microsoft.com/office/drawing/2014/main" id="{1F90E10C-498F-434A-B24B-3C4475090E5E}"/>
              </a:ext>
            </a:extLst>
          </p:cNvPr>
          <p:cNvSpPr>
            <a:spLocks noGrp="1"/>
          </p:cNvSpPr>
          <p:nvPr/>
        </p:nvSpPr>
        <p:spPr>
          <a:xfrm>
            <a:off x="4438650" y="82867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Cleaning, exploration, and findings</a:t>
            </a:r>
          </a:p>
        </p:txBody>
      </p:sp>
      <p:sp>
        <p:nvSpPr>
          <p:cNvPr id="29" name="scope-2">
            <a:extLst>
              <a:ext uri="{FF2B5EF4-FFF2-40B4-BE49-F238E27FC236}">
                <a16:creationId xmlns:a16="http://schemas.microsoft.com/office/drawing/2014/main" id="{778F784D-DE17-4A93-AA12-1570368779E3}"/>
              </a:ext>
            </a:extLst>
          </p:cNvPr>
          <p:cNvSpPr>
            <a:spLocks noGrp="1"/>
          </p:cNvSpPr>
          <p:nvPr/>
        </p:nvSpPr>
        <p:spPr>
          <a:xfrm>
            <a:off x="6743700" y="7810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30" name="scope-2-number-bg">
            <a:extLst>
              <a:ext uri="{FF2B5EF4-FFF2-40B4-BE49-F238E27FC236}">
                <a16:creationId xmlns:a16="http://schemas.microsoft.com/office/drawing/2014/main" id="{E7D9C2CE-CB0E-4323-98D0-17A57CA4EA9B}"/>
              </a:ext>
            </a:extLst>
          </p:cNvPr>
          <p:cNvSpPr>
            <a:spLocks noGrp="1"/>
          </p:cNvSpPr>
          <p:nvPr/>
        </p:nvSpPr>
        <p:spPr>
          <a:xfrm>
            <a:off x="6915150" y="7981950"/>
            <a:ext cx="400050" cy="400050"/>
          </a:xfrm>
          <a:prstGeom prst="ellipse">
            <a:avLst/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31" name="scope-2-number">
            <a:extLst>
              <a:ext uri="{FF2B5EF4-FFF2-40B4-BE49-F238E27FC236}">
                <a16:creationId xmlns:a16="http://schemas.microsoft.com/office/drawing/2014/main" id="{B6A1C756-4255-4F43-B34F-6906FE16ADD5}"/>
              </a:ext>
            </a:extLst>
          </p:cNvPr>
          <p:cNvSpPr>
            <a:spLocks noGrp="1"/>
          </p:cNvSpPr>
          <p:nvPr/>
        </p:nvSpPr>
        <p:spPr>
          <a:xfrm>
            <a:off x="6915150" y="80867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2" name="scope-2-title">
            <a:extLst>
              <a:ext uri="{FF2B5EF4-FFF2-40B4-BE49-F238E27FC236}">
                <a16:creationId xmlns:a16="http://schemas.microsoft.com/office/drawing/2014/main" id="{B1794020-2BC1-4FE2-8D79-06A62246DCB0}"/>
              </a:ext>
            </a:extLst>
          </p:cNvPr>
          <p:cNvSpPr>
            <a:spLocks noGrp="1"/>
          </p:cNvSpPr>
          <p:nvPr/>
        </p:nvSpPr>
        <p:spPr>
          <a:xfrm>
            <a:off x="7467600" y="7981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SQL DATABASE</a:t>
            </a:r>
          </a:p>
        </p:txBody>
      </p:sp>
      <p:sp>
        <p:nvSpPr>
          <p:cNvPr id="33" name="scope-2-body">
            <a:extLst>
              <a:ext uri="{FF2B5EF4-FFF2-40B4-BE49-F238E27FC236}">
                <a16:creationId xmlns:a16="http://schemas.microsoft.com/office/drawing/2014/main" id="{03BC9B58-3DCA-4F05-9E95-31992D4FE78D}"/>
              </a:ext>
            </a:extLst>
          </p:cNvPr>
          <p:cNvSpPr>
            <a:spLocks noGrp="1"/>
          </p:cNvSpPr>
          <p:nvPr/>
        </p:nvSpPr>
        <p:spPr>
          <a:xfrm>
            <a:off x="7467600" y="82867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ERD, 13 tables, and 10 queries</a:t>
            </a:r>
          </a:p>
        </p:txBody>
      </p:sp>
      <p:sp>
        <p:nvSpPr>
          <p:cNvPr id="34" name="scope-3">
            <a:extLst>
              <a:ext uri="{FF2B5EF4-FFF2-40B4-BE49-F238E27FC236}">
                <a16:creationId xmlns:a16="http://schemas.microsoft.com/office/drawing/2014/main" id="{C97EE154-E88B-47BF-933C-DCDF5E7BFBD2}"/>
              </a:ext>
            </a:extLst>
          </p:cNvPr>
          <p:cNvSpPr>
            <a:spLocks noGrp="1"/>
          </p:cNvSpPr>
          <p:nvPr/>
        </p:nvSpPr>
        <p:spPr>
          <a:xfrm>
            <a:off x="685800" y="90678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35" name="scope-3-number-bg">
            <a:extLst>
              <a:ext uri="{FF2B5EF4-FFF2-40B4-BE49-F238E27FC236}">
                <a16:creationId xmlns:a16="http://schemas.microsoft.com/office/drawing/2014/main" id="{AFFBB824-A456-4E6A-9146-87E4B4E150F3}"/>
              </a:ext>
            </a:extLst>
          </p:cNvPr>
          <p:cNvSpPr>
            <a:spLocks noGrp="1"/>
          </p:cNvSpPr>
          <p:nvPr/>
        </p:nvSpPr>
        <p:spPr>
          <a:xfrm>
            <a:off x="857250" y="9239250"/>
            <a:ext cx="400050" cy="400050"/>
          </a:xfrm>
          <a:prstGeom prst="ellipse">
            <a:avLst/>
          </a:prstGeom>
          <a:solidFill>
            <a:srgbClr val="5B3B98"/>
          </a:solidFill>
          <a:ln w="0">
            <a:noFill/>
            <a:prstDash val="solid"/>
          </a:ln>
        </p:spPr>
      </p:sp>
      <p:sp>
        <p:nvSpPr>
          <p:cNvPr id="36" name="scope-3-number">
            <a:extLst>
              <a:ext uri="{FF2B5EF4-FFF2-40B4-BE49-F238E27FC236}">
                <a16:creationId xmlns:a16="http://schemas.microsoft.com/office/drawing/2014/main" id="{E012931A-AB77-4FD2-8A86-86AC76A1B78B}"/>
              </a:ext>
            </a:extLst>
          </p:cNvPr>
          <p:cNvSpPr>
            <a:spLocks noGrp="1"/>
          </p:cNvSpPr>
          <p:nvPr/>
        </p:nvSpPr>
        <p:spPr>
          <a:xfrm>
            <a:off x="857250" y="93440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scope-3-title">
            <a:extLst>
              <a:ext uri="{FF2B5EF4-FFF2-40B4-BE49-F238E27FC236}">
                <a16:creationId xmlns:a16="http://schemas.microsoft.com/office/drawing/2014/main" id="{07889353-AF12-40C0-A541-22AB24352D98}"/>
              </a:ext>
            </a:extLst>
          </p:cNvPr>
          <p:cNvSpPr>
            <a:spLocks noGrp="1"/>
          </p:cNvSpPr>
          <p:nvPr/>
        </p:nvSpPr>
        <p:spPr>
          <a:xfrm>
            <a:off x="1409700" y="92392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QUERY OUTPUTS</a:t>
            </a:r>
          </a:p>
        </p:txBody>
      </p:sp>
      <p:sp>
        <p:nvSpPr>
          <p:cNvPr id="38" name="scope-3-body">
            <a:extLst>
              <a:ext uri="{FF2B5EF4-FFF2-40B4-BE49-F238E27FC236}">
                <a16:creationId xmlns:a16="http://schemas.microsoft.com/office/drawing/2014/main" id="{9DC563F9-5D95-47FA-825B-C2F5C157C93D}"/>
              </a:ext>
            </a:extLst>
          </p:cNvPr>
          <p:cNvSpPr>
            <a:spLocks noGrp="1"/>
          </p:cNvSpPr>
          <p:nvPr/>
        </p:nvSpPr>
        <p:spPr>
          <a:xfrm>
            <a:off x="1409700" y="95440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Evidence from analytical SQL</a:t>
            </a:r>
          </a:p>
        </p:txBody>
      </p:sp>
      <p:sp>
        <p:nvSpPr>
          <p:cNvPr id="39" name="scope-4">
            <a:extLst>
              <a:ext uri="{FF2B5EF4-FFF2-40B4-BE49-F238E27FC236}">
                <a16:creationId xmlns:a16="http://schemas.microsoft.com/office/drawing/2014/main" id="{4F246112-A4EC-40CF-B249-0D9DE0E9D3F8}"/>
              </a:ext>
            </a:extLst>
          </p:cNvPr>
          <p:cNvSpPr>
            <a:spLocks noGrp="1"/>
          </p:cNvSpPr>
          <p:nvPr/>
        </p:nvSpPr>
        <p:spPr>
          <a:xfrm>
            <a:off x="3714750" y="90678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40" name="scope-4-number-bg">
            <a:extLst>
              <a:ext uri="{FF2B5EF4-FFF2-40B4-BE49-F238E27FC236}">
                <a16:creationId xmlns:a16="http://schemas.microsoft.com/office/drawing/2014/main" id="{55A03634-8E1D-4A89-8D1E-923BEC92E291}"/>
              </a:ext>
            </a:extLst>
          </p:cNvPr>
          <p:cNvSpPr>
            <a:spLocks noGrp="1"/>
          </p:cNvSpPr>
          <p:nvPr/>
        </p:nvSpPr>
        <p:spPr>
          <a:xfrm>
            <a:off x="3886200" y="9239250"/>
            <a:ext cx="400050" cy="400050"/>
          </a:xfrm>
          <a:prstGeom prst="ellipse">
            <a:avLst/>
          </a:prstGeom>
          <a:solidFill>
            <a:srgbClr val="3F6B2A"/>
          </a:solidFill>
          <a:ln w="0">
            <a:noFill/>
            <a:prstDash val="solid"/>
          </a:ln>
        </p:spPr>
      </p:sp>
      <p:sp>
        <p:nvSpPr>
          <p:cNvPr id="41" name="scope-4-number">
            <a:extLst>
              <a:ext uri="{FF2B5EF4-FFF2-40B4-BE49-F238E27FC236}">
                <a16:creationId xmlns:a16="http://schemas.microsoft.com/office/drawing/2014/main" id="{17671B5C-D0AE-49DC-BC66-F5FD3818C674}"/>
              </a:ext>
            </a:extLst>
          </p:cNvPr>
          <p:cNvSpPr>
            <a:spLocks noGrp="1"/>
          </p:cNvSpPr>
          <p:nvPr/>
        </p:nvSpPr>
        <p:spPr>
          <a:xfrm>
            <a:off x="3886200" y="93440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2" name="scope-4-title">
            <a:extLst>
              <a:ext uri="{FF2B5EF4-FFF2-40B4-BE49-F238E27FC236}">
                <a16:creationId xmlns:a16="http://schemas.microsoft.com/office/drawing/2014/main" id="{3DE9C36B-55DC-426E-8FC6-59F7866F732B}"/>
              </a:ext>
            </a:extLst>
          </p:cNvPr>
          <p:cNvSpPr>
            <a:spLocks noGrp="1"/>
          </p:cNvSpPr>
          <p:nvPr/>
        </p:nvSpPr>
        <p:spPr>
          <a:xfrm>
            <a:off x="4438650" y="92392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POWER BI</a:t>
            </a:r>
          </a:p>
        </p:txBody>
      </p:sp>
      <p:sp>
        <p:nvSpPr>
          <p:cNvPr id="43" name="scope-4-body">
            <a:extLst>
              <a:ext uri="{FF2B5EF4-FFF2-40B4-BE49-F238E27FC236}">
                <a16:creationId xmlns:a16="http://schemas.microsoft.com/office/drawing/2014/main" id="{5352A041-3109-4679-9A64-167491317005}"/>
              </a:ext>
            </a:extLst>
          </p:cNvPr>
          <p:cNvSpPr>
            <a:spLocks noGrp="1"/>
          </p:cNvSpPr>
          <p:nvPr/>
        </p:nvSpPr>
        <p:spPr>
          <a:xfrm>
            <a:off x="4438650" y="95440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Three interactive dashboard views</a:t>
            </a:r>
          </a:p>
        </p:txBody>
      </p:sp>
      <p:sp>
        <p:nvSpPr>
          <p:cNvPr id="44" name="scope-5">
            <a:extLst>
              <a:ext uri="{FF2B5EF4-FFF2-40B4-BE49-F238E27FC236}">
                <a16:creationId xmlns:a16="http://schemas.microsoft.com/office/drawing/2014/main" id="{922B5DD2-FEAB-45F7-B001-832E500B05C2}"/>
              </a:ext>
            </a:extLst>
          </p:cNvPr>
          <p:cNvSpPr>
            <a:spLocks noGrp="1"/>
          </p:cNvSpPr>
          <p:nvPr/>
        </p:nvSpPr>
        <p:spPr>
          <a:xfrm>
            <a:off x="6743700" y="90678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6EDF7"/>
            </a:solidFill>
            <a:prstDash val="solid"/>
          </a:ln>
        </p:spPr>
      </p:sp>
      <p:sp>
        <p:nvSpPr>
          <p:cNvPr id="45" name="scope-5-number-bg">
            <a:extLst>
              <a:ext uri="{FF2B5EF4-FFF2-40B4-BE49-F238E27FC236}">
                <a16:creationId xmlns:a16="http://schemas.microsoft.com/office/drawing/2014/main" id="{B864742D-8C11-47ED-B2BC-3441323EDF90}"/>
              </a:ext>
            </a:extLst>
          </p:cNvPr>
          <p:cNvSpPr>
            <a:spLocks noGrp="1"/>
          </p:cNvSpPr>
          <p:nvPr/>
        </p:nvSpPr>
        <p:spPr>
          <a:xfrm>
            <a:off x="6915150" y="9239250"/>
            <a:ext cx="400050" cy="400050"/>
          </a:xfrm>
          <a:prstGeom prst="ellipse">
            <a:avLst/>
          </a:prstGeom>
          <a:solidFill>
            <a:srgbClr val="D20A16"/>
          </a:solidFill>
          <a:ln w="0">
            <a:noFill/>
            <a:prstDash val="solid"/>
          </a:ln>
        </p:spPr>
      </p:sp>
      <p:sp>
        <p:nvSpPr>
          <p:cNvPr id="46" name="scope-5-number">
            <a:extLst>
              <a:ext uri="{FF2B5EF4-FFF2-40B4-BE49-F238E27FC236}">
                <a16:creationId xmlns:a16="http://schemas.microsoft.com/office/drawing/2014/main" id="{0A328DEE-42D9-4CB2-92AE-854B67465239}"/>
              </a:ext>
            </a:extLst>
          </p:cNvPr>
          <p:cNvSpPr>
            <a:spLocks noGrp="1"/>
          </p:cNvSpPr>
          <p:nvPr/>
        </p:nvSpPr>
        <p:spPr>
          <a:xfrm>
            <a:off x="6915150" y="93440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scope-5-title">
            <a:extLst>
              <a:ext uri="{FF2B5EF4-FFF2-40B4-BE49-F238E27FC236}">
                <a16:creationId xmlns:a16="http://schemas.microsoft.com/office/drawing/2014/main" id="{F89542B9-3448-41C5-8218-F63E6BC1F22C}"/>
              </a:ext>
            </a:extLst>
          </p:cNvPr>
          <p:cNvSpPr>
            <a:spLocks noGrp="1"/>
          </p:cNvSpPr>
          <p:nvPr/>
        </p:nvSpPr>
        <p:spPr>
          <a:xfrm>
            <a:off x="7467600" y="92392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82653"/>
                </a:solidFill>
              </a:defRPr>
            </a:pPr>
            <a:r>
              <a:rPr sz="1125" b="1">
                <a:solidFill>
                  <a:srgbClr val="082653"/>
                </a:solidFill>
              </a:rPr>
              <a:t>REPORT &amp; STORY</a:t>
            </a:r>
          </a:p>
        </p:txBody>
      </p:sp>
      <p:sp>
        <p:nvSpPr>
          <p:cNvPr id="48" name="scope-5-body">
            <a:extLst>
              <a:ext uri="{FF2B5EF4-FFF2-40B4-BE49-F238E27FC236}">
                <a16:creationId xmlns:a16="http://schemas.microsoft.com/office/drawing/2014/main" id="{4E2E12E7-BC31-42D3-A43D-C87C6FEB1870}"/>
              </a:ext>
            </a:extLst>
          </p:cNvPr>
          <p:cNvSpPr>
            <a:spLocks noGrp="1"/>
          </p:cNvSpPr>
          <p:nvPr/>
        </p:nvSpPr>
        <p:spPr>
          <a:xfrm>
            <a:off x="7467600" y="95440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1E2D42"/>
                </a:solidFill>
              </a:defRPr>
            </a:pPr>
            <a:r>
              <a:rPr sz="975">
                <a:solidFill>
                  <a:srgbClr val="1E2D42"/>
                </a:solidFill>
              </a:rPr>
              <a:t>Arabic report and business narrative</a:t>
            </a:r>
          </a:p>
        </p:txBody>
      </p:sp>
      <p:sp>
        <p:nvSpPr>
          <p:cNvPr id="49" name="project-pipeline">
            <a:extLst>
              <a:ext uri="{FF2B5EF4-FFF2-40B4-BE49-F238E27FC236}">
                <a16:creationId xmlns:a16="http://schemas.microsoft.com/office/drawing/2014/main" id="{90D5FDC2-16E9-43E0-BE69-B384907CABFD}"/>
              </a:ext>
            </a:extLst>
          </p:cNvPr>
          <p:cNvSpPr>
            <a:spLocks noGrp="1"/>
          </p:cNvSpPr>
          <p:nvPr/>
        </p:nvSpPr>
        <p:spPr>
          <a:xfrm>
            <a:off x="685800" y="10477500"/>
            <a:ext cx="8915400" cy="1066800"/>
          </a:xfrm>
          <a:prstGeom prst="roundRect">
            <a:avLst>
              <a:gd name="adj" fmla="val 7143"/>
            </a:avLst>
          </a:prstGeom>
          <a:solidFill>
            <a:srgbClr val="EAF2FD"/>
          </a:solidFill>
          <a:ln w="9525">
            <a:solidFill>
              <a:srgbClr val="2F80ED"/>
            </a:solidFill>
            <a:prstDash val="solid"/>
          </a:ln>
        </p:spPr>
      </p:sp>
      <p:sp>
        <p:nvSpPr>
          <p:cNvPr id="50" name="pipeline-label">
            <a:extLst>
              <a:ext uri="{FF2B5EF4-FFF2-40B4-BE49-F238E27FC236}">
                <a16:creationId xmlns:a16="http://schemas.microsoft.com/office/drawing/2014/main" id="{10E80F42-0F31-44F3-B302-B69EC158EF47}"/>
              </a:ext>
            </a:extLst>
          </p:cNvPr>
          <p:cNvSpPr>
            <a:spLocks noGrp="1"/>
          </p:cNvSpPr>
          <p:nvPr/>
        </p:nvSpPr>
        <p:spPr>
          <a:xfrm>
            <a:off x="914400" y="10648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554A3"/>
                </a:solidFill>
              </a:defRPr>
            </a:pPr>
            <a:r>
              <a:rPr sz="1050" b="1">
                <a:solidFill>
                  <a:srgbClr val="1554A3"/>
                </a:solidFill>
              </a:rPr>
              <a:t>PROJECT JOURNEY</a:t>
            </a:r>
          </a:p>
        </p:txBody>
      </p:sp>
      <p:sp>
        <p:nvSpPr>
          <p:cNvPr id="51" name="pipeline-step-0">
            <a:extLst>
              <a:ext uri="{FF2B5EF4-FFF2-40B4-BE49-F238E27FC236}">
                <a16:creationId xmlns:a16="http://schemas.microsoft.com/office/drawing/2014/main" id="{2FF6F1E8-79F3-4226-AF32-FDE4D20AAAD2}"/>
              </a:ext>
            </a:extLst>
          </p:cNvPr>
          <p:cNvSpPr>
            <a:spLocks noGrp="1"/>
          </p:cNvSpPr>
          <p:nvPr/>
        </p:nvSpPr>
        <p:spPr>
          <a:xfrm>
            <a:off x="914400" y="10972800"/>
            <a:ext cx="1257300" cy="361950"/>
          </a:xfrm>
          <a:prstGeom prst="roundRect">
            <a:avLst>
              <a:gd name="adj" fmla="val 15789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52" name="pipeline-step-0-text">
            <a:extLst>
              <a:ext uri="{FF2B5EF4-FFF2-40B4-BE49-F238E27FC236}">
                <a16:creationId xmlns:a16="http://schemas.microsoft.com/office/drawing/2014/main" id="{F19B226F-3BF1-43A8-AF5E-C09A6930EA98}"/>
              </a:ext>
            </a:extLst>
          </p:cNvPr>
          <p:cNvSpPr>
            <a:spLocks noGrp="1"/>
          </p:cNvSpPr>
          <p:nvPr/>
        </p:nvSpPr>
        <p:spPr>
          <a:xfrm>
            <a:off x="990600" y="110680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53" name="pipeline-arrow-0">
            <a:extLst>
              <a:ext uri="{FF2B5EF4-FFF2-40B4-BE49-F238E27FC236}">
                <a16:creationId xmlns:a16="http://schemas.microsoft.com/office/drawing/2014/main" id="{44B2B4B2-6DC8-4987-B343-F3C58F40F649}"/>
              </a:ext>
            </a:extLst>
          </p:cNvPr>
          <p:cNvSpPr>
            <a:spLocks noGrp="1"/>
          </p:cNvSpPr>
          <p:nvPr/>
        </p:nvSpPr>
        <p:spPr>
          <a:xfrm>
            <a:off x="2228850" y="1102042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554A3"/>
                </a:solidFill>
              </a:defRPr>
            </a:pPr>
            <a:r>
              <a:rPr sz="1650" b="1">
                <a:solidFill>
                  <a:srgbClr val="1554A3"/>
                </a:solidFill>
              </a:rPr>
              <a:t>&gt;</a:t>
            </a:r>
          </a:p>
        </p:txBody>
      </p:sp>
      <p:sp>
        <p:nvSpPr>
          <p:cNvPr id="54" name="pipeline-step-1">
            <a:extLst>
              <a:ext uri="{FF2B5EF4-FFF2-40B4-BE49-F238E27FC236}">
                <a16:creationId xmlns:a16="http://schemas.microsoft.com/office/drawing/2014/main" id="{24D69AC9-AF75-4BAF-B7CC-D8231D1996EC}"/>
              </a:ext>
            </a:extLst>
          </p:cNvPr>
          <p:cNvSpPr>
            <a:spLocks noGrp="1"/>
          </p:cNvSpPr>
          <p:nvPr/>
        </p:nvSpPr>
        <p:spPr>
          <a:xfrm>
            <a:off x="2590800" y="10972800"/>
            <a:ext cx="1257300" cy="361950"/>
          </a:xfrm>
          <a:prstGeom prst="roundRect">
            <a:avLst>
              <a:gd name="adj" fmla="val 15789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55" name="pipeline-step-1-text">
            <a:extLst>
              <a:ext uri="{FF2B5EF4-FFF2-40B4-BE49-F238E27FC236}">
                <a16:creationId xmlns:a16="http://schemas.microsoft.com/office/drawing/2014/main" id="{9786026B-03D7-424C-A322-A5DAC9D33C62}"/>
              </a:ext>
            </a:extLst>
          </p:cNvPr>
          <p:cNvSpPr>
            <a:spLocks noGrp="1"/>
          </p:cNvSpPr>
          <p:nvPr/>
        </p:nvSpPr>
        <p:spPr>
          <a:xfrm>
            <a:off x="2667000" y="110680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56" name="pipeline-arrow-1">
            <a:extLst>
              <a:ext uri="{FF2B5EF4-FFF2-40B4-BE49-F238E27FC236}">
                <a16:creationId xmlns:a16="http://schemas.microsoft.com/office/drawing/2014/main" id="{1BC244EB-05FB-43B9-B194-0DB012F050CF}"/>
              </a:ext>
            </a:extLst>
          </p:cNvPr>
          <p:cNvSpPr>
            <a:spLocks noGrp="1"/>
          </p:cNvSpPr>
          <p:nvPr/>
        </p:nvSpPr>
        <p:spPr>
          <a:xfrm>
            <a:off x="3905250" y="1102042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554A3"/>
                </a:solidFill>
              </a:defRPr>
            </a:pPr>
            <a:r>
              <a:rPr sz="1650" b="1">
                <a:solidFill>
                  <a:srgbClr val="1554A3"/>
                </a:solidFill>
              </a:rPr>
              <a:t>&gt;</a:t>
            </a:r>
          </a:p>
        </p:txBody>
      </p:sp>
      <p:sp>
        <p:nvSpPr>
          <p:cNvPr id="57" name="pipeline-step-2">
            <a:extLst>
              <a:ext uri="{FF2B5EF4-FFF2-40B4-BE49-F238E27FC236}">
                <a16:creationId xmlns:a16="http://schemas.microsoft.com/office/drawing/2014/main" id="{0F982F09-736A-4B0F-9E48-90900783D5E3}"/>
              </a:ext>
            </a:extLst>
          </p:cNvPr>
          <p:cNvSpPr>
            <a:spLocks noGrp="1"/>
          </p:cNvSpPr>
          <p:nvPr/>
        </p:nvSpPr>
        <p:spPr>
          <a:xfrm>
            <a:off x="4267200" y="10972800"/>
            <a:ext cx="1257300" cy="361950"/>
          </a:xfrm>
          <a:prstGeom prst="roundRect">
            <a:avLst>
              <a:gd name="adj" fmla="val 15789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58" name="pipeline-step-2-text">
            <a:extLst>
              <a:ext uri="{FF2B5EF4-FFF2-40B4-BE49-F238E27FC236}">
                <a16:creationId xmlns:a16="http://schemas.microsoft.com/office/drawing/2014/main" id="{ADC2C480-679A-43FF-9C98-1332F978D7C7}"/>
              </a:ext>
            </a:extLst>
          </p:cNvPr>
          <p:cNvSpPr>
            <a:spLocks noGrp="1"/>
          </p:cNvSpPr>
          <p:nvPr/>
        </p:nvSpPr>
        <p:spPr>
          <a:xfrm>
            <a:off x="4343400" y="110680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59" name="pipeline-arrow-2">
            <a:extLst>
              <a:ext uri="{FF2B5EF4-FFF2-40B4-BE49-F238E27FC236}">
                <a16:creationId xmlns:a16="http://schemas.microsoft.com/office/drawing/2014/main" id="{FC3E9B91-171E-49FF-8439-9B6834C22D85}"/>
              </a:ext>
            </a:extLst>
          </p:cNvPr>
          <p:cNvSpPr>
            <a:spLocks noGrp="1"/>
          </p:cNvSpPr>
          <p:nvPr/>
        </p:nvSpPr>
        <p:spPr>
          <a:xfrm>
            <a:off x="5581650" y="1102042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554A3"/>
                </a:solidFill>
              </a:defRPr>
            </a:pPr>
            <a:r>
              <a:rPr sz="1650" b="1">
                <a:solidFill>
                  <a:srgbClr val="1554A3"/>
                </a:solidFill>
              </a:rPr>
              <a:t>&gt;</a:t>
            </a:r>
          </a:p>
        </p:txBody>
      </p:sp>
      <p:sp>
        <p:nvSpPr>
          <p:cNvPr id="60" name="pipeline-step-3">
            <a:extLst>
              <a:ext uri="{FF2B5EF4-FFF2-40B4-BE49-F238E27FC236}">
                <a16:creationId xmlns:a16="http://schemas.microsoft.com/office/drawing/2014/main" id="{BD43039A-E3D3-453F-9AC7-C53774C01644}"/>
              </a:ext>
            </a:extLst>
          </p:cNvPr>
          <p:cNvSpPr>
            <a:spLocks noGrp="1"/>
          </p:cNvSpPr>
          <p:nvPr/>
        </p:nvSpPr>
        <p:spPr>
          <a:xfrm>
            <a:off x="5943600" y="10972800"/>
            <a:ext cx="1257300" cy="361950"/>
          </a:xfrm>
          <a:prstGeom prst="roundRect">
            <a:avLst>
              <a:gd name="adj" fmla="val 15789"/>
            </a:avLst>
          </a:prstGeom>
          <a:solidFill>
            <a:srgbClr val="082653"/>
          </a:solidFill>
          <a:ln w="0">
            <a:noFill/>
            <a:prstDash val="solid"/>
          </a:ln>
        </p:spPr>
      </p:sp>
      <p:sp>
        <p:nvSpPr>
          <p:cNvPr id="61" name="pipeline-step-3-text">
            <a:extLst>
              <a:ext uri="{FF2B5EF4-FFF2-40B4-BE49-F238E27FC236}">
                <a16:creationId xmlns:a16="http://schemas.microsoft.com/office/drawing/2014/main" id="{18B81233-8FB3-4782-8354-6B7626018CC2}"/>
              </a:ext>
            </a:extLst>
          </p:cNvPr>
          <p:cNvSpPr>
            <a:spLocks noGrp="1"/>
          </p:cNvSpPr>
          <p:nvPr/>
        </p:nvSpPr>
        <p:spPr>
          <a:xfrm>
            <a:off x="6019800" y="110680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62" name="pipeline-arrow-3">
            <a:extLst>
              <a:ext uri="{FF2B5EF4-FFF2-40B4-BE49-F238E27FC236}">
                <a16:creationId xmlns:a16="http://schemas.microsoft.com/office/drawing/2014/main" id="{9AFB10E0-3F2F-4808-932D-D0CEF1C9D6A0}"/>
              </a:ext>
            </a:extLst>
          </p:cNvPr>
          <p:cNvSpPr>
            <a:spLocks noGrp="1"/>
          </p:cNvSpPr>
          <p:nvPr/>
        </p:nvSpPr>
        <p:spPr>
          <a:xfrm>
            <a:off x="7258050" y="11020425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554A3"/>
                </a:solidFill>
              </a:defRPr>
            </a:pPr>
            <a:r>
              <a:rPr sz="1650" b="1">
                <a:solidFill>
                  <a:srgbClr val="1554A3"/>
                </a:solidFill>
              </a:rPr>
              <a:t>&gt;</a:t>
            </a:r>
          </a:p>
        </p:txBody>
      </p:sp>
      <p:sp>
        <p:nvSpPr>
          <p:cNvPr id="63" name="pipeline-step-4">
            <a:extLst>
              <a:ext uri="{FF2B5EF4-FFF2-40B4-BE49-F238E27FC236}">
                <a16:creationId xmlns:a16="http://schemas.microsoft.com/office/drawing/2014/main" id="{80EE0091-033D-4F3B-9DB1-6B417A2D8F68}"/>
              </a:ext>
            </a:extLst>
          </p:cNvPr>
          <p:cNvSpPr>
            <a:spLocks noGrp="1"/>
          </p:cNvSpPr>
          <p:nvPr/>
        </p:nvSpPr>
        <p:spPr>
          <a:xfrm>
            <a:off x="7620000" y="10972800"/>
            <a:ext cx="1257300" cy="361950"/>
          </a:xfrm>
          <a:prstGeom prst="roundRect">
            <a:avLst>
              <a:gd name="adj" fmla="val 15789"/>
            </a:avLst>
          </a:prstGeom>
          <a:solidFill>
            <a:srgbClr val="F47B2A"/>
          </a:solidFill>
          <a:ln w="0">
            <a:noFill/>
            <a:prstDash val="solid"/>
          </a:ln>
        </p:spPr>
      </p:sp>
      <p:sp>
        <p:nvSpPr>
          <p:cNvPr id="64" name="pipeline-step-4-text">
            <a:extLst>
              <a:ext uri="{FF2B5EF4-FFF2-40B4-BE49-F238E27FC236}">
                <a16:creationId xmlns:a16="http://schemas.microsoft.com/office/drawing/2014/main" id="{D4237A27-D1B9-4B99-A346-AD08D2CFC8DB}"/>
              </a:ext>
            </a:extLst>
          </p:cNvPr>
          <p:cNvSpPr>
            <a:spLocks noGrp="1"/>
          </p:cNvSpPr>
          <p:nvPr/>
        </p:nvSpPr>
        <p:spPr>
          <a:xfrm>
            <a:off x="7696200" y="110680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DECISIONS</a:t>
            </a:r>
          </a:p>
        </p:txBody>
      </p:sp>
      <p:sp>
        <p:nvSpPr>
          <p:cNvPr id="65" name="slide-08-footer-left">
            <a:extLst>
              <a:ext uri="{FF2B5EF4-FFF2-40B4-BE49-F238E27FC236}">
                <a16:creationId xmlns:a16="http://schemas.microsoft.com/office/drawing/2014/main" id="{1D3E8C68-B130-453F-95B4-712C93D1C3C8}"/>
              </a:ext>
            </a:extLst>
          </p:cNvPr>
          <p:cNvSpPr>
            <a:spLocks noGrp="1"/>
          </p:cNvSpPr>
          <p:nvPr/>
        </p:nvSpPr>
        <p:spPr>
          <a:xfrm>
            <a:off x="685800" y="122682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2653"/>
                </a:solidFill>
              </a:defRPr>
            </a:pPr>
            <a:r>
              <a:rPr sz="1200" b="1">
                <a:solidFill>
                  <a:srgbClr val="082653"/>
                </a:solidFill>
              </a:rPr>
              <a:t>TRANSPORTATION &amp; LOGISTICS ANALYTICS</a:t>
            </a:r>
          </a:p>
        </p:txBody>
      </p:sp>
      <p:sp>
        <p:nvSpPr>
          <p:cNvPr id="66" name="slide-08-footer-right">
            <a:extLst>
              <a:ext uri="{FF2B5EF4-FFF2-40B4-BE49-F238E27FC236}">
                <a16:creationId xmlns:a16="http://schemas.microsoft.com/office/drawing/2014/main" id="{D2BB40A2-1C84-4C4F-85D6-0DA1CEE27673}"/>
              </a:ext>
            </a:extLst>
          </p:cNvPr>
          <p:cNvSpPr>
            <a:spLocks noGrp="1"/>
          </p:cNvSpPr>
          <p:nvPr/>
        </p:nvSpPr>
        <p:spPr>
          <a:xfrm>
            <a:off x="5715000" y="12268200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MOHAMED TAREK  |  DATA ANALYST</a:t>
            </a:r>
          </a:p>
        </p:txBody>
      </p:sp>
    </p:spTree>
    <p:extLst>
      <p:ext uri="{BB962C8B-B14F-4D97-AF65-F5344CB8AC3E}">
        <p14:creationId xmlns:p14="http://schemas.microsoft.com/office/powerpoint/2010/main" val="6518913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1614</Words>
  <Application>Microsoft Office PowerPoint</Application>
  <DocSecurity>0</DocSecurity>
  <PresentationFormat>Custom</PresentationFormat>
  <Paragraphs>286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2</cp:revision>
  <dcterms:created xsi:type="dcterms:W3CDTF">2026-08-31T14:30:48Z</dcterms:created>
  <dcterms:modified xsi:type="dcterms:W3CDTF">2026-08-31T15:29:16Z</dcterms:modified>
</cp:coreProperties>
</file>