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3901a9f10324327" /><Relationship Type="http://schemas.openxmlformats.org/officeDocument/2006/relationships/extended-properties" Target="/docProps/app.xml" Id="R02b2b50166774737" /><Relationship Type="http://schemas.openxmlformats.org/officeDocument/2006/relationships/officeDocument" Target="/ppt/presentation.xml" Id="Rea42ab94d1a84b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b47dc6a2c684711"/>
  </p:sldMasterIdLst>
  <p:notesMasterIdLst>
    <p:notesMasterId xmlns:r="http://schemas.openxmlformats.org/officeDocument/2006/relationships" r:id="R2d83094c568a4260"/>
  </p:notesMasterIdLst>
  <p:sldIdLst>
    <p:sldId xmlns:r="http://schemas.openxmlformats.org/officeDocument/2006/relationships" id="256" r:id="R8cb1a4d0c1904a7a"/>
    <p:sldId xmlns:r="http://schemas.openxmlformats.org/officeDocument/2006/relationships" id="257" r:id="R1dff0d3998b34c5e"/>
    <p:sldId xmlns:r="http://schemas.openxmlformats.org/officeDocument/2006/relationships" id="258" r:id="R66fd8177a74e4dbe"/>
    <p:sldId xmlns:r="http://schemas.openxmlformats.org/officeDocument/2006/relationships" id="259" r:id="R90596f6656c54a6a"/>
    <p:sldId xmlns:r="http://schemas.openxmlformats.org/officeDocument/2006/relationships" id="260" r:id="Rd8ed6ba010284315"/>
    <p:sldId xmlns:r="http://schemas.openxmlformats.org/officeDocument/2006/relationships" id="261" r:id="R1fc364608ae845c5"/>
    <p:sldId xmlns:r="http://schemas.openxmlformats.org/officeDocument/2006/relationships" id="262" r:id="Re44bf571238646ad"/>
    <p:sldId xmlns:r="http://schemas.openxmlformats.org/officeDocument/2006/relationships" id="263" r:id="R4d5dd9746f684026"/>
  </p:sldIdLst>
  <p:sldSz cx="10287000" cy="128587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4913dac66244335" /><Relationship Type="http://schemas.openxmlformats.org/officeDocument/2006/relationships/slideMaster" Target="/ppt/slideMasters/slideMaster1.xml" Id="R8b47dc6a2c684711" /><Relationship Type="http://schemas.openxmlformats.org/officeDocument/2006/relationships/notesMaster" Target="/ppt/notesMasters/notesMaster1.xml" Id="R2d83094c568a4260" /><Relationship Type="http://schemas.openxmlformats.org/officeDocument/2006/relationships/presProps" Target="/ppt/presProps.xml" Id="R1468de0d74974d9a" /><Relationship Type="http://schemas.openxmlformats.org/officeDocument/2006/relationships/tableStyles" Target="/ppt/tableStyles.xml" Id="R69428d6da4b64293" /><Relationship Type="http://schemas.openxmlformats.org/officeDocument/2006/relationships/slide" Target="/ppt/slides/slide1.xml" Id="R8cb1a4d0c1904a7a" /><Relationship Type="http://schemas.openxmlformats.org/officeDocument/2006/relationships/slide" Target="/ppt/slides/slide2.xml" Id="R1dff0d3998b34c5e" /><Relationship Type="http://schemas.openxmlformats.org/officeDocument/2006/relationships/slide" Target="/ppt/slides/slide3.xml" Id="R66fd8177a74e4dbe" /><Relationship Type="http://schemas.openxmlformats.org/officeDocument/2006/relationships/slide" Target="/ppt/slides/slide4.xml" Id="R90596f6656c54a6a" /><Relationship Type="http://schemas.openxmlformats.org/officeDocument/2006/relationships/slide" Target="/ppt/slides/slide5.xml" Id="Rd8ed6ba010284315" /><Relationship Type="http://schemas.openxmlformats.org/officeDocument/2006/relationships/slide" Target="/ppt/slides/slide6.xml" Id="R1fc364608ae845c5" /><Relationship Type="http://schemas.openxmlformats.org/officeDocument/2006/relationships/slide" Target="/ppt/slides/slide7.xml" Id="Re44bf571238646ad" /><Relationship Type="http://schemas.openxmlformats.org/officeDocument/2006/relationships/slide" Target="/ppt/slides/slide8.xml" Id="R4d5dd9746f68402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cc4c93a8fda45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44c2760ca044300" /><Relationship Type="http://schemas.openxmlformats.org/officeDocument/2006/relationships/notesMaster" Target="/ppt/notesMasters/notesMaster1.xml" Id="R36be4630aa4b44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afba09057d4ad6" /><Relationship Type="http://schemas.openxmlformats.org/officeDocument/2006/relationships/notesMaster" Target="/ppt/notesMasters/notesMaster1.xml" Id="Rea49d35131c9442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c2f674ddd78434b" /><Relationship Type="http://schemas.openxmlformats.org/officeDocument/2006/relationships/notesMaster" Target="/ppt/notesMasters/notesMaster1.xml" Id="Reafd55e3ee0f48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70dd24d38164f6d" /><Relationship Type="http://schemas.openxmlformats.org/officeDocument/2006/relationships/notesMaster" Target="/ppt/notesMasters/notesMaster1.xml" Id="Rd604fa5b56f448a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a4bee9387945a6" /><Relationship Type="http://schemas.openxmlformats.org/officeDocument/2006/relationships/notesMaster" Target="/ppt/notesMasters/notesMaster1.xml" Id="Ra4ed5af956b94b7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0d544b318584bb7" /><Relationship Type="http://schemas.openxmlformats.org/officeDocument/2006/relationships/notesMaster" Target="/ppt/notesMasters/notesMaster1.xml" Id="R8a55a60f2d844f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3ac186f5a1b4001" /><Relationship Type="http://schemas.openxmlformats.org/officeDocument/2006/relationships/notesMaster" Target="/ppt/notesMasters/notesMaster1.xml" Id="R374221929424476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cc011bd5629409b" /><Relationship Type="http://schemas.openxmlformats.org/officeDocument/2006/relationships/notesMaster" Target="/ppt/notesMasters/notesMaster1.xml" Id="Re2f46a4d0a4e4d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BI dashboard image: Power BI/Screenshot 2026-08-31 111930.png</a:t>
            </a:r>
          </a:p>
          <a:p xmlns:a="http://schemas.openxmlformats.org/drawingml/2006/main">
            <a:r>
              <a:t>- Cleaned dataset: cleaned_transportation_logistics_data.xlsx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Logistics_EDA.ipynb: project scope, analytical dimensions, and business questions</a:t>
            </a:r>
          </a:p>
          <a:p xmlns:a="http://schemas.openxmlformats.org/drawingml/2006/main">
            <a:r>
              <a:t>- cleaned_transportation_logistics_data.xlsx: shipment, supplier, customer, vehicle, route, and GPS fields</a:t>
            </a:r>
          </a:p>
          <a:p xmlns:a="http://schemas.openxmlformats.org/drawingml/2006/main">
            <a:r>
              <a:t>- storytelling.txt: business-problem narrative</a:t>
            </a:r>
          </a:p>
          <a:p xmlns:a="http://schemas.openxmlformats.org/drawingml/2006/main">
            <a:r>
              <a:t>- AI-generated conceptual logistics bottleneck visual created for this case study; no factual claims are encoded in the image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cleaned_transportation_logistics_data.xlsx: 6,773 total records; 4,263 delayed; 2,510 on-time</a:t>
            </a:r>
          </a:p>
          <a:p xmlns:a="http://schemas.openxmlformats.org/drawingml/2006/main">
            <a:r>
              <a:t>- Logistics_EDA.ipynb: delivery-status definition and delay analysis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Project_ERD.html: complete 13-table entity relationship model and documented relationships</a:t>
            </a:r>
          </a:p>
          <a:p xmlns:a="http://schemas.openxmlformats.org/drawingml/2006/main">
            <a:r>
              <a:t>- SQL/SQL_Script_Final.sql: final SQL Server schema and Q1-Q10 analytical queries</a:t>
            </a:r>
          </a:p>
          <a:p xmlns:a="http://schemas.openxmlformats.org/drawingml/2006/main">
            <a:r>
              <a:t>- SQL/Tables/*.csv: source tables used by the relational database</a:t>
            </a:r>
          </a:p>
          <a:p xmlns:a="http://schemas.openxmlformats.org/drawingml/2006/main">
            <a:r>
              <a:t>- Note: TrackingEvents, DeliveryAttempts, Payments, and ProofOfDelivery are assumed/demo transactional data used to test the proposed database and query layer; they are separate from the historical EDA KPI dataset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Power BI/⏱️ Delay Analysis.png: Delay Analysis dashboard page</a:t>
            </a:r>
          </a:p>
          <a:p xmlns:a="http://schemas.openxmlformats.org/drawingml/2006/main">
            <a:r>
              <a:t>- Power BI/🚛 Suppliers &amp; Customers.png: Suppliers and Customers dashboard page</a:t>
            </a:r>
          </a:p>
          <a:p xmlns:a="http://schemas.openxmlformats.org/drawingml/2006/main">
            <a:r>
              <a:t>- Power BI/📡🚗 Fleet &amp; GPS.png: Fleet and GPS dashboard page</a:t>
            </a:r>
          </a:p>
          <a:p xmlns:a="http://schemas.openxmlformats.org/drawingml/2006/main">
            <a:r>
              <a:t>- cleaned_transportation_logistics_data.xlsx: 6,773 shipments and March 2019–September 2020 analysis period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Power BI/⏱️ Delay Analysis.png: crisis period, distance-segment delay rates, and GPS-provider delay rates</a:t>
            </a:r>
          </a:p>
          <a:p xmlns:a="http://schemas.openxmlformats.org/drawingml/2006/main">
            <a:r>
              <a:t>- Power BI/📡🚗 Fleet &amp; GPS.png: vehicle-type volume and delay rates</a:t>
            </a:r>
          </a:p>
          <a:p xmlns:a="http://schemas.openxmlformats.org/drawingml/2006/main">
            <a:r>
              <a:t>- Power BI/🚛 Suppliers &amp; Customers.png: supplier and customer delay rates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Power BI/⏱️ Delay Analysis.png: distance and GPS-provider risk evidence</a:t>
            </a:r>
          </a:p>
          <a:p xmlns:a="http://schemas.openxmlformats.org/drawingml/2006/main">
            <a:r>
              <a:t>- Power BI/📡🚗 Fleet &amp; GPS.png: vehicle-type delay evidence</a:t>
            </a:r>
          </a:p>
          <a:p xmlns:a="http://schemas.openxmlformats.org/drawingml/2006/main">
            <a:r>
              <a:t>- Power BI/🚛 Suppliers &amp; Customers.png: partner delay evidence and 737 unknown supplier records</a:t>
            </a:r>
          </a:p>
          <a:p xmlns:a="http://schemas.openxmlformats.org/drawingml/2006/main">
            <a:r>
              <a:t>- Recommendations are analytical proposals derived from the documented findings; no unverified performance targets are asserted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GitHub repository URL provided by the project author: https://github.com/Mohamedtarek00212/Transportation-Logistics</a:t>
            </a:r>
          </a:p>
          <a:p xmlns:a="http://schemas.openxmlformats.org/drawingml/2006/main">
            <a:r>
              <a:t>- Repository checked on 2026-08-31 and was empty at the time of slide creation; upload project assets before publishing the case study</a:t>
            </a:r>
          </a:p>
          <a:p xmlns:a="http://schemas.openxmlformats.org/drawingml/2006/main">
            <a:r>
              <a:t>- Project scope derived from the user-provided notebook, cleaned dataset, SQL files, screenshots, report, and storytelling file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9b25de095540c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f95d5be822245b6" /><Relationship Type="http://schemas.openxmlformats.org/officeDocument/2006/relationships/slideLayout" Target="/ppt/slideLayouts/slideLayout1.xml" Id="R1491831a5a6c47b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91831a5a6c47b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2c65080fb8484a" /><Relationship Type="http://schemas.openxmlformats.org/officeDocument/2006/relationships/image" Target="/ppt/media/image.png" Id="Rfb5dfbc8456143f9" /><Relationship Type="http://schemas.openxmlformats.org/officeDocument/2006/relationships/notesSlide" Target="/ppt/notesSlides/notesSlide1.xml" Id="R93875d3de102476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37ac74bd784704" /><Relationship Type="http://schemas.openxmlformats.org/officeDocument/2006/relationships/image" Target="/ppt/media/image2.png" Id="Rc45c73d3cdbd451f" /><Relationship Type="http://schemas.openxmlformats.org/officeDocument/2006/relationships/notesSlide" Target="/ppt/notesSlides/notesSlide2.xml" Id="Rd7ae590bedbc411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26acd2cbbc4971" /><Relationship Type="http://schemas.openxmlformats.org/officeDocument/2006/relationships/chart" Target="/ppt/slides/charts/chart1.xml" Id="Re06a329631254c5c" /><Relationship Type="http://schemas.openxmlformats.org/officeDocument/2006/relationships/notesSlide" Target="/ppt/notesSlides/notesSlide3.xml" Id="Rfe07e6029efe4e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fe5aac798f4983" /><Relationship Type="http://schemas.openxmlformats.org/officeDocument/2006/relationships/notesSlide" Target="/ppt/notesSlides/notesSlide4.xml" Id="R1a5cd9d2474f4b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aefbc777f649c3" /><Relationship Type="http://schemas.openxmlformats.org/officeDocument/2006/relationships/image" Target="/ppt/media/image3.png" Id="Rfd032fb2e46f43c0" /><Relationship Type="http://schemas.openxmlformats.org/officeDocument/2006/relationships/image" Target="/ppt/media/image4.png" Id="R3b3d83c22aaf43bf" /><Relationship Type="http://schemas.openxmlformats.org/officeDocument/2006/relationships/image" Target="/ppt/media/image5.png" Id="R893c65a60a404a9f" /><Relationship Type="http://schemas.openxmlformats.org/officeDocument/2006/relationships/notesSlide" Target="/ppt/notesSlides/notesSlide5.xml" Id="R687cac00947b465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90d0e0281a4aa5" /><Relationship Type="http://schemas.openxmlformats.org/officeDocument/2006/relationships/notesSlide" Target="/ppt/notesSlides/notesSlide6.xml" Id="Rdb3886a9231349a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8093b2d2094fb5" /><Relationship Type="http://schemas.openxmlformats.org/officeDocument/2006/relationships/notesSlide" Target="/ppt/notesSlides/notesSlide7.xml" Id="Rca47be9bf5a349d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c12f4470884e18" /><Relationship Type="http://schemas.openxmlformats.org/officeDocument/2006/relationships/notesSlide" Target="/ppt/notesSlides/notesSlide8.xml" Id="Rd0c8c3a34ab24aa9" /></Relationships>
</file>

<file path=ppt/slides/charts/chart1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Shipments</c:v>
          </c:tx>
          <c:dPt>
            <c:idx val="0"/>
            <c:spPr>
              <a:solidFill xmlns:a="http://schemas.openxmlformats.org/drawingml/2006/main">
                <a:srgbClr val="D20A16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3F6B2A"/>
              </a:solidFill>
              <a:ln xmlns:a="http://schemas.openxmlformats.org/drawingml/2006/main" w="9525">
                <a:solidFill>
                  <a:srgbClr val="FFFFFF"/>
                </a:solidFill>
                <a:prstDash val="solid"/>
              </a:ln>
            </c:spPr>
          </c:dPt>
          <c:cat>
            <c:strLit>
              <c:ptCount val="2"/>
              <c:pt idx="0">
                <c:v>Delayed</c:v>
              </c:pt>
              <c:pt idx="1">
                <c:v>On-Time</c:v>
              </c:pt>
            </c:strLit>
          </c:cat>
          <c:val>
            <c:numLit>
              <c:formatCode>General</c:formatCode>
              <c:ptCount val="2"/>
              <c:pt idx="0">
                <c:v>4263</c:v>
              </c:pt>
              <c:pt idx="1">
                <c:v>2510</c:v>
              </c:pt>
            </c:numLit>
          </c:val>
        </c:ser>
        <c:firstSliceAng val="270"/>
        <c:holeSize val="68"/>
      </c:doughnutChart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accent-line">
            <a:extLst xmlns:a="http://schemas.openxmlformats.org/drawingml/2006/main">
              <a:ext uri="{FF2B5EF4-FFF2-40B4-BE49-F238E27FC236}">
                <a16:creationId xmlns:a16="http://schemas.microsoft.com/office/drawing/2014/main" id="{87BD23A9-8672-4CCE-9F99-4C24C44B7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ase-study-eyebrow">
            <a:extLst xmlns:a="http://schemas.openxmlformats.org/drawingml/2006/main">
              <a:ext uri="{FF2B5EF4-FFF2-40B4-BE49-F238E27FC236}">
                <a16:creationId xmlns:a16="http://schemas.microsoft.com/office/drawing/2014/main" id="{F2DB25D6-B9A1-4B84-AD64-F411AC74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END-TO-END DATA ANALYTICS &amp; BI CASE STUDY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7D7B327-3020-43D2-BDFE-AF8C094F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01 / 08</a:t>
            </a:r>
          </a:p>
        </p:txBody>
      </p:sp>
      <p:sp>
        <p:nvSpPr>
          <p:cNvPr id="4" name="title-line-one">
            <a:extLst xmlns:a="http://schemas.openxmlformats.org/drawingml/2006/main">
              <a:ext uri="{FF2B5EF4-FFF2-40B4-BE49-F238E27FC236}">
                <a16:creationId xmlns:a16="http://schemas.microsoft.com/office/drawing/2014/main" id="{E1756592-7B68-4F6F-9470-9AE65EEE8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275" b="1">
                <a:solidFill>
                  <a:srgbClr val="082653"/>
                </a:solidFill>
              </a:defRPr>
            </a:pPr>
            <a:r>
              <a:rPr sz="4275" b="1">
                <a:solidFill>
                  <a:srgbClr val="082653"/>
                </a:solidFill>
              </a:rPr>
              <a:t>TRANSPORTATION &amp;</a:t>
            </a:r>
          </a:p>
        </p:txBody>
      </p:sp>
      <p:sp>
        <p:nvSpPr>
          <p:cNvPr id="5" name="title-line-two">
            <a:extLst xmlns:a="http://schemas.openxmlformats.org/drawingml/2006/main">
              <a:ext uri="{FF2B5EF4-FFF2-40B4-BE49-F238E27FC236}">
                <a16:creationId xmlns:a16="http://schemas.microsoft.com/office/drawing/2014/main" id="{AE3851BC-7FED-48E8-B54D-41F576AC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300" b="1">
                <a:solidFill>
                  <a:srgbClr val="1554A3"/>
                </a:solidFill>
              </a:defRPr>
            </a:pPr>
            <a:r>
              <a:rPr sz="6300" b="1">
                <a:solidFill>
                  <a:srgbClr val="1554A3"/>
                </a:solidFill>
              </a:rPr>
              <a:t>LOGISTICS</a:t>
            </a:r>
          </a:p>
        </p:txBody>
      </p:sp>
      <p:sp>
        <p:nvSpPr>
          <p:cNvPr id="6" name="title-line-three">
            <a:extLst xmlns:a="http://schemas.openxmlformats.org/drawingml/2006/main">
              <a:ext uri="{FF2B5EF4-FFF2-40B4-BE49-F238E27FC236}">
                <a16:creationId xmlns:a16="http://schemas.microsoft.com/office/drawing/2014/main" id="{7021871A-592A-41E1-9D26-E22391B64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857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E2D42"/>
                </a:solidFill>
              </a:defRPr>
            </a:pPr>
            <a:r>
              <a:rPr sz="3750" b="1">
                <a:solidFill>
                  <a:srgbClr val="1E2D42"/>
                </a:solidFill>
              </a:rPr>
              <a:t>ANALYTICS DASHBOARD</a:t>
            </a:r>
          </a:p>
        </p:txBody>
      </p:sp>
      <p:sp>
        <p:nvSpPr>
          <p:cNvPr id="7" name="subtitle">
            <a:extLst xmlns:a="http://schemas.openxmlformats.org/drawingml/2006/main">
              <a:ext uri="{FF2B5EF4-FFF2-40B4-BE49-F238E27FC236}">
                <a16:creationId xmlns:a16="http://schemas.microsoft.com/office/drawing/2014/main" id="{393B686D-EE70-4747-9213-6FB73722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857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E2D42"/>
                </a:solidFill>
              </a:defRPr>
            </a:pPr>
            <a:r>
              <a:rPr sz="1950">
                <a:solidFill>
                  <a:srgbClr val="1E2D42"/>
                </a:solidFill>
              </a:rPr>
              <a:t>Exploring shipment delays, operational bottlenecks, and performance drivers through data.</a:t>
            </a:r>
          </a:p>
        </p:txBody>
      </p:sp>
      <p:sp>
        <p:nvSpPr>
          <p:cNvPr id="8" name="metadata-rule">
            <a:extLst xmlns:a="http://schemas.openxmlformats.org/drawingml/2006/main">
              <a:ext uri="{FF2B5EF4-FFF2-40B4-BE49-F238E27FC236}">
                <a16:creationId xmlns:a16="http://schemas.microsoft.com/office/drawing/2014/main" id="{F798A3D6-8498-42BD-8714-DEC87B51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8915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eriod-and-volume">
            <a:extLst xmlns:a="http://schemas.openxmlformats.org/drawingml/2006/main">
              <a:ext uri="{FF2B5EF4-FFF2-40B4-BE49-F238E27FC236}">
                <a16:creationId xmlns:a16="http://schemas.microsoft.com/office/drawing/2014/main" id="{0F849091-AE63-46C9-9E7B-AA4A2D156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581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6,773 SHIPMENTS  |  MARCH 2019 - SEPTEMBER 2020</a:t>
            </a:r>
          </a:p>
        </p:txBody>
      </p:sp>
      <p:sp>
        <p:nvSpPr>
          <p:cNvPr id="10" name="tools">
            <a:extLst xmlns:a="http://schemas.openxmlformats.org/drawingml/2006/main">
              <a:ext uri="{FF2B5EF4-FFF2-40B4-BE49-F238E27FC236}">
                <a16:creationId xmlns:a16="http://schemas.microsoft.com/office/drawing/2014/main" id="{487804DC-874F-4165-8399-2ABDF3B8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867400"/>
            <a:ext cx="302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554A3"/>
                </a:solidFill>
              </a:defRPr>
            </a:pPr>
            <a:r>
              <a:rPr sz="1425" b="1">
                <a:solidFill>
                  <a:srgbClr val="1554A3"/>
                </a:solidFill>
              </a:rPr>
              <a:t>PYTHON  |  SQL  |  POWER BI</a:t>
            </a:r>
          </a:p>
        </p:txBody>
      </p:sp>
      <p:sp>
        <p:nvSpPr>
          <p:cNvPr id="11" name="dashboard-shadow">
            <a:extLst xmlns:a="http://schemas.openxmlformats.org/drawingml/2006/main">
              <a:ext uri="{FF2B5EF4-FFF2-40B4-BE49-F238E27FC236}">
                <a16:creationId xmlns:a16="http://schemas.microsoft.com/office/drawing/2014/main" id="{4BEB6C33-983A-43B5-B151-C100596BE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762750"/>
            <a:ext cx="8915400" cy="50292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D5DFED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5dfbc8456143f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6667500"/>
            <a:ext cx="8915400" cy="5029200"/>
          </a:xfrm>
          <a:prstGeom xmlns:a="http://schemas.openxmlformats.org/drawingml/2006/main" prst="roundRect">
            <a:avLst>
              <a:gd name="adj" fmla="val 2273"/>
            </a:avLst>
          </a:prstGeom>
        </p:spPr>
      </p:pic>
      <p:sp>
        <p:nvSpPr>
          <p:cNvPr id="13" name="author">
            <a:extLst xmlns:a="http://schemas.openxmlformats.org/drawingml/2006/main">
              <a:ext uri="{FF2B5EF4-FFF2-40B4-BE49-F238E27FC236}">
                <a16:creationId xmlns:a16="http://schemas.microsoft.com/office/drawing/2014/main" id="{308DF3A2-D682-459A-9E0E-4E8E1084B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MOHAMED TAREK  |  DATA ANALYST</a:t>
            </a:r>
          </a:p>
        </p:txBody>
      </p:sp>
      <p:sp>
        <p:nvSpPr>
          <p:cNvPr id="14" name="github">
            <a:extLst xmlns:a="http://schemas.openxmlformats.org/drawingml/2006/main">
              <a:ext uri="{FF2B5EF4-FFF2-40B4-BE49-F238E27FC236}">
                <a16:creationId xmlns:a16="http://schemas.microsoft.com/office/drawing/2014/main" id="{A435B3AA-A7D5-4857-B673-713C01773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2192000"/>
            <a:ext cx="464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github.com/Mohamedtarek00212/Transportation-Logistics</a:t>
            </a:r>
          </a:p>
        </p:txBody>
      </p:sp>
    </p:spTree>
    <p:extLst>
      <p:ext uri="{BB962C8B-B14F-4D97-AF65-F5344CB8AC3E}">
        <p14:creationId xmlns:p14="http://schemas.microsoft.com/office/powerpoint/2010/main" val="4500481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02-accent-line">
            <a:extLst xmlns:a="http://schemas.openxmlformats.org/drawingml/2006/main">
              <a:ext uri="{FF2B5EF4-FFF2-40B4-BE49-F238E27FC236}">
                <a16:creationId xmlns:a16="http://schemas.microsoft.com/office/drawing/2014/main" id="{5A297FCE-2954-4339-89CB-386604276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2-eyebrow">
            <a:extLst xmlns:a="http://schemas.openxmlformats.org/drawingml/2006/main">
              <a:ext uri="{FF2B5EF4-FFF2-40B4-BE49-F238E27FC236}">
                <a16:creationId xmlns:a16="http://schemas.microsoft.com/office/drawing/2014/main" id="{413DF0BF-BE40-4F22-9000-4F513DD4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BUSINESS PROBLEM</a:t>
            </a:r>
          </a:p>
        </p:txBody>
      </p:sp>
      <p:sp>
        <p:nvSpPr>
          <p:cNvPr id="3" name="slide-02-number">
            <a:extLst xmlns:a="http://schemas.openxmlformats.org/drawingml/2006/main">
              <a:ext uri="{FF2B5EF4-FFF2-40B4-BE49-F238E27FC236}">
                <a16:creationId xmlns:a16="http://schemas.microsoft.com/office/drawing/2014/main" id="{81752DDE-CC16-403B-8289-1A6BD54F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8667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02 / 08</a:t>
            </a:r>
          </a:p>
        </p:txBody>
      </p:sp>
      <p:sp>
        <p:nvSpPr>
          <p:cNvPr id="4" name="slide-02-title-line-one">
            <a:extLst xmlns:a="http://schemas.openxmlformats.org/drawingml/2006/main">
              <a:ext uri="{FF2B5EF4-FFF2-40B4-BE49-F238E27FC236}">
                <a16:creationId xmlns:a16="http://schemas.microsoft.com/office/drawing/2014/main" id="{9DC19998-2066-4113-81DF-16B6DB1B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572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82653"/>
                </a:solidFill>
              </a:defRPr>
            </a:pPr>
            <a:r>
              <a:rPr sz="3900" b="1">
                <a:solidFill>
                  <a:srgbClr val="082653"/>
                </a:solidFill>
              </a:rPr>
              <a:t>WHY ARE SHIPMENTS</a:t>
            </a:r>
          </a:p>
        </p:txBody>
      </p:sp>
      <p:sp>
        <p:nvSpPr>
          <p:cNvPr id="5" name="slide-02-title-line-two">
            <a:extLst xmlns:a="http://schemas.openxmlformats.org/drawingml/2006/main">
              <a:ext uri="{FF2B5EF4-FFF2-40B4-BE49-F238E27FC236}">
                <a16:creationId xmlns:a16="http://schemas.microsoft.com/office/drawing/2014/main" id="{D3D3D00A-7905-4235-9FE8-F418543C2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90725"/>
            <a:ext cx="857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D20A16"/>
                </a:solidFill>
              </a:defRPr>
            </a:pPr>
            <a:r>
              <a:rPr sz="5550" b="1">
                <a:solidFill>
                  <a:srgbClr val="D20A16"/>
                </a:solidFill>
              </a:rPr>
              <a:t>DELAYED?</a:t>
            </a:r>
          </a:p>
        </p:txBody>
      </p:sp>
      <p:sp>
        <p:nvSpPr>
          <p:cNvPr id="6" name="slide-02-problem-copy">
            <a:extLst xmlns:a="http://schemas.openxmlformats.org/drawingml/2006/main">
              <a:ext uri="{FF2B5EF4-FFF2-40B4-BE49-F238E27FC236}">
                <a16:creationId xmlns:a16="http://schemas.microsoft.com/office/drawing/2014/main" id="{29EB1157-0890-4A4A-91B4-1A396E036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8915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E2D42"/>
                </a:solidFill>
              </a:defRPr>
            </a:pPr>
            <a:r>
              <a:rPr sz="1800">
                <a:solidFill>
                  <a:srgbClr val="1E2D42"/>
                </a:solidFill>
              </a:rPr>
              <a:t>Operational data was scattered across suppliers, vehicles, routes, GPS providers, and delivery events. Without one connected view, teams could see delays but not where the operation was breaking down.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5c73d3cdbd451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4095750"/>
            <a:ext cx="8915400" cy="7715250"/>
          </a:xfrm>
          <a:prstGeom xmlns:a="http://schemas.openxmlformats.org/drawingml/2006/main" prst="roundRect">
            <a:avLst>
              <a:gd name="adj" fmla="val 1481"/>
            </a:avLst>
          </a:prstGeom>
        </p:spPr>
      </p:pic>
      <p:sp>
        <p:nvSpPr>
          <p:cNvPr id="8" name="analysis-question-band">
            <a:extLst xmlns:a="http://schemas.openxmlformats.org/drawingml/2006/main">
              <a:ext uri="{FF2B5EF4-FFF2-40B4-BE49-F238E27FC236}">
                <a16:creationId xmlns:a16="http://schemas.microsoft.com/office/drawing/2014/main" id="{1F5EC53B-2FFE-4B8E-B8C0-12A063AB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01250"/>
            <a:ext cx="89154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nalysis-question-one-label">
            <a:extLst xmlns:a="http://schemas.openxmlformats.org/drawingml/2006/main">
              <a:ext uri="{FF2B5EF4-FFF2-40B4-BE49-F238E27FC236}">
                <a16:creationId xmlns:a16="http://schemas.microsoft.com/office/drawing/2014/main" id="{B71457E2-8CA0-49D3-AC8D-781AAF6A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03251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F80ED"/>
                </a:solidFill>
              </a:defRPr>
            </a:pPr>
            <a:r>
              <a:rPr sz="1500" b="1">
                <a:solidFill>
                  <a:srgbClr val="2F80ED"/>
                </a:solidFill>
              </a:rPr>
              <a:t>WHERE?</a:t>
            </a:r>
          </a:p>
        </p:txBody>
      </p:sp>
      <p:sp>
        <p:nvSpPr>
          <p:cNvPr id="10" name="analysis-question-one">
            <a:extLst xmlns:a="http://schemas.openxmlformats.org/drawingml/2006/main">
              <a:ext uri="{FF2B5EF4-FFF2-40B4-BE49-F238E27FC236}">
                <a16:creationId xmlns:a16="http://schemas.microsoft.com/office/drawing/2014/main" id="{E9C8AA80-3FC1-486F-8D08-EA52AF26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072515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Where do delays concentrate?</a:t>
            </a:r>
          </a:p>
        </p:txBody>
      </p:sp>
      <p:sp>
        <p:nvSpPr>
          <p:cNvPr id="11" name="analysis-question-two-label">
            <a:extLst xmlns:a="http://schemas.openxmlformats.org/drawingml/2006/main">
              <a:ext uri="{FF2B5EF4-FFF2-40B4-BE49-F238E27FC236}">
                <a16:creationId xmlns:a16="http://schemas.microsoft.com/office/drawing/2014/main" id="{F7C29D96-5819-439F-9122-A1A050FDB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0325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47B2A"/>
                </a:solidFill>
              </a:defRPr>
            </a:pPr>
            <a:r>
              <a:rPr sz="1500" b="1">
                <a:solidFill>
                  <a:srgbClr val="F47B2A"/>
                </a:solidFill>
              </a:rPr>
              <a:t>WHO?</a:t>
            </a:r>
          </a:p>
        </p:txBody>
      </p:sp>
      <p:sp>
        <p:nvSpPr>
          <p:cNvPr id="12" name="analysis-question-two">
            <a:extLst xmlns:a="http://schemas.openxmlformats.org/drawingml/2006/main">
              <a:ext uri="{FF2B5EF4-FFF2-40B4-BE49-F238E27FC236}">
                <a16:creationId xmlns:a16="http://schemas.microsoft.com/office/drawing/2014/main" id="{FFA0FE59-99B6-4CC6-B2F5-A727572F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072515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Who drives the greatest risk?</a:t>
            </a:r>
          </a:p>
        </p:txBody>
      </p:sp>
      <p:sp>
        <p:nvSpPr>
          <p:cNvPr id="13" name="analysis-question-three-label">
            <a:extLst xmlns:a="http://schemas.openxmlformats.org/drawingml/2006/main">
              <a:ext uri="{FF2B5EF4-FFF2-40B4-BE49-F238E27FC236}">
                <a16:creationId xmlns:a16="http://schemas.microsoft.com/office/drawing/2014/main" id="{8D81DE59-7CBD-4FD1-A968-FBDE4398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03251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D20A16"/>
                </a:solidFill>
              </a:defRPr>
            </a:pPr>
            <a:r>
              <a:rPr sz="1500" b="1">
                <a:solidFill>
                  <a:srgbClr val="D20A16"/>
                </a:solidFill>
              </a:rPr>
              <a:t>WHAT NEXT?</a:t>
            </a:r>
          </a:p>
        </p:txBody>
      </p:sp>
      <p:sp>
        <p:nvSpPr>
          <p:cNvPr id="14" name="analysis-question-three">
            <a:extLst xmlns:a="http://schemas.openxmlformats.org/drawingml/2006/main">
              <a:ext uri="{FF2B5EF4-FFF2-40B4-BE49-F238E27FC236}">
                <a16:creationId xmlns:a16="http://schemas.microsoft.com/office/drawing/2014/main" id="{FCF98FF6-898A-4D1A-8066-287AAB17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072515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What should change operationally?</a:t>
            </a:r>
          </a:p>
        </p:txBody>
      </p:sp>
      <p:sp>
        <p:nvSpPr>
          <p:cNvPr id="15" name="slide-02-footer-left">
            <a:extLst xmlns:a="http://schemas.openxmlformats.org/drawingml/2006/main">
              <a:ext uri="{FF2B5EF4-FFF2-40B4-BE49-F238E27FC236}">
                <a16:creationId xmlns:a16="http://schemas.microsoft.com/office/drawing/2014/main" id="{0AE4773B-258A-41F7-8169-56789CE4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16" name="slide-02-footer-right">
            <a:extLst xmlns:a="http://schemas.openxmlformats.org/drawingml/2006/main">
              <a:ext uri="{FF2B5EF4-FFF2-40B4-BE49-F238E27FC236}">
                <a16:creationId xmlns:a16="http://schemas.microsoft.com/office/drawing/2014/main" id="{5F36F98C-9EA9-4A7A-90CF-60F9C514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1273588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slide-03-accent-line">
            <a:extLst xmlns:a="http://schemas.openxmlformats.org/drawingml/2006/main">
              <a:ext uri="{FF2B5EF4-FFF2-40B4-BE49-F238E27FC236}">
                <a16:creationId xmlns:a16="http://schemas.microsoft.com/office/drawing/2014/main" id="{3F3FE506-420D-4255-AFBF-478C1EFE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3-eyebrow">
            <a:extLst xmlns:a="http://schemas.openxmlformats.org/drawingml/2006/main">
              <a:ext uri="{FF2B5EF4-FFF2-40B4-BE49-F238E27FC236}">
                <a16:creationId xmlns:a16="http://schemas.microsoft.com/office/drawing/2014/main" id="{A4631EE3-D7A7-4616-8A64-04B19BF7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EXPLORATORY DATA ANALYSIS</a:t>
            </a:r>
          </a:p>
        </p:txBody>
      </p:sp>
      <p:sp>
        <p:nvSpPr>
          <p:cNvPr id="3" name="slide-03-number">
            <a:extLst xmlns:a="http://schemas.openxmlformats.org/drawingml/2006/main">
              <a:ext uri="{FF2B5EF4-FFF2-40B4-BE49-F238E27FC236}">
                <a16:creationId xmlns:a16="http://schemas.microsoft.com/office/drawing/2014/main" id="{7B0055D3-3E8A-4473-A83C-324CFB45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8667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03 / 08</a:t>
            </a:r>
          </a:p>
        </p:txBody>
      </p:sp>
      <p:sp>
        <p:nvSpPr>
          <p:cNvPr id="4" name="slide-03-title-line-one">
            <a:extLst xmlns:a="http://schemas.openxmlformats.org/drawingml/2006/main">
              <a:ext uri="{FF2B5EF4-FFF2-40B4-BE49-F238E27FC236}">
                <a16:creationId xmlns:a16="http://schemas.microsoft.com/office/drawing/2014/main" id="{0E4078E8-9339-45E1-A31E-9488FF3F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82653"/>
                </a:solidFill>
              </a:defRPr>
            </a:pPr>
            <a:r>
              <a:rPr sz="3900" b="1">
                <a:solidFill>
                  <a:srgbClr val="082653"/>
                </a:solidFill>
              </a:rPr>
              <a:t>62.9% OF SHIPMENTS</a:t>
            </a:r>
          </a:p>
        </p:txBody>
      </p:sp>
      <p:sp>
        <p:nvSpPr>
          <p:cNvPr id="5" name="slide-03-title-line-two">
            <a:extLst xmlns:a="http://schemas.openxmlformats.org/drawingml/2006/main">
              <a:ext uri="{FF2B5EF4-FFF2-40B4-BE49-F238E27FC236}">
                <a16:creationId xmlns:a16="http://schemas.microsoft.com/office/drawing/2014/main" id="{F250D09C-9C82-4817-A060-56FFC7B5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857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800" b="1">
                <a:solidFill>
                  <a:srgbClr val="D20A16"/>
                </a:solidFill>
              </a:defRPr>
            </a:pPr>
            <a:r>
              <a:rPr sz="4800" b="1">
                <a:solidFill>
                  <a:srgbClr val="D20A16"/>
                </a:solidFill>
              </a:rPr>
              <a:t>WERE DELAYED</a:t>
            </a:r>
          </a:p>
        </p:txBody>
      </p:sp>
      <p:sp>
        <p:nvSpPr>
          <p:cNvPr id="6" name="slide-03-subtitle">
            <a:extLst xmlns:a="http://schemas.openxmlformats.org/drawingml/2006/main">
              <a:ext uri="{FF2B5EF4-FFF2-40B4-BE49-F238E27FC236}">
                <a16:creationId xmlns:a16="http://schemas.microsoft.com/office/drawing/2014/main" id="{2EB6C036-AADA-43C1-9F72-83D78E7C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4175"/>
            <a:ext cx="8915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E2D42"/>
                </a:solidFill>
              </a:defRPr>
            </a:pPr>
            <a:r>
              <a:rPr sz="1875">
                <a:solidFill>
                  <a:srgbClr val="1E2D42"/>
                </a:solidFill>
              </a:rPr>
              <a:t>The data revealed a systemic delivery performance problem, not isolated exceptions.</a:t>
            </a:r>
          </a:p>
        </p:txBody>
      </p:sp>
      <p:sp>
        <p:nvSpPr>
          <p:cNvPr id="7" name="eda-visual-background">
            <a:extLst xmlns:a="http://schemas.openxmlformats.org/drawingml/2006/main">
              <a:ext uri="{FF2B5EF4-FFF2-40B4-BE49-F238E27FC236}">
                <a16:creationId xmlns:a16="http://schemas.microsoft.com/office/drawing/2014/main" id="{33E4E4A7-02B9-4538-94A9-18ECB7E03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4286250" cy="70485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8" name="eda-visual-label">
            <a:extLst xmlns:a="http://schemas.openxmlformats.org/drawingml/2006/main">
              <a:ext uri="{FF2B5EF4-FFF2-40B4-BE49-F238E27FC236}">
                <a16:creationId xmlns:a16="http://schemas.microsoft.com/office/drawing/2014/main" id="{0EEB53A1-6457-40B9-9A88-78F62B55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DELIVERY STATUS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857250" y="4591050"/>
          <a:ext xmlns:a="http://schemas.openxmlformats.org/drawingml/2006/main" cx="39433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6a329631254c5c"/>
          </a:graphicData>
        </a:graphic>
      </p:graphicFrame>
      <p:sp>
        <p:nvSpPr>
          <p:cNvPr id="10" name="eda-donut-value">
            <a:extLst xmlns:a="http://schemas.openxmlformats.org/drawingml/2006/main">
              <a:ext uri="{FF2B5EF4-FFF2-40B4-BE49-F238E27FC236}">
                <a16:creationId xmlns:a16="http://schemas.microsoft.com/office/drawing/2014/main" id="{F2BE5F26-AE0B-442E-97B2-62DBD811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895975"/>
            <a:ext cx="257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D20A16"/>
                </a:solidFill>
              </a:defRPr>
            </a:pPr>
            <a:r>
              <a:rPr sz="4350" b="1">
                <a:solidFill>
                  <a:srgbClr val="D20A16"/>
                </a:solidFill>
              </a:rPr>
              <a:t>62.9%</a:t>
            </a:r>
          </a:p>
        </p:txBody>
      </p:sp>
      <p:sp>
        <p:nvSpPr>
          <p:cNvPr id="11" name="eda-donut-label">
            <a:extLst xmlns:a="http://schemas.openxmlformats.org/drawingml/2006/main">
              <a:ext uri="{FF2B5EF4-FFF2-40B4-BE49-F238E27FC236}">
                <a16:creationId xmlns:a16="http://schemas.microsoft.com/office/drawing/2014/main" id="{362A6F23-F2F4-4B75-911E-E5750732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6657975"/>
            <a:ext cx="2266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2653"/>
                </a:solidFill>
              </a:defRPr>
            </a:pPr>
            <a:r>
              <a:rPr sz="1500" b="1">
                <a:solidFill>
                  <a:srgbClr val="082653"/>
                </a:solidFill>
              </a:rPr>
              <a:t>DELAYED</a:t>
            </a:r>
          </a:p>
        </p:txBody>
      </p:sp>
      <p:sp>
        <p:nvSpPr>
          <p:cNvPr id="12" name="delayed-legend-dot">
            <a:extLst xmlns:a="http://schemas.openxmlformats.org/drawingml/2006/main">
              <a:ext uri="{FF2B5EF4-FFF2-40B4-BE49-F238E27FC236}">
                <a16:creationId xmlns:a16="http://schemas.microsoft.com/office/drawing/2014/main" id="{8EDCF261-5A69-48C2-A72F-5DE07309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610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delayed-legend">
            <a:extLst xmlns:a="http://schemas.openxmlformats.org/drawingml/2006/main">
              <a:ext uri="{FF2B5EF4-FFF2-40B4-BE49-F238E27FC236}">
                <a16:creationId xmlns:a16="http://schemas.microsoft.com/office/drawing/2014/main" id="{2C8B9183-DFAB-4BA2-9092-C4082B4B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85058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E2D42"/>
                </a:solidFill>
              </a:defRPr>
            </a:pPr>
            <a:r>
              <a:rPr sz="1500" b="1">
                <a:solidFill>
                  <a:srgbClr val="1E2D42"/>
                </a:solidFill>
              </a:rPr>
              <a:t>Delayed  4,263  |  62.9%</a:t>
            </a:r>
          </a:p>
        </p:txBody>
      </p:sp>
      <p:sp>
        <p:nvSpPr>
          <p:cNvPr id="14" name="ontime-legend-dot">
            <a:extLst xmlns:a="http://schemas.openxmlformats.org/drawingml/2006/main">
              <a:ext uri="{FF2B5EF4-FFF2-40B4-BE49-F238E27FC236}">
                <a16:creationId xmlns:a16="http://schemas.microsoft.com/office/drawing/2014/main" id="{76F4BE34-A611-482D-815E-08C0EE06C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9096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ontime-legend">
            <a:extLst xmlns:a="http://schemas.openxmlformats.org/drawingml/2006/main">
              <a:ext uri="{FF2B5EF4-FFF2-40B4-BE49-F238E27FC236}">
                <a16:creationId xmlns:a16="http://schemas.microsoft.com/office/drawing/2014/main" id="{EA3DBC73-A12A-45D9-A8BF-E75941CFB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89916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E2D42"/>
                </a:solidFill>
              </a:defRPr>
            </a:pPr>
            <a:r>
              <a:rPr sz="1500" b="1">
                <a:solidFill>
                  <a:srgbClr val="1E2D42"/>
                </a:solidFill>
              </a:rPr>
              <a:t>On-Time  2,510  |  37.1%</a:t>
            </a:r>
          </a:p>
        </p:txBody>
      </p:sp>
      <p:sp>
        <p:nvSpPr>
          <p:cNvPr id="16" name="methodology-accent">
            <a:extLst xmlns:a="http://schemas.openxmlformats.org/drawingml/2006/main">
              <a:ext uri="{FF2B5EF4-FFF2-40B4-BE49-F238E27FC236}">
                <a16:creationId xmlns:a16="http://schemas.microsoft.com/office/drawing/2014/main" id="{10A467A9-1A65-4424-A135-AEBEFC84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9753600"/>
            <a:ext cx="57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ethodology-label">
            <a:extLst xmlns:a="http://schemas.openxmlformats.org/drawingml/2006/main">
              <a:ext uri="{FF2B5EF4-FFF2-40B4-BE49-F238E27FC236}">
                <a16:creationId xmlns:a16="http://schemas.microsoft.com/office/drawing/2014/main" id="{744159B1-C49B-4C7F-8746-39C8FD351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96964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718096"/>
                </a:solidFill>
              </a:defRPr>
            </a:pPr>
            <a:r>
              <a:rPr sz="1200" b="1">
                <a:solidFill>
                  <a:srgbClr val="718096"/>
                </a:solidFill>
              </a:rPr>
              <a:t>DELAY DEFINITION</a:t>
            </a:r>
          </a:p>
        </p:txBody>
      </p:sp>
      <p:sp>
        <p:nvSpPr>
          <p:cNvPr id="18" name="methodology-copy">
            <a:extLst xmlns:a="http://schemas.openxmlformats.org/drawingml/2006/main">
              <a:ext uri="{FF2B5EF4-FFF2-40B4-BE49-F238E27FC236}">
                <a16:creationId xmlns:a16="http://schemas.microsoft.com/office/drawing/2014/main" id="{69BD93F9-392E-454C-ABEE-666AC289B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004887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2653"/>
                </a:solidFill>
              </a:defRPr>
            </a:pPr>
            <a:r>
              <a:rPr sz="1650" b="1">
                <a:solidFill>
                  <a:srgbClr val="082653"/>
                </a:solidFill>
              </a:rPr>
              <a:t>Actual ETA &gt; Planned ETA</a:t>
            </a:r>
          </a:p>
        </p:txBody>
      </p:sp>
      <p:sp>
        <p:nvSpPr>
          <p:cNvPr id="19" name="eda-meaning-label">
            <a:extLst xmlns:a="http://schemas.openxmlformats.org/drawingml/2006/main">
              <a:ext uri="{FF2B5EF4-FFF2-40B4-BE49-F238E27FC236}">
                <a16:creationId xmlns:a16="http://schemas.microsoft.com/office/drawing/2014/main" id="{D84C8D0A-1225-4361-9051-6250E2426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0005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554A3"/>
                </a:solidFill>
              </a:defRPr>
            </a:pPr>
            <a:r>
              <a:rPr sz="1350" b="1">
                <a:solidFill>
                  <a:srgbClr val="1554A3"/>
                </a:solidFill>
              </a:rPr>
              <a:t>WHAT THIS MEANS</a:t>
            </a:r>
          </a:p>
        </p:txBody>
      </p:sp>
      <p:sp>
        <p:nvSpPr>
          <p:cNvPr id="20" name="eda-primary-meaning">
            <a:extLst xmlns:a="http://schemas.openxmlformats.org/drawingml/2006/main">
              <a:ext uri="{FF2B5EF4-FFF2-40B4-BE49-F238E27FC236}">
                <a16:creationId xmlns:a16="http://schemas.microsoft.com/office/drawing/2014/main" id="{4B49F4BA-0664-4B75-9E09-863254E19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514850"/>
            <a:ext cx="4000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82653"/>
                </a:solidFill>
              </a:defRPr>
            </a:pPr>
            <a:r>
              <a:rPr sz="2850" b="1">
                <a:solidFill>
                  <a:srgbClr val="082653"/>
                </a:solidFill>
              </a:rPr>
              <a:t>Nearly 2 in every 3 shipments missed the planned ETA.</a:t>
            </a:r>
          </a:p>
        </p:txBody>
      </p:sp>
      <p:sp>
        <p:nvSpPr>
          <p:cNvPr id="21" name="eda-divider-one">
            <a:extLst xmlns:a="http://schemas.openxmlformats.org/drawingml/2006/main">
              <a:ext uri="{FF2B5EF4-FFF2-40B4-BE49-F238E27FC236}">
                <a16:creationId xmlns:a16="http://schemas.microsoft.com/office/drawing/2014/main" id="{692B9300-77F3-4C77-9387-7630B42E4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6172200"/>
            <a:ext cx="390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eda-insight-one-label">
            <a:extLst xmlns:a="http://schemas.openxmlformats.org/drawingml/2006/main">
              <a:ext uri="{FF2B5EF4-FFF2-40B4-BE49-F238E27FC236}">
                <a16:creationId xmlns:a16="http://schemas.microsoft.com/office/drawing/2014/main" id="{74CEC33C-A14D-4B49-BC4B-F5D86F014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64579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20A16"/>
                </a:solidFill>
              </a:defRPr>
            </a:pPr>
            <a:r>
              <a:rPr sz="1275" b="1">
                <a:solidFill>
                  <a:srgbClr val="D20A16"/>
                </a:solidFill>
              </a:rPr>
              <a:t>SYSTEM-WIDE ISSUE</a:t>
            </a:r>
          </a:p>
        </p:txBody>
      </p:sp>
      <p:sp>
        <p:nvSpPr>
          <p:cNvPr id="23" name="eda-insight-one-copy">
            <a:extLst xmlns:a="http://schemas.openxmlformats.org/drawingml/2006/main">
              <a:ext uri="{FF2B5EF4-FFF2-40B4-BE49-F238E27FC236}">
                <a16:creationId xmlns:a16="http://schemas.microsoft.com/office/drawing/2014/main" id="{348254FB-B1E0-4458-AC0D-00CF0B81A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6858000"/>
            <a:ext cx="3905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E2D42"/>
                </a:solidFill>
              </a:defRPr>
            </a:pPr>
            <a:r>
              <a:rPr sz="1875">
                <a:solidFill>
                  <a:srgbClr val="1E2D42"/>
                </a:solidFill>
              </a:rPr>
              <a:t>4,263 of 6,773 cleaned shipment records were classified as delayed.</a:t>
            </a:r>
          </a:p>
        </p:txBody>
      </p:sp>
      <p:sp>
        <p:nvSpPr>
          <p:cNvPr id="24" name="eda-divider-two">
            <a:extLst xmlns:a="http://schemas.openxmlformats.org/drawingml/2006/main">
              <a:ext uri="{FF2B5EF4-FFF2-40B4-BE49-F238E27FC236}">
                <a16:creationId xmlns:a16="http://schemas.microsoft.com/office/drawing/2014/main" id="{B194B2C2-B6AE-4D1C-B629-D9D4A4BAC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7943850"/>
            <a:ext cx="390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eda-insight-two-label">
            <a:extLst xmlns:a="http://schemas.openxmlformats.org/drawingml/2006/main">
              <a:ext uri="{FF2B5EF4-FFF2-40B4-BE49-F238E27FC236}">
                <a16:creationId xmlns:a16="http://schemas.microsoft.com/office/drawing/2014/main" id="{13492D5B-8757-42BF-8AD9-83331923C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822960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47B2A"/>
                </a:solidFill>
              </a:defRPr>
            </a:pPr>
            <a:r>
              <a:rPr sz="1275" b="1">
                <a:solidFill>
                  <a:srgbClr val="F47B2A"/>
                </a:solidFill>
              </a:rPr>
              <a:t>NOT ISOLATED EXCEPTIONS</a:t>
            </a:r>
          </a:p>
        </p:txBody>
      </p:sp>
      <p:sp>
        <p:nvSpPr>
          <p:cNvPr id="26" name="eda-insight-two-copy">
            <a:extLst xmlns:a="http://schemas.openxmlformats.org/drawingml/2006/main">
              <a:ext uri="{FF2B5EF4-FFF2-40B4-BE49-F238E27FC236}">
                <a16:creationId xmlns:a16="http://schemas.microsoft.com/office/drawing/2014/main" id="{01AA3825-3A89-460E-A034-B01D2C69D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8629650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E2D42"/>
                </a:solidFill>
              </a:defRPr>
            </a:pPr>
            <a:r>
              <a:rPr sz="1875">
                <a:solidFill>
                  <a:srgbClr val="1E2D42"/>
                </a:solidFill>
              </a:rPr>
              <a:t>Delay patterns shifted across time, distance, suppliers, vehicle types, and GPS providers.</a:t>
            </a:r>
          </a:p>
        </p:txBody>
      </p:sp>
      <p:sp>
        <p:nvSpPr>
          <p:cNvPr id="27" name="eda-next-step-band">
            <a:extLst xmlns:a="http://schemas.openxmlformats.org/drawingml/2006/main">
              <a:ext uri="{FF2B5EF4-FFF2-40B4-BE49-F238E27FC236}">
                <a16:creationId xmlns:a16="http://schemas.microsoft.com/office/drawing/2014/main" id="{1B54FFAB-5BF0-4390-871F-32F7B6D1D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0039350"/>
            <a:ext cx="4324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eda-next-step-label">
            <a:extLst xmlns:a="http://schemas.openxmlformats.org/drawingml/2006/main">
              <a:ext uri="{FF2B5EF4-FFF2-40B4-BE49-F238E27FC236}">
                <a16:creationId xmlns:a16="http://schemas.microsoft.com/office/drawing/2014/main" id="{773D6E66-8749-42C8-998B-C76EF232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0239375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47B2A"/>
                </a:solidFill>
              </a:defRPr>
            </a:pPr>
            <a:r>
              <a:rPr sz="1200" b="1">
                <a:solidFill>
                  <a:srgbClr val="F47B2A"/>
                </a:solidFill>
              </a:rPr>
              <a:t>NEXT</a:t>
            </a:r>
          </a:p>
        </p:txBody>
      </p:sp>
      <p:sp>
        <p:nvSpPr>
          <p:cNvPr id="29" name="eda-next-step-copy">
            <a:extLst xmlns:a="http://schemas.openxmlformats.org/drawingml/2006/main">
              <a:ext uri="{FF2B5EF4-FFF2-40B4-BE49-F238E27FC236}">
                <a16:creationId xmlns:a16="http://schemas.microsoft.com/office/drawing/2014/main" id="{05BC3D2A-A50D-4BA0-AA14-C965E382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0572750"/>
            <a:ext cx="3733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Structure the operation for deeper SQL analysis.</a:t>
            </a:r>
          </a:p>
        </p:txBody>
      </p:sp>
      <p:sp>
        <p:nvSpPr>
          <p:cNvPr id="30" name="slide-03-footer-left">
            <a:extLst xmlns:a="http://schemas.openxmlformats.org/drawingml/2006/main">
              <a:ext uri="{FF2B5EF4-FFF2-40B4-BE49-F238E27FC236}">
                <a16:creationId xmlns:a16="http://schemas.microsoft.com/office/drawing/2014/main" id="{5463A06F-9481-44E4-B311-6DD6FCAC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31" name="slide-03-footer-right">
            <a:extLst xmlns:a="http://schemas.openxmlformats.org/drawingml/2006/main">
              <a:ext uri="{FF2B5EF4-FFF2-40B4-BE49-F238E27FC236}">
                <a16:creationId xmlns:a16="http://schemas.microsoft.com/office/drawing/2014/main" id="{A9D6E9D0-D5F1-49F2-8E08-3FE4B0BB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4293923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slide-04-top-accent">
            <a:extLst xmlns:a="http://schemas.openxmlformats.org/drawingml/2006/main">
              <a:ext uri="{FF2B5EF4-FFF2-40B4-BE49-F238E27FC236}">
                <a16:creationId xmlns:a16="http://schemas.microsoft.com/office/drawing/2014/main" id="{0EB814A3-5474-4B2B-BAF2-F13E24D29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4-eyebrow">
            <a:extLst xmlns:a="http://schemas.openxmlformats.org/drawingml/2006/main">
              <a:ext uri="{FF2B5EF4-FFF2-40B4-BE49-F238E27FC236}">
                <a16:creationId xmlns:a16="http://schemas.microsoft.com/office/drawing/2014/main" id="{B73EEEAD-BFB8-49EE-B86F-B99F707A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THE SQL SOLUTION</a:t>
            </a:r>
          </a:p>
        </p:txBody>
      </p:sp>
      <p:sp>
        <p:nvSpPr>
          <p:cNvPr id="3" name="slide-04-number">
            <a:extLst xmlns:a="http://schemas.openxmlformats.org/drawingml/2006/main">
              <a:ext uri="{FF2B5EF4-FFF2-40B4-BE49-F238E27FC236}">
                <a16:creationId xmlns:a16="http://schemas.microsoft.com/office/drawing/2014/main" id="{185722B1-1299-4E17-B415-45A06307C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04 / 08</a:t>
            </a:r>
          </a:p>
        </p:txBody>
      </p:sp>
      <p:sp>
        <p:nvSpPr>
          <p:cNvPr id="4" name="slide-04-title">
            <a:extLst xmlns:a="http://schemas.openxmlformats.org/drawingml/2006/main">
              <a:ext uri="{FF2B5EF4-FFF2-40B4-BE49-F238E27FC236}">
                <a16:creationId xmlns:a16="http://schemas.microsoft.com/office/drawing/2014/main" id="{ED6E062B-6726-44CD-91E0-7F2DD54F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75" b="1">
                <a:solidFill>
                  <a:srgbClr val="082653"/>
                </a:solidFill>
              </a:defRPr>
            </a:pPr>
            <a:r>
              <a:rPr sz="3075" b="1">
                <a:solidFill>
                  <a:srgbClr val="082653"/>
                </a:solidFill>
              </a:rPr>
              <a:t>A CONNECTED DATABASE FOR</a:t>
            </a:r>
          </a:p>
          <a:p xmlns:a="http://schemas.openxmlformats.org/drawingml/2006/main">
            <a:pPr>
              <a:defRPr sz="3075" b="1">
                <a:solidFill>
                  <a:srgbClr val="082653"/>
                </a:solidFill>
              </a:defRPr>
            </a:pPr>
            <a:r>
              <a:rPr sz="3075" b="1">
                <a:solidFill>
                  <a:srgbClr val="082653"/>
                </a:solidFill>
              </a:rPr>
              <a:t>END-TO-END SHIPMENT CONTROL</a:t>
            </a:r>
          </a:p>
        </p:txBody>
      </p:sp>
      <p:sp>
        <p:nvSpPr>
          <p:cNvPr id="5" name="slide-04-subtitle">
            <a:extLst xmlns:a="http://schemas.openxmlformats.org/drawingml/2006/main">
              <a:ext uri="{FF2B5EF4-FFF2-40B4-BE49-F238E27FC236}">
                <a16:creationId xmlns:a16="http://schemas.microsoft.com/office/drawing/2014/main" id="{3E41D48D-82A2-40FD-A8D0-DC9D2A39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The solution transforms fragmented logistics records into a structured SQL Server data foundation.</a:t>
            </a:r>
          </a:p>
        </p:txBody>
      </p:sp>
      <p:sp>
        <p:nvSpPr>
          <p:cNvPr id="6" name="schema-panel">
            <a:extLst xmlns:a="http://schemas.openxmlformats.org/drawingml/2006/main">
              <a:ext uri="{FF2B5EF4-FFF2-40B4-BE49-F238E27FC236}">
                <a16:creationId xmlns:a16="http://schemas.microsoft.com/office/drawing/2014/main" id="{E8B281A0-4132-44D1-ABF3-1F7778CF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4305300" cy="7258050"/>
          </a:xfrm>
          <a:prstGeom xmlns:a="http://schemas.openxmlformats.org/drawingml/2006/main" prst="roundRect">
            <a:avLst>
              <a:gd name="adj" fmla="val 17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7" name="schema-label">
            <a:extLst xmlns:a="http://schemas.openxmlformats.org/drawingml/2006/main">
              <a:ext uri="{FF2B5EF4-FFF2-40B4-BE49-F238E27FC236}">
                <a16:creationId xmlns:a16="http://schemas.microsoft.com/office/drawing/2014/main" id="{92CA1EBB-B430-444A-9C72-DB7D9C6E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528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554A3"/>
                </a:solidFill>
              </a:defRPr>
            </a:pPr>
            <a:r>
              <a:rPr sz="1200" b="1">
                <a:solidFill>
                  <a:srgbClr val="1554A3"/>
                </a:solidFill>
              </a:rPr>
              <a:t>SOLUTION ARCHITECTURE</a:t>
            </a:r>
          </a:p>
        </p:txBody>
      </p:sp>
      <p:sp>
        <p:nvSpPr>
          <p:cNvPr id="8" name="architecture-group-0">
            <a:extLst xmlns:a="http://schemas.openxmlformats.org/drawingml/2006/main">
              <a:ext uri="{FF2B5EF4-FFF2-40B4-BE49-F238E27FC236}">
                <a16:creationId xmlns:a16="http://schemas.microsoft.com/office/drawing/2014/main" id="{5EC3E266-5A66-4398-9C04-F1330A11D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10050"/>
            <a:ext cx="3848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4FC"/>
          </a:solidFill>
          <a:ln xmlns:a="http://schemas.openxmlformats.org/drawingml/2006/main" w="19050">
            <a:solidFill>
              <a:srgbClr val="2F80ED"/>
            </a:solidFill>
            <a:prstDash val="solid"/>
          </a:ln>
        </p:spPr>
      </p:sp>
      <p:sp>
        <p:nvSpPr>
          <p:cNvPr id="9" name="architecture-group-0-title">
            <a:extLst xmlns:a="http://schemas.openxmlformats.org/drawingml/2006/main">
              <a:ext uri="{FF2B5EF4-FFF2-40B4-BE49-F238E27FC236}">
                <a16:creationId xmlns:a16="http://schemas.microsoft.com/office/drawing/2014/main" id="{0AFBFD74-FEDD-4A4C-B9EB-ED51C6BA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434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F80ED"/>
                </a:solidFill>
              </a:defRPr>
            </a:pPr>
            <a:r>
              <a:rPr sz="975" b="1">
                <a:solidFill>
                  <a:srgbClr val="2F80ED"/>
                </a:solidFill>
              </a:rPr>
              <a:t>REFERENCE DATA</a:t>
            </a:r>
          </a:p>
        </p:txBody>
      </p:sp>
      <p:sp>
        <p:nvSpPr>
          <p:cNvPr id="10" name="architecture-chip-0-0">
            <a:extLst xmlns:a="http://schemas.openxmlformats.org/drawingml/2006/main">
              <a:ext uri="{FF2B5EF4-FFF2-40B4-BE49-F238E27FC236}">
                <a16:creationId xmlns:a16="http://schemas.microsoft.com/office/drawing/2014/main" id="{F907DFF1-6A47-4BD8-B7FA-637F7C75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291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11" name="architecture-chip-0-0-text">
            <a:extLst xmlns:a="http://schemas.openxmlformats.org/drawingml/2006/main">
              <a:ext uri="{FF2B5EF4-FFF2-40B4-BE49-F238E27FC236}">
                <a16:creationId xmlns:a16="http://schemas.microsoft.com/office/drawing/2014/main" id="{B991EC30-4FA3-4A34-ADF6-B9647CE80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053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Countries</a:t>
            </a:r>
          </a:p>
        </p:txBody>
      </p:sp>
      <p:sp>
        <p:nvSpPr>
          <p:cNvPr id="12" name="architecture-chip-0-1">
            <a:extLst xmlns:a="http://schemas.openxmlformats.org/drawingml/2006/main">
              <a:ext uri="{FF2B5EF4-FFF2-40B4-BE49-F238E27FC236}">
                <a16:creationId xmlns:a16="http://schemas.microsoft.com/office/drawing/2014/main" id="{CB95E263-D5DB-490C-A675-73DF52EA0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291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13" name="architecture-chip-0-1-text">
            <a:extLst xmlns:a="http://schemas.openxmlformats.org/drawingml/2006/main">
              <a:ext uri="{FF2B5EF4-FFF2-40B4-BE49-F238E27FC236}">
                <a16:creationId xmlns:a16="http://schemas.microsoft.com/office/drawing/2014/main" id="{56545426-3F2E-426A-A13B-7AB696636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7053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Shipment Status</a:t>
            </a:r>
          </a:p>
        </p:txBody>
      </p:sp>
      <p:sp>
        <p:nvSpPr>
          <p:cNvPr id="14" name="architecture-chip-0-2">
            <a:extLst xmlns:a="http://schemas.openxmlformats.org/drawingml/2006/main">
              <a:ext uri="{FF2B5EF4-FFF2-40B4-BE49-F238E27FC236}">
                <a16:creationId xmlns:a16="http://schemas.microsoft.com/office/drawing/2014/main" id="{4FB9EDEC-00C1-4BFC-96FE-E687AD5DC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673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15" name="architecture-chip-0-2-text">
            <a:extLst xmlns:a="http://schemas.openxmlformats.org/drawingml/2006/main">
              <a:ext uri="{FF2B5EF4-FFF2-40B4-BE49-F238E27FC236}">
                <a16:creationId xmlns:a16="http://schemas.microsoft.com/office/drawing/2014/main" id="{88007D66-31C9-4157-9856-32107F53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Material</a:t>
            </a:r>
          </a:p>
        </p:txBody>
      </p:sp>
      <p:sp>
        <p:nvSpPr>
          <p:cNvPr id="16" name="architecture-chip-0-3">
            <a:extLst xmlns:a="http://schemas.openxmlformats.org/drawingml/2006/main">
              <a:ext uri="{FF2B5EF4-FFF2-40B4-BE49-F238E27FC236}">
                <a16:creationId xmlns:a16="http://schemas.microsoft.com/office/drawing/2014/main" id="{784C2B4C-090E-4439-8671-C4E5D715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673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17" name="architecture-chip-0-3-text">
            <a:extLst xmlns:a="http://schemas.openxmlformats.org/drawingml/2006/main">
              <a:ext uri="{FF2B5EF4-FFF2-40B4-BE49-F238E27FC236}">
                <a16:creationId xmlns:a16="http://schemas.microsoft.com/office/drawing/2014/main" id="{2A195EDC-2C09-4522-84A9-20C041FF8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1435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Failure Reasons</a:t>
            </a:r>
          </a:p>
        </p:txBody>
      </p:sp>
      <p:sp>
        <p:nvSpPr>
          <p:cNvPr id="18" name="architecture-group-1">
            <a:extLst xmlns:a="http://schemas.openxmlformats.org/drawingml/2006/main">
              <a:ext uri="{FF2B5EF4-FFF2-40B4-BE49-F238E27FC236}">
                <a16:creationId xmlns:a16="http://schemas.microsoft.com/office/drawing/2014/main" id="{8097D35F-1E3E-4C32-BC4A-6BDE871D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62600"/>
            <a:ext cx="3848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19050">
            <a:solidFill>
              <a:srgbClr val="1554A3"/>
            </a:solidFill>
            <a:prstDash val="solid"/>
          </a:ln>
        </p:spPr>
      </p:sp>
      <p:sp>
        <p:nvSpPr>
          <p:cNvPr id="19" name="architecture-group-1-title">
            <a:extLst xmlns:a="http://schemas.openxmlformats.org/drawingml/2006/main">
              <a:ext uri="{FF2B5EF4-FFF2-40B4-BE49-F238E27FC236}">
                <a16:creationId xmlns:a16="http://schemas.microsoft.com/office/drawing/2014/main" id="{877CAA3C-EDB3-4A17-88FD-5B9B618B6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695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554A3"/>
                </a:solidFill>
              </a:defRPr>
            </a:pPr>
            <a:r>
              <a:rPr sz="975" b="1">
                <a:solidFill>
                  <a:srgbClr val="1554A3"/>
                </a:solidFill>
              </a:rPr>
              <a:t>BUSINESS ENTITIES</a:t>
            </a:r>
          </a:p>
        </p:txBody>
      </p:sp>
      <p:sp>
        <p:nvSpPr>
          <p:cNvPr id="20" name="architecture-chip-1-0">
            <a:extLst xmlns:a="http://schemas.openxmlformats.org/drawingml/2006/main">
              <a:ext uri="{FF2B5EF4-FFF2-40B4-BE49-F238E27FC236}">
                <a16:creationId xmlns:a16="http://schemas.microsoft.com/office/drawing/2014/main" id="{0769BAFD-AAC0-41B5-9EBD-496FE37F2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9817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21" name="architecture-chip-1-0-text">
            <a:extLst xmlns:a="http://schemas.openxmlformats.org/drawingml/2006/main">
              <a:ext uri="{FF2B5EF4-FFF2-40B4-BE49-F238E27FC236}">
                <a16:creationId xmlns:a16="http://schemas.microsoft.com/office/drawing/2014/main" id="{5AADBFBE-DCFC-421E-98EB-21E53D749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0579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Customers</a:t>
            </a:r>
          </a:p>
        </p:txBody>
      </p:sp>
      <p:sp>
        <p:nvSpPr>
          <p:cNvPr id="22" name="architecture-chip-1-1">
            <a:extLst xmlns:a="http://schemas.openxmlformats.org/drawingml/2006/main">
              <a:ext uri="{FF2B5EF4-FFF2-40B4-BE49-F238E27FC236}">
                <a16:creationId xmlns:a16="http://schemas.microsoft.com/office/drawing/2014/main" id="{E61A68E9-CC79-4F07-8463-6F5A9C39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9817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23" name="architecture-chip-1-1-text">
            <a:extLst xmlns:a="http://schemas.openxmlformats.org/drawingml/2006/main">
              <a:ext uri="{FF2B5EF4-FFF2-40B4-BE49-F238E27FC236}">
                <a16:creationId xmlns:a16="http://schemas.microsoft.com/office/drawing/2014/main" id="{8B41EC52-5CC7-4701-B4B9-7EB5ABDE0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60579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Hubs</a:t>
            </a:r>
          </a:p>
        </p:txBody>
      </p:sp>
      <p:sp>
        <p:nvSpPr>
          <p:cNvPr id="24" name="architecture-chip-1-2">
            <a:extLst xmlns:a="http://schemas.openxmlformats.org/drawingml/2006/main">
              <a:ext uri="{FF2B5EF4-FFF2-40B4-BE49-F238E27FC236}">
                <a16:creationId xmlns:a16="http://schemas.microsoft.com/office/drawing/2014/main" id="{D1EC5D86-1F18-41D0-9FB3-051FA0C5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4198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25" name="architecture-chip-1-2-text">
            <a:extLst xmlns:a="http://schemas.openxmlformats.org/drawingml/2006/main">
              <a:ext uri="{FF2B5EF4-FFF2-40B4-BE49-F238E27FC236}">
                <a16:creationId xmlns:a16="http://schemas.microsoft.com/office/drawing/2014/main" id="{3EA5D4CD-33AE-4CE5-B20D-668A741B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4960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Employees</a:t>
            </a:r>
          </a:p>
        </p:txBody>
      </p:sp>
      <p:sp>
        <p:nvSpPr>
          <p:cNvPr id="26" name="architecture-chip-1-3">
            <a:extLst xmlns:a="http://schemas.openxmlformats.org/drawingml/2006/main">
              <a:ext uri="{FF2B5EF4-FFF2-40B4-BE49-F238E27FC236}">
                <a16:creationId xmlns:a16="http://schemas.microsoft.com/office/drawing/2014/main" id="{09C734DC-E0E1-4350-84B4-50F36B83C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4198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27" name="architecture-chip-1-3-text">
            <a:extLst xmlns:a="http://schemas.openxmlformats.org/drawingml/2006/main">
              <a:ext uri="{FF2B5EF4-FFF2-40B4-BE49-F238E27FC236}">
                <a16:creationId xmlns:a16="http://schemas.microsoft.com/office/drawing/2014/main" id="{D27A7E00-DC71-4D94-AA51-FAC106826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64960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Couriers</a:t>
            </a:r>
          </a:p>
        </p:txBody>
      </p:sp>
      <p:sp>
        <p:nvSpPr>
          <p:cNvPr id="28" name="architecture-group-2">
            <a:extLst xmlns:a="http://schemas.openxmlformats.org/drawingml/2006/main">
              <a:ext uri="{FF2B5EF4-FFF2-40B4-BE49-F238E27FC236}">
                <a16:creationId xmlns:a16="http://schemas.microsoft.com/office/drawing/2014/main" id="{C2965E71-01CE-44C4-BDE4-773419E9B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53400"/>
            <a:ext cx="38481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7F1"/>
          </a:solidFill>
          <a:ln xmlns:a="http://schemas.openxmlformats.org/drawingml/2006/main" w="19050">
            <a:solidFill>
              <a:srgbClr val="F47B2A"/>
            </a:solidFill>
            <a:prstDash val="solid"/>
          </a:ln>
        </p:spPr>
      </p:sp>
      <p:sp>
        <p:nvSpPr>
          <p:cNvPr id="29" name="architecture-group-2-title">
            <a:extLst xmlns:a="http://schemas.openxmlformats.org/drawingml/2006/main">
              <a:ext uri="{FF2B5EF4-FFF2-40B4-BE49-F238E27FC236}">
                <a16:creationId xmlns:a16="http://schemas.microsoft.com/office/drawing/2014/main" id="{D3343AFE-91D3-4D1F-8685-56AC15EE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82867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47B2A"/>
                </a:solidFill>
              </a:defRPr>
            </a:pPr>
            <a:r>
              <a:rPr sz="975" b="1">
                <a:solidFill>
                  <a:srgbClr val="F47B2A"/>
                </a:solidFill>
              </a:rPr>
              <a:t>CONNECTED OPERATIONS</a:t>
            </a:r>
          </a:p>
        </p:txBody>
      </p:sp>
      <p:sp>
        <p:nvSpPr>
          <p:cNvPr id="30" name="architecture-chip-2-0">
            <a:extLst xmlns:a="http://schemas.openxmlformats.org/drawingml/2006/main">
              <a:ext uri="{FF2B5EF4-FFF2-40B4-BE49-F238E27FC236}">
                <a16:creationId xmlns:a16="http://schemas.microsoft.com/office/drawing/2014/main" id="{7FB77098-A9FF-4C19-8CB3-46317596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5725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31" name="architecture-chip-2-0-text">
            <a:extLst xmlns:a="http://schemas.openxmlformats.org/drawingml/2006/main">
              <a:ext uri="{FF2B5EF4-FFF2-40B4-BE49-F238E27FC236}">
                <a16:creationId xmlns:a16="http://schemas.microsoft.com/office/drawing/2014/main" id="{0D318CCF-73F0-4B08-93A1-BEE89506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6487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Tracking Events</a:t>
            </a:r>
          </a:p>
        </p:txBody>
      </p:sp>
      <p:sp>
        <p:nvSpPr>
          <p:cNvPr id="32" name="architecture-chip-2-1">
            <a:extLst xmlns:a="http://schemas.openxmlformats.org/drawingml/2006/main">
              <a:ext uri="{FF2B5EF4-FFF2-40B4-BE49-F238E27FC236}">
                <a16:creationId xmlns:a16="http://schemas.microsoft.com/office/drawing/2014/main" id="{233B52B6-97D2-490C-9857-83A150B6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857250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33" name="architecture-chip-2-1-text">
            <a:extLst xmlns:a="http://schemas.openxmlformats.org/drawingml/2006/main">
              <a:ext uri="{FF2B5EF4-FFF2-40B4-BE49-F238E27FC236}">
                <a16:creationId xmlns:a16="http://schemas.microsoft.com/office/drawing/2014/main" id="{E888FA4D-483C-4488-9B5A-C93D6F37D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86487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Delivery Attempts</a:t>
            </a:r>
          </a:p>
        </p:txBody>
      </p:sp>
      <p:sp>
        <p:nvSpPr>
          <p:cNvPr id="34" name="architecture-chip-2-2">
            <a:extLst xmlns:a="http://schemas.openxmlformats.org/drawingml/2006/main">
              <a:ext uri="{FF2B5EF4-FFF2-40B4-BE49-F238E27FC236}">
                <a16:creationId xmlns:a16="http://schemas.microsoft.com/office/drawing/2014/main" id="{6575B6A5-1F9E-4314-9EF0-0AA01D636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90106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35" name="architecture-chip-2-2-text">
            <a:extLst xmlns:a="http://schemas.openxmlformats.org/drawingml/2006/main">
              <a:ext uri="{FF2B5EF4-FFF2-40B4-BE49-F238E27FC236}">
                <a16:creationId xmlns:a16="http://schemas.microsoft.com/office/drawing/2014/main" id="{38083489-108D-4839-81B3-0C22D2EB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0868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Payments</a:t>
            </a:r>
          </a:p>
        </p:txBody>
      </p:sp>
      <p:sp>
        <p:nvSpPr>
          <p:cNvPr id="36" name="architecture-chip-2-3">
            <a:extLst xmlns:a="http://schemas.openxmlformats.org/drawingml/2006/main">
              <a:ext uri="{FF2B5EF4-FFF2-40B4-BE49-F238E27FC236}">
                <a16:creationId xmlns:a16="http://schemas.microsoft.com/office/drawing/2014/main" id="{031D80C2-2DBA-4F49-9A67-8238990D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9010650"/>
            <a:ext cx="16573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DF7"/>
            </a:solidFill>
            <a:prstDash val="solid"/>
          </a:ln>
        </p:spPr>
      </p:sp>
      <p:sp>
        <p:nvSpPr>
          <p:cNvPr id="37" name="architecture-chip-2-3-text">
            <a:extLst xmlns:a="http://schemas.openxmlformats.org/drawingml/2006/main">
              <a:ext uri="{FF2B5EF4-FFF2-40B4-BE49-F238E27FC236}">
                <a16:creationId xmlns:a16="http://schemas.microsoft.com/office/drawing/2014/main" id="{698C27AF-C30B-49B6-9E7D-A22C72F7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908685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2653"/>
                </a:solidFill>
              </a:defRPr>
            </a:pPr>
            <a:r>
              <a:rPr sz="900" b="1">
                <a:solidFill>
                  <a:srgbClr val="082653"/>
                </a:solidFill>
              </a:rPr>
              <a:t>Proof of Delivery</a:t>
            </a:r>
          </a:p>
        </p:txBody>
      </p:sp>
      <p:sp>
        <p:nvSpPr>
          <p:cNvPr id="38" name="reference-to-core-line">
            <a:extLst xmlns:a="http://schemas.openxmlformats.org/drawingml/2006/main">
              <a:ext uri="{FF2B5EF4-FFF2-40B4-BE49-F238E27FC236}">
                <a16:creationId xmlns:a16="http://schemas.microsoft.com/office/drawing/2014/main" id="{4C5FBB38-8CE1-4C60-A3E4-E05A1FD1A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391150"/>
            <a:ext cx="38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entities-to-shipment-line">
            <a:extLst xmlns:a="http://schemas.openxmlformats.org/drawingml/2006/main">
              <a:ext uri="{FF2B5EF4-FFF2-40B4-BE49-F238E27FC236}">
                <a16:creationId xmlns:a16="http://schemas.microsoft.com/office/drawing/2014/main" id="{F21C363C-0174-4A9A-AED3-4E9985DDB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67437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entities-to-shipment-arrow">
            <a:extLst xmlns:a="http://schemas.openxmlformats.org/drawingml/2006/main">
              <a:ext uri="{FF2B5EF4-FFF2-40B4-BE49-F238E27FC236}">
                <a16:creationId xmlns:a16="http://schemas.microsoft.com/office/drawing/2014/main" id="{3DC5F74B-5C93-413C-8612-287D8B14A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6858000"/>
            <a:ext cx="2476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shipments-core">
            <a:extLst xmlns:a="http://schemas.openxmlformats.org/drawingml/2006/main">
              <a:ext uri="{FF2B5EF4-FFF2-40B4-BE49-F238E27FC236}">
                <a16:creationId xmlns:a16="http://schemas.microsoft.com/office/drawing/2014/main" id="{BAC01677-E894-4F4E-B82B-01D174E4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029450"/>
            <a:ext cx="35433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19050">
            <a:solidFill>
              <a:srgbClr val="1554A3"/>
            </a:solidFill>
            <a:prstDash val="solid"/>
          </a:ln>
        </p:spPr>
      </p:sp>
      <p:sp>
        <p:nvSpPr>
          <p:cNvPr id="42" name="shipments-core-icon">
            <a:extLst xmlns:a="http://schemas.openxmlformats.org/drawingml/2006/main">
              <a:ext uri="{FF2B5EF4-FFF2-40B4-BE49-F238E27FC236}">
                <a16:creationId xmlns:a16="http://schemas.microsoft.com/office/drawing/2014/main" id="{5CEA3825-EE07-436C-9715-DA337FE4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7181850"/>
            <a:ext cx="590550" cy="590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shipments-core-icon-text">
            <a:extLst xmlns:a="http://schemas.openxmlformats.org/drawingml/2006/main">
              <a:ext uri="{FF2B5EF4-FFF2-40B4-BE49-F238E27FC236}">
                <a16:creationId xmlns:a16="http://schemas.microsoft.com/office/drawing/2014/main" id="{427DA3BE-07E3-453F-90FF-2F609D3D1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735330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CORE</a:t>
            </a:r>
          </a:p>
        </p:txBody>
      </p:sp>
      <p:sp>
        <p:nvSpPr>
          <p:cNvPr id="44" name="shipments-core-title">
            <a:extLst xmlns:a="http://schemas.openxmlformats.org/drawingml/2006/main">
              <a:ext uri="{FF2B5EF4-FFF2-40B4-BE49-F238E27FC236}">
                <a16:creationId xmlns:a16="http://schemas.microsoft.com/office/drawing/2014/main" id="{DC37EAF9-76AB-4FCC-A26A-E189A6907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71437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SHIPMENTS</a:t>
            </a:r>
          </a:p>
        </p:txBody>
      </p:sp>
      <p:sp>
        <p:nvSpPr>
          <p:cNvPr id="45" name="shipments-core-copy">
            <a:extLst xmlns:a="http://schemas.openxmlformats.org/drawingml/2006/main">
              <a:ext uri="{FF2B5EF4-FFF2-40B4-BE49-F238E27FC236}">
                <a16:creationId xmlns:a16="http://schemas.microsoft.com/office/drawing/2014/main" id="{6F3D1CA2-639F-4C5F-8938-F3EADD208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7467600"/>
            <a:ext cx="2266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FFFFFF"/>
                </a:solidFill>
              </a:defRPr>
            </a:pPr>
            <a:r>
              <a:rPr sz="975">
                <a:solidFill>
                  <a:srgbClr val="FFFFFF"/>
                </a:solidFill>
              </a:rPr>
              <a:t>Connects sender, receiver, hubs, status, material, and failure reason.</a:t>
            </a:r>
          </a:p>
        </p:txBody>
      </p:sp>
      <p:sp>
        <p:nvSpPr>
          <p:cNvPr id="46" name="shipment-to-operations-line">
            <a:extLst xmlns:a="http://schemas.openxmlformats.org/drawingml/2006/main">
              <a:ext uri="{FF2B5EF4-FFF2-40B4-BE49-F238E27FC236}">
                <a16:creationId xmlns:a16="http://schemas.microsoft.com/office/drawing/2014/main" id="{F63BF0F4-402D-474F-AF72-8E3DA359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79248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shipment-to-operations-arrow">
            <a:extLst xmlns:a="http://schemas.openxmlformats.org/drawingml/2006/main">
              <a:ext uri="{FF2B5EF4-FFF2-40B4-BE49-F238E27FC236}">
                <a16:creationId xmlns:a16="http://schemas.microsoft.com/office/drawing/2014/main" id="{012ABC23-2675-4A10-A8A2-EBB97BEC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8039100"/>
            <a:ext cx="247650" cy="1714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architecture-count">
            <a:extLst xmlns:a="http://schemas.openxmlformats.org/drawingml/2006/main">
              <a:ext uri="{FF2B5EF4-FFF2-40B4-BE49-F238E27FC236}">
                <a16:creationId xmlns:a16="http://schemas.microsoft.com/office/drawing/2014/main" id="{A6B15B4D-7B42-4B1A-A774-D7E75EBA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979170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2653"/>
                </a:solidFill>
              </a:defRPr>
            </a:pPr>
            <a:r>
              <a:rPr sz="1050" b="1">
                <a:solidFill>
                  <a:srgbClr val="082653"/>
                </a:solidFill>
              </a:rPr>
              <a:t>13 tables connected through primary and foreign keys</a:t>
            </a:r>
          </a:p>
        </p:txBody>
      </p:sp>
      <p:sp>
        <p:nvSpPr>
          <p:cNvPr id="49" name="architecture-caption">
            <a:extLst xmlns:a="http://schemas.openxmlformats.org/drawingml/2006/main">
              <a:ext uri="{FF2B5EF4-FFF2-40B4-BE49-F238E27FC236}">
                <a16:creationId xmlns:a16="http://schemas.microsoft.com/office/drawing/2014/main" id="{8BBD479D-9608-42CE-AA43-2C4EDBE1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01346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718096"/>
                </a:solidFill>
              </a:defRPr>
            </a:pPr>
            <a:r>
              <a:rPr sz="975">
                <a:solidFill>
                  <a:srgbClr val="718096"/>
                </a:solidFill>
              </a:rPr>
              <a:t>Simplified solution view  ·  Full ERD documented in the project</a:t>
            </a:r>
          </a:p>
        </p:txBody>
      </p:sp>
      <p:sp>
        <p:nvSpPr>
          <p:cNvPr id="50" name="model-intro">
            <a:extLst xmlns:a="http://schemas.openxmlformats.org/drawingml/2006/main">
              <a:ext uri="{FF2B5EF4-FFF2-40B4-BE49-F238E27FC236}">
                <a16:creationId xmlns:a16="http://schemas.microsoft.com/office/drawing/2014/main" id="{9C14E079-4A48-4A37-87E3-366BD17E8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43300"/>
            <a:ext cx="4191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2D42"/>
                </a:solidFill>
              </a:defRPr>
            </a:pPr>
            <a:r>
              <a:rPr sz="1650" b="1">
                <a:solidFill>
                  <a:srgbClr val="1E2D42"/>
                </a:solidFill>
              </a:rPr>
              <a:t>I designed a relational SQL Server database to turn disconnected records into one traceable logistics system.</a:t>
            </a:r>
          </a:p>
        </p:txBody>
      </p:sp>
      <p:sp>
        <p:nvSpPr>
          <p:cNvPr id="51" name="metric-tables">
            <a:extLst xmlns:a="http://schemas.openxmlformats.org/drawingml/2006/main">
              <a:ext uri="{FF2B5EF4-FFF2-40B4-BE49-F238E27FC236}">
                <a16:creationId xmlns:a16="http://schemas.microsoft.com/office/drawing/2014/main" id="{90D9D2FA-AC77-4102-9327-41F61016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629150"/>
            <a:ext cx="19621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metric-tables-value">
            <a:extLst xmlns:a="http://schemas.openxmlformats.org/drawingml/2006/main">
              <a:ext uri="{FF2B5EF4-FFF2-40B4-BE49-F238E27FC236}">
                <a16:creationId xmlns:a16="http://schemas.microsoft.com/office/drawing/2014/main" id="{E27D1B2E-5D46-4AEE-AA0A-76063B66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762500"/>
            <a:ext cx="1581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53" name="metric-tables-label">
            <a:extLst xmlns:a="http://schemas.openxmlformats.org/drawingml/2006/main">
              <a:ext uri="{FF2B5EF4-FFF2-40B4-BE49-F238E27FC236}">
                <a16:creationId xmlns:a16="http://schemas.microsoft.com/office/drawing/2014/main" id="{8344329E-5658-4CF1-8975-9FFEAB6A6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31495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RELATIONAL TABLES</a:t>
            </a:r>
          </a:p>
        </p:txBody>
      </p:sp>
      <p:sp>
        <p:nvSpPr>
          <p:cNvPr id="54" name="metric-queries">
            <a:extLst xmlns:a="http://schemas.openxmlformats.org/drawingml/2006/main">
              <a:ext uri="{FF2B5EF4-FFF2-40B4-BE49-F238E27FC236}">
                <a16:creationId xmlns:a16="http://schemas.microsoft.com/office/drawing/2014/main" id="{291C5AA3-A8BE-4D51-8083-7A718B46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629150"/>
            <a:ext cx="20383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metric-queries-value">
            <a:extLst xmlns:a="http://schemas.openxmlformats.org/drawingml/2006/main">
              <a:ext uri="{FF2B5EF4-FFF2-40B4-BE49-F238E27FC236}">
                <a16:creationId xmlns:a16="http://schemas.microsoft.com/office/drawing/2014/main" id="{A1AE528C-A3F4-4080-AAB3-FF6ED717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762500"/>
            <a:ext cx="1657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56" name="metric-queries-label">
            <a:extLst xmlns:a="http://schemas.openxmlformats.org/drawingml/2006/main">
              <a:ext uri="{FF2B5EF4-FFF2-40B4-BE49-F238E27FC236}">
                <a16:creationId xmlns:a16="http://schemas.microsoft.com/office/drawing/2014/main" id="{BCD291F2-0EE2-4591-8D42-C54AD240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3149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ANALYTICAL QUERIES</a:t>
            </a:r>
          </a:p>
        </p:txBody>
      </p:sp>
      <p:sp>
        <p:nvSpPr>
          <p:cNvPr id="57" name="point-01">
            <a:extLst xmlns:a="http://schemas.openxmlformats.org/drawingml/2006/main">
              <a:ext uri="{FF2B5EF4-FFF2-40B4-BE49-F238E27FC236}">
                <a16:creationId xmlns:a16="http://schemas.microsoft.com/office/drawing/2014/main" id="{CFDB9FFF-B96B-4671-B242-E987DE3C5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61150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point-01-number">
            <a:extLst xmlns:a="http://schemas.openxmlformats.org/drawingml/2006/main">
              <a:ext uri="{FF2B5EF4-FFF2-40B4-BE49-F238E27FC236}">
                <a16:creationId xmlns:a16="http://schemas.microsoft.com/office/drawing/2014/main" id="{6A2EE546-2B28-4308-A133-7141D0FD8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61912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59" name="point-01-heading">
            <a:extLst xmlns:a="http://schemas.openxmlformats.org/drawingml/2006/main">
              <a:ext uri="{FF2B5EF4-FFF2-40B4-BE49-F238E27FC236}">
                <a16:creationId xmlns:a16="http://schemas.microsoft.com/office/drawing/2014/main" id="{26ED003D-771B-4D19-9332-64A20549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6105525"/>
            <a:ext cx="358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SINGLE SOURCE OF TRUTH</a:t>
            </a:r>
          </a:p>
        </p:txBody>
      </p:sp>
      <p:sp>
        <p:nvSpPr>
          <p:cNvPr id="60" name="point-01-body">
            <a:extLst xmlns:a="http://schemas.openxmlformats.org/drawingml/2006/main">
              <a:ext uri="{FF2B5EF4-FFF2-40B4-BE49-F238E27FC236}">
                <a16:creationId xmlns:a16="http://schemas.microsoft.com/office/drawing/2014/main" id="{63D92190-EB22-40D2-8DF6-49C3D97B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6438900"/>
            <a:ext cx="358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E2D42"/>
                </a:solidFill>
              </a:defRPr>
            </a:pPr>
            <a:r>
              <a:rPr sz="1275">
                <a:solidFill>
                  <a:srgbClr val="1E2D42"/>
                </a:solidFill>
              </a:rPr>
              <a:t>Customers, hubs, reference data, and shipments are connected through validated relationships.</a:t>
            </a:r>
          </a:p>
        </p:txBody>
      </p:sp>
      <p:sp>
        <p:nvSpPr>
          <p:cNvPr id="61" name="point-02">
            <a:extLst xmlns:a="http://schemas.openxmlformats.org/drawingml/2006/main">
              <a:ext uri="{FF2B5EF4-FFF2-40B4-BE49-F238E27FC236}">
                <a16:creationId xmlns:a16="http://schemas.microsoft.com/office/drawing/2014/main" id="{DBAC283A-7730-435C-ACE0-C3F7F2EA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7467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point-02-number">
            <a:extLst xmlns:a="http://schemas.openxmlformats.org/drawingml/2006/main">
              <a:ext uri="{FF2B5EF4-FFF2-40B4-BE49-F238E27FC236}">
                <a16:creationId xmlns:a16="http://schemas.microsoft.com/office/drawing/2014/main" id="{C06E4C0D-0477-4DE9-895A-D31E0255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75438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63" name="point-02-heading">
            <a:extLst xmlns:a="http://schemas.openxmlformats.org/drawingml/2006/main">
              <a:ext uri="{FF2B5EF4-FFF2-40B4-BE49-F238E27FC236}">
                <a16:creationId xmlns:a16="http://schemas.microsoft.com/office/drawing/2014/main" id="{390B700C-B390-40FD-A291-DAAFCF882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7458075"/>
            <a:ext cx="358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END-TO-END TRACEABILITY</a:t>
            </a:r>
          </a:p>
        </p:txBody>
      </p:sp>
      <p:sp>
        <p:nvSpPr>
          <p:cNvPr id="64" name="point-02-body">
            <a:extLst xmlns:a="http://schemas.openxmlformats.org/drawingml/2006/main">
              <a:ext uri="{FF2B5EF4-FFF2-40B4-BE49-F238E27FC236}">
                <a16:creationId xmlns:a16="http://schemas.microsoft.com/office/drawing/2014/main" id="{55B7D27C-A5CA-47FF-9FAA-893E6D7B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7791450"/>
            <a:ext cx="358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E2D42"/>
                </a:solidFill>
              </a:defRPr>
            </a:pPr>
            <a:r>
              <a:rPr sz="1275">
                <a:solidFill>
                  <a:srgbClr val="1E2D42"/>
                </a:solidFill>
              </a:rPr>
              <a:t>Every tracking event, delivery attempt, payment, and proof of delivery remains linked to its shipment.</a:t>
            </a:r>
          </a:p>
        </p:txBody>
      </p:sp>
      <p:sp>
        <p:nvSpPr>
          <p:cNvPr id="65" name="point-03">
            <a:extLst xmlns:a="http://schemas.openxmlformats.org/drawingml/2006/main">
              <a:ext uri="{FF2B5EF4-FFF2-40B4-BE49-F238E27FC236}">
                <a16:creationId xmlns:a16="http://schemas.microsoft.com/office/drawing/2014/main" id="{57C3EE0F-9DAA-4CCB-8BEE-9190B356B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88201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point-03-number">
            <a:extLst xmlns:a="http://schemas.openxmlformats.org/drawingml/2006/main">
              <a:ext uri="{FF2B5EF4-FFF2-40B4-BE49-F238E27FC236}">
                <a16:creationId xmlns:a16="http://schemas.microsoft.com/office/drawing/2014/main" id="{ED53556B-46FB-489B-9400-9B4EBCF98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889635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67" name="point-03-heading">
            <a:extLst xmlns:a="http://schemas.openxmlformats.org/drawingml/2006/main">
              <a:ext uri="{FF2B5EF4-FFF2-40B4-BE49-F238E27FC236}">
                <a16:creationId xmlns:a16="http://schemas.microsoft.com/office/drawing/2014/main" id="{F769939A-4FF7-4F14-B779-CBA4619A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8810625"/>
            <a:ext cx="358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DECISION-READY FOUNDATION</a:t>
            </a:r>
          </a:p>
        </p:txBody>
      </p:sp>
      <p:sp>
        <p:nvSpPr>
          <p:cNvPr id="68" name="point-03-body">
            <a:extLst xmlns:a="http://schemas.openxmlformats.org/drawingml/2006/main">
              <a:ext uri="{FF2B5EF4-FFF2-40B4-BE49-F238E27FC236}">
                <a16:creationId xmlns:a16="http://schemas.microsoft.com/office/drawing/2014/main" id="{B4C1537E-2962-4FB3-B80E-6FDC8B37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9144000"/>
            <a:ext cx="3581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E2D42"/>
                </a:solidFill>
              </a:defRPr>
            </a:pPr>
            <a:r>
              <a:rPr sz="1275">
                <a:solidFill>
                  <a:srgbClr val="1E2D42"/>
                </a:solidFill>
              </a:rPr>
              <a:t>Ten reusable queries expose delays, courier performance, hub throughput, stuck shipments, POD, and revenue.</a:t>
            </a:r>
          </a:p>
        </p:txBody>
      </p:sp>
      <p:sp>
        <p:nvSpPr>
          <p:cNvPr id="69" name="slide-04-result-band">
            <a:extLst xmlns:a="http://schemas.openxmlformats.org/drawingml/2006/main">
              <a:ext uri="{FF2B5EF4-FFF2-40B4-BE49-F238E27FC236}">
                <a16:creationId xmlns:a16="http://schemas.microsoft.com/office/drawing/2014/main" id="{82979083-460A-414A-87DE-CCD3CE603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0191750"/>
            <a:ext cx="41910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C3B933D6-1590-4F6D-9BA0-A8CC3251D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03441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47B2A"/>
                </a:solidFill>
              </a:defRPr>
            </a:pPr>
            <a:r>
              <a:rPr sz="1125" b="1">
                <a:solidFill>
                  <a:srgbClr val="F47B2A"/>
                </a:solidFill>
              </a:rPr>
              <a:t>RESULT</a:t>
            </a:r>
          </a:p>
        </p:txBody>
      </p:sp>
      <p:sp>
        <p:nvSpPr>
          <p:cNvPr id="71" name="result-copy">
            <a:extLst xmlns:a="http://schemas.openxmlformats.org/drawingml/2006/main">
              <a:ext uri="{FF2B5EF4-FFF2-40B4-BE49-F238E27FC236}">
                <a16:creationId xmlns:a16="http://schemas.microsoft.com/office/drawing/2014/main" id="{1AE52D00-5A30-49F6-B2F8-9EAB230F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0648950"/>
            <a:ext cx="3657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 trusted SQL foundation for operational monitoring and Power BI.</a:t>
            </a:r>
          </a:p>
        </p:txBody>
      </p:sp>
      <p:sp>
        <p:nvSpPr>
          <p:cNvPr id="72" name="slide-04-footer-left">
            <a:extLst xmlns:a="http://schemas.openxmlformats.org/drawingml/2006/main">
              <a:ext uri="{FF2B5EF4-FFF2-40B4-BE49-F238E27FC236}">
                <a16:creationId xmlns:a16="http://schemas.microsoft.com/office/drawing/2014/main" id="{8C8561CA-43A5-468A-A713-AF23C6E40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73" name="slide-04-footer-right">
            <a:extLst xmlns:a="http://schemas.openxmlformats.org/drawingml/2006/main">
              <a:ext uri="{FF2B5EF4-FFF2-40B4-BE49-F238E27FC236}">
                <a16:creationId xmlns:a16="http://schemas.microsoft.com/office/drawing/2014/main" id="{516B058A-3C98-4A3C-8F22-755A445B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153082663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lide-05-top-accent">
            <a:extLst xmlns:a="http://schemas.openxmlformats.org/drawingml/2006/main">
              <a:ext uri="{FF2B5EF4-FFF2-40B4-BE49-F238E27FC236}">
                <a16:creationId xmlns:a16="http://schemas.microsoft.com/office/drawing/2014/main" id="{D77DECBF-EFA3-4C7B-9DDC-731B6354F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5-eyebrow">
            <a:extLst xmlns:a="http://schemas.openxmlformats.org/drawingml/2006/main">
              <a:ext uri="{FF2B5EF4-FFF2-40B4-BE49-F238E27FC236}">
                <a16:creationId xmlns:a16="http://schemas.microsoft.com/office/drawing/2014/main" id="{B9FD7567-A5E7-4B88-98FF-DD1004151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POWER BI DASHBOARD</a:t>
            </a:r>
          </a:p>
        </p:txBody>
      </p:sp>
      <p:sp>
        <p:nvSpPr>
          <p:cNvPr id="3" name="slide-05-number">
            <a:extLst xmlns:a="http://schemas.openxmlformats.org/drawingml/2006/main">
              <a:ext uri="{FF2B5EF4-FFF2-40B4-BE49-F238E27FC236}">
                <a16:creationId xmlns:a16="http://schemas.microsoft.com/office/drawing/2014/main" id="{5B5B6F36-97CA-4181-A8CC-2CC3E7114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05 / 08</a:t>
            </a:r>
          </a:p>
        </p:txBody>
      </p:sp>
      <p:sp>
        <p:nvSpPr>
          <p:cNvPr id="4" name="slide-05-title">
            <a:extLst xmlns:a="http://schemas.openxmlformats.org/drawingml/2006/main">
              <a:ext uri="{FF2B5EF4-FFF2-40B4-BE49-F238E27FC236}">
                <a16:creationId xmlns:a16="http://schemas.microsoft.com/office/drawing/2014/main" id="{EA9D4A08-87D1-40C8-BFCA-887F2E74F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082653"/>
                </a:solidFill>
              </a:defRPr>
            </a:pPr>
            <a:r>
              <a:rPr sz="3375" b="1">
                <a:solidFill>
                  <a:srgbClr val="082653"/>
                </a:solidFill>
              </a:rPr>
              <a:t>ONE DASHBOARD. THREE</a:t>
            </a:r>
          </a:p>
          <a:p xmlns:a="http://schemas.openxmlformats.org/drawingml/2006/main">
            <a:pPr>
              <a:defRPr sz="3375" b="1">
                <a:solidFill>
                  <a:srgbClr val="082653"/>
                </a:solidFill>
              </a:defRPr>
            </a:pPr>
            <a:r>
              <a:rPr sz="3375" b="1">
                <a:solidFill>
                  <a:srgbClr val="082653"/>
                </a:solidFill>
              </a:rPr>
              <a:t>OPERATIONAL VIEWS.</a:t>
            </a:r>
          </a:p>
        </p:txBody>
      </p:sp>
      <p:sp>
        <p:nvSpPr>
          <p:cNvPr id="5" name="slide-05-subtitle">
            <a:extLst xmlns:a="http://schemas.openxmlformats.org/drawingml/2006/main">
              <a:ext uri="{FF2B5EF4-FFF2-40B4-BE49-F238E27FC236}">
                <a16:creationId xmlns:a16="http://schemas.microsoft.com/office/drawing/2014/main" id="{C14137EA-AC1D-4D90-A498-7D12BD9B3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Interactive pages move from the overall delay problem to the supplier, customer, vehicle, and GPS drivers behind it.</a:t>
            </a:r>
          </a:p>
        </p:txBody>
      </p:sp>
      <p:sp>
        <p:nvSpPr>
          <p:cNvPr id="6" name="delay-dashboard-frame">
            <a:extLst xmlns:a="http://schemas.openxmlformats.org/drawingml/2006/main">
              <a:ext uri="{FF2B5EF4-FFF2-40B4-BE49-F238E27FC236}">
                <a16:creationId xmlns:a16="http://schemas.microsoft.com/office/drawing/2014/main" id="{1CDFA69E-C587-4689-84AA-DA9B660A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8915400" cy="4953000"/>
          </a:xfrm>
          <a:prstGeom xmlns:a="http://schemas.openxmlformats.org/drawingml/2006/main" prst="roundRect">
            <a:avLst>
              <a:gd name="adj" fmla="val 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032fb2e46f43c0"/>
          <a:stretch xmlns:a="http://schemas.openxmlformats.org/drawingml/2006/main"/>
        </p:blipFill>
        <p:spPr>
          <a:xfrm xmlns:a="http://schemas.openxmlformats.org/drawingml/2006/main">
            <a:off x="800100" y="3619500"/>
            <a:ext cx="8686800" cy="4886325"/>
          </a:xfrm>
          <a:prstGeom xmlns:a="http://schemas.openxmlformats.org/drawingml/2006/main" prst="rect">
            <a:avLst/>
          </a:prstGeom>
        </p:spPr>
      </p:pic>
      <p:sp>
        <p:nvSpPr>
          <p:cNvPr id="8" name="delay-dashboard-label-bg">
            <a:extLst xmlns:a="http://schemas.openxmlformats.org/drawingml/2006/main">
              <a:ext uri="{FF2B5EF4-FFF2-40B4-BE49-F238E27FC236}">
                <a16:creationId xmlns:a16="http://schemas.microsoft.com/office/drawing/2014/main" id="{0B9CDEFC-D6CD-4BB0-AA2B-077CA1CF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33800"/>
            <a:ext cx="3162300" cy="4953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delay-dashboard-label">
            <a:extLst xmlns:a="http://schemas.openxmlformats.org/drawingml/2006/main">
              <a:ext uri="{FF2B5EF4-FFF2-40B4-BE49-F238E27FC236}">
                <a16:creationId xmlns:a16="http://schemas.microsoft.com/office/drawing/2014/main" id="{C8C46409-6C07-4DA8-BE76-9659A515A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76675"/>
            <a:ext cx="278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01  DELAY ANALYSIS</a:t>
            </a:r>
          </a:p>
        </p:txBody>
      </p:sp>
      <p:sp>
        <p:nvSpPr>
          <p:cNvPr id="10" name="supplier-dashboard-frame">
            <a:extLst xmlns:a="http://schemas.openxmlformats.org/drawingml/2006/main">
              <a:ext uri="{FF2B5EF4-FFF2-40B4-BE49-F238E27FC236}">
                <a16:creationId xmlns:a16="http://schemas.microsoft.com/office/drawing/2014/main" id="{37A95C47-E182-4A27-B815-123A4685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43950"/>
            <a:ext cx="4305300" cy="2419350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3d83c22aaf43bf"/>
          <a:stretch xmlns:a="http://schemas.openxmlformats.org/drawingml/2006/main"/>
        </p:blipFill>
        <p:spPr>
          <a:xfrm xmlns:a="http://schemas.openxmlformats.org/drawingml/2006/main">
            <a:off x="762000" y="8820150"/>
            <a:ext cx="4152900" cy="2333625"/>
          </a:xfrm>
          <a:prstGeom xmlns:a="http://schemas.openxmlformats.org/drawingml/2006/main" prst="rect">
            <a:avLst/>
          </a:prstGeom>
        </p:spPr>
      </p:pic>
      <p:sp>
        <p:nvSpPr>
          <p:cNvPr id="12" name="supplier-label-bg">
            <a:extLst xmlns:a="http://schemas.openxmlformats.org/drawingml/2006/main">
              <a:ext uri="{FF2B5EF4-FFF2-40B4-BE49-F238E27FC236}">
                <a16:creationId xmlns:a16="http://schemas.microsoft.com/office/drawing/2014/main" id="{08DF136C-B9C3-4938-A518-BE70DF2E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896350"/>
            <a:ext cx="23241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upplier-label">
            <a:extLst xmlns:a="http://schemas.openxmlformats.org/drawingml/2006/main">
              <a:ext uri="{FF2B5EF4-FFF2-40B4-BE49-F238E27FC236}">
                <a16:creationId xmlns:a16="http://schemas.microsoft.com/office/drawing/2014/main" id="{E8D99FAA-037F-4759-BFA8-EDD1FB3D3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9010650"/>
            <a:ext cx="2076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02  SUPPLIERS &amp; CUSTOMERS</a:t>
            </a:r>
          </a:p>
        </p:txBody>
      </p:sp>
      <p:sp>
        <p:nvSpPr>
          <p:cNvPr id="14" name="fleet-dashboard-frame">
            <a:extLst xmlns:a="http://schemas.openxmlformats.org/drawingml/2006/main">
              <a:ext uri="{FF2B5EF4-FFF2-40B4-BE49-F238E27FC236}">
                <a16:creationId xmlns:a16="http://schemas.microsoft.com/office/drawing/2014/main" id="{7B0B6D84-1579-46D5-AE24-172AFDA3C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8743950"/>
            <a:ext cx="4305300" cy="2419350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3c65a60a404a9f"/>
          <a:stretch xmlns:a="http://schemas.openxmlformats.org/drawingml/2006/main"/>
        </p:blipFill>
        <p:spPr>
          <a:xfrm xmlns:a="http://schemas.openxmlformats.org/drawingml/2006/main">
            <a:off x="5372100" y="8820150"/>
            <a:ext cx="4152900" cy="2333625"/>
          </a:xfrm>
          <a:prstGeom xmlns:a="http://schemas.openxmlformats.org/drawingml/2006/main" prst="rect">
            <a:avLst/>
          </a:prstGeom>
        </p:spPr>
      </p:pic>
      <p:sp>
        <p:nvSpPr>
          <p:cNvPr id="16" name="fleet-label-bg">
            <a:extLst xmlns:a="http://schemas.openxmlformats.org/drawingml/2006/main">
              <a:ext uri="{FF2B5EF4-FFF2-40B4-BE49-F238E27FC236}">
                <a16:creationId xmlns:a16="http://schemas.microsoft.com/office/drawing/2014/main" id="{7421817C-A684-4434-8F30-D31E5314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8896350"/>
            <a:ext cx="186690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5B3B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fleet-label">
            <a:extLst xmlns:a="http://schemas.openxmlformats.org/drawingml/2006/main">
              <a:ext uri="{FF2B5EF4-FFF2-40B4-BE49-F238E27FC236}">
                <a16:creationId xmlns:a16="http://schemas.microsoft.com/office/drawing/2014/main" id="{9F2B6BBE-F0D2-4DAB-B243-57D11E68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9010650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03  FLEET &amp; GPS</a:t>
            </a:r>
          </a:p>
        </p:txBody>
      </p:sp>
      <p:sp>
        <p:nvSpPr>
          <p:cNvPr id="18" name="slide-05-summary-band">
            <a:extLst xmlns:a="http://schemas.openxmlformats.org/drawingml/2006/main">
              <a:ext uri="{FF2B5EF4-FFF2-40B4-BE49-F238E27FC236}">
                <a16:creationId xmlns:a16="http://schemas.microsoft.com/office/drawing/2014/main" id="{D2113AF2-F196-4C1B-812C-BC6BAF4C3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68100"/>
            <a:ext cx="89154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lide-05-summary-label">
            <a:extLst xmlns:a="http://schemas.openxmlformats.org/drawingml/2006/main">
              <a:ext uri="{FF2B5EF4-FFF2-40B4-BE49-F238E27FC236}">
                <a16:creationId xmlns:a16="http://schemas.microsoft.com/office/drawing/2014/main" id="{CCD2FE73-8716-4E11-A7A5-0C2C565CD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6395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FROM SQL MODEL TO INTERACTIVE MONITORING</a:t>
            </a:r>
          </a:p>
        </p:txBody>
      </p:sp>
      <p:sp>
        <p:nvSpPr>
          <p:cNvPr id="20" name="slide-05-summary-stats">
            <a:extLst xmlns:a="http://schemas.openxmlformats.org/drawingml/2006/main">
              <a:ext uri="{FF2B5EF4-FFF2-40B4-BE49-F238E27FC236}">
                <a16:creationId xmlns:a16="http://schemas.microsoft.com/office/drawing/2014/main" id="{D2E1A258-5CFD-4B12-9B27-9E9A30A8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16395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47B2A"/>
                </a:solidFill>
              </a:defRPr>
            </a:pPr>
            <a:r>
              <a:rPr sz="975" b="1">
                <a:solidFill>
                  <a:srgbClr val="F47B2A"/>
                </a:solidFill>
              </a:rPr>
              <a:t>6,773 SHIPMENTS  ·  32 FEATURES  ·  MAR 2019–SEP 2020</a:t>
            </a:r>
          </a:p>
        </p:txBody>
      </p:sp>
      <p:sp>
        <p:nvSpPr>
          <p:cNvPr id="21" name="slide-05-footer-left">
            <a:extLst xmlns:a="http://schemas.openxmlformats.org/drawingml/2006/main">
              <a:ext uri="{FF2B5EF4-FFF2-40B4-BE49-F238E27FC236}">
                <a16:creationId xmlns:a16="http://schemas.microsoft.com/office/drawing/2014/main" id="{D04AD79D-D8C7-4ECA-B3EE-6FF7611A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22" name="slide-05-footer-right">
            <a:extLst xmlns:a="http://schemas.openxmlformats.org/drawingml/2006/main">
              <a:ext uri="{FF2B5EF4-FFF2-40B4-BE49-F238E27FC236}">
                <a16:creationId xmlns:a16="http://schemas.microsoft.com/office/drawing/2014/main" id="{2D252444-E622-49EC-9837-6973D3A9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10281991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" name="slide-06-top-accent">
            <a:extLst xmlns:a="http://schemas.openxmlformats.org/drawingml/2006/main">
              <a:ext uri="{FF2B5EF4-FFF2-40B4-BE49-F238E27FC236}">
                <a16:creationId xmlns:a16="http://schemas.microsoft.com/office/drawing/2014/main" id="{537171E0-DB95-4843-8645-35F741242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6-eyebrow">
            <a:extLst xmlns:a="http://schemas.openxmlformats.org/drawingml/2006/main">
              <a:ext uri="{FF2B5EF4-FFF2-40B4-BE49-F238E27FC236}">
                <a16:creationId xmlns:a16="http://schemas.microsoft.com/office/drawing/2014/main" id="{50A12CC5-6C7B-4897-8AF4-80F6F5BB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KEY INSIGHTS</a:t>
            </a:r>
          </a:p>
        </p:txBody>
      </p:sp>
      <p:sp>
        <p:nvSpPr>
          <p:cNvPr id="3" name="slide-06-number">
            <a:extLst xmlns:a="http://schemas.openxmlformats.org/drawingml/2006/main">
              <a:ext uri="{FF2B5EF4-FFF2-40B4-BE49-F238E27FC236}">
                <a16:creationId xmlns:a16="http://schemas.microsoft.com/office/drawing/2014/main" id="{D2A41B54-F83F-4076-9BE1-F68364B3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06 / 08</a:t>
            </a:r>
          </a:p>
        </p:txBody>
      </p:sp>
      <p:sp>
        <p:nvSpPr>
          <p:cNvPr id="4" name="slide-06-title">
            <a:extLst xmlns:a="http://schemas.openxmlformats.org/drawingml/2006/main">
              <a:ext uri="{FF2B5EF4-FFF2-40B4-BE49-F238E27FC236}">
                <a16:creationId xmlns:a16="http://schemas.microsoft.com/office/drawing/2014/main" id="{7BC9C932-C515-4290-A7A9-3789EC531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82653"/>
                </a:solidFill>
              </a:defRPr>
            </a:pPr>
            <a:r>
              <a:rPr sz="3225" b="1">
                <a:solidFill>
                  <a:srgbClr val="082653"/>
                </a:solidFill>
              </a:rPr>
              <a:t>THE DELAY PROBLEM HAS</a:t>
            </a:r>
          </a:p>
          <a:p xmlns:a="http://schemas.openxmlformats.org/drawingml/2006/main">
            <a:pPr>
              <a:defRPr sz="3225" b="1">
                <a:solidFill>
                  <a:srgbClr val="082653"/>
                </a:solidFill>
              </a:defRPr>
            </a:pPr>
            <a:r>
              <a:rPr sz="3225" b="1">
                <a:solidFill>
                  <a:srgbClr val="082653"/>
                </a:solidFill>
              </a:rPr>
              <a:t>CLEAR OPERATIONAL DRIVERS</a:t>
            </a:r>
          </a:p>
        </p:txBody>
      </p:sp>
      <p:sp>
        <p:nvSpPr>
          <p:cNvPr id="5" name="slide-06-subtitle">
            <a:extLst xmlns:a="http://schemas.openxmlformats.org/drawingml/2006/main">
              <a:ext uri="{FF2B5EF4-FFF2-40B4-BE49-F238E27FC236}">
                <a16:creationId xmlns:a16="http://schemas.microsoft.com/office/drawing/2014/main" id="{2E7F6297-406C-4731-A128-910E90A61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The risk is concentrated across time, distance, tracking quality, vehicle type, and partner performance.</a:t>
            </a:r>
          </a:p>
        </p:txBody>
      </p:sp>
      <p:sp>
        <p:nvSpPr>
          <p:cNvPr id="6" name="crisis-band">
            <a:extLst xmlns:a="http://schemas.openxmlformats.org/drawingml/2006/main">
              <a:ext uri="{FF2B5EF4-FFF2-40B4-BE49-F238E27FC236}">
                <a16:creationId xmlns:a16="http://schemas.microsoft.com/office/drawing/2014/main" id="{54224DCE-0382-49B8-B31C-A46EC0CBB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89154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risis-label">
            <a:extLst xmlns:a="http://schemas.openxmlformats.org/drawingml/2006/main">
              <a:ext uri="{FF2B5EF4-FFF2-40B4-BE49-F238E27FC236}">
                <a16:creationId xmlns:a16="http://schemas.microsoft.com/office/drawing/2014/main" id="{F5EC95A8-70B7-4AC8-B393-610F4A70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957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CRISIS PERIOD</a:t>
            </a:r>
          </a:p>
        </p:txBody>
      </p:sp>
      <p:sp>
        <p:nvSpPr>
          <p:cNvPr id="8" name="crisis-value">
            <a:extLst xmlns:a="http://schemas.openxmlformats.org/drawingml/2006/main">
              <a:ext uri="{FF2B5EF4-FFF2-40B4-BE49-F238E27FC236}">
                <a16:creationId xmlns:a16="http://schemas.microsoft.com/office/drawing/2014/main" id="{0971FEA6-AAC5-4BA7-B617-11BD0380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81450"/>
            <a:ext cx="285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</a:defRPr>
            </a:pPr>
            <a:r>
              <a:rPr sz="3600" b="1">
                <a:solidFill>
                  <a:srgbClr val="FFFFFF"/>
                </a:solidFill>
              </a:rPr>
              <a:t>96–100%</a:t>
            </a:r>
          </a:p>
        </p:txBody>
      </p:sp>
      <p:sp>
        <p:nvSpPr>
          <p:cNvPr id="9" name="crisis-copy">
            <a:extLst xmlns:a="http://schemas.openxmlformats.org/drawingml/2006/main">
              <a:ext uri="{FF2B5EF4-FFF2-40B4-BE49-F238E27FC236}">
                <a16:creationId xmlns:a16="http://schemas.microsoft.com/office/drawing/2014/main" id="{B7441430-5F29-4ED0-8D05-1DD88D7DA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810000"/>
            <a:ext cx="3905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delay rate sustained across the dashboard crisis period</a:t>
            </a:r>
          </a:p>
        </p:txBody>
      </p:sp>
      <p:sp>
        <p:nvSpPr>
          <p:cNvPr id="10" name="crisis-period">
            <a:extLst xmlns:a="http://schemas.openxmlformats.org/drawingml/2006/main">
              <a:ext uri="{FF2B5EF4-FFF2-40B4-BE49-F238E27FC236}">
                <a16:creationId xmlns:a16="http://schemas.microsoft.com/office/drawing/2014/main" id="{806E1D52-11D4-44BB-AC61-2B53AF91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00500"/>
            <a:ext cx="1581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FE7E8"/>
                </a:solidFill>
              </a:defRPr>
            </a:pPr>
            <a:r>
              <a:rPr sz="1200" b="1">
                <a:solidFill>
                  <a:srgbClr val="FFE7E8"/>
                </a:solidFill>
              </a:rPr>
              <a:t>JUL 2019 – MAY 2020</a:t>
            </a:r>
          </a:p>
        </p:txBody>
      </p:sp>
      <p:sp>
        <p:nvSpPr>
          <p:cNvPr id="11" name="distance-card">
            <a:extLst xmlns:a="http://schemas.openxmlformats.org/drawingml/2006/main">
              <a:ext uri="{FF2B5EF4-FFF2-40B4-BE49-F238E27FC236}">
                <a16:creationId xmlns:a16="http://schemas.microsoft.com/office/drawing/2014/main" id="{3B200867-147F-4943-AEBA-D18F3168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43053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12" name="distance-title">
            <a:extLst xmlns:a="http://schemas.openxmlformats.org/drawingml/2006/main">
              <a:ext uri="{FF2B5EF4-FFF2-40B4-BE49-F238E27FC236}">
                <a16:creationId xmlns:a16="http://schemas.microsoft.com/office/drawing/2014/main" id="{1845223A-FF87-4457-BC99-F3E8D600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530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01  DISTANCE RISK</a:t>
            </a:r>
          </a:p>
        </p:txBody>
      </p:sp>
      <p:sp>
        <p:nvSpPr>
          <p:cNvPr id="13" name="distance-copy">
            <a:extLst xmlns:a="http://schemas.openxmlformats.org/drawingml/2006/main">
              <a:ext uri="{FF2B5EF4-FFF2-40B4-BE49-F238E27FC236}">
                <a16:creationId xmlns:a16="http://schemas.microsoft.com/office/drawing/2014/main" id="{6D5A4221-2B2B-40C1-AD24-85176325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578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E2D42"/>
                </a:solidFill>
              </a:defRPr>
            </a:pPr>
            <a:r>
              <a:rPr sz="1200">
                <a:solidFill>
                  <a:srgbClr val="1E2D42"/>
                </a:solidFill>
              </a:rPr>
              <a:t>Very long and short routes show the highest delay rates.</a:t>
            </a:r>
          </a:p>
        </p:txBody>
      </p:sp>
      <p:sp>
        <p:nvSpPr>
          <p:cNvPr id="14" name="distance-label-0">
            <a:extLst xmlns:a="http://schemas.openxmlformats.org/drawingml/2006/main">
              <a:ext uri="{FF2B5EF4-FFF2-40B4-BE49-F238E27FC236}">
                <a16:creationId xmlns:a16="http://schemas.microsoft.com/office/drawing/2014/main" id="{75CDC9E2-F90C-4E95-ACC2-FE9A0F6B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2103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VERY LONG</a:t>
            </a:r>
          </a:p>
        </p:txBody>
      </p:sp>
      <p:sp>
        <p:nvSpPr>
          <p:cNvPr id="15" name="distance-track-0">
            <a:extLst xmlns:a="http://schemas.openxmlformats.org/drawingml/2006/main">
              <a:ext uri="{FF2B5EF4-FFF2-40B4-BE49-F238E27FC236}">
                <a16:creationId xmlns:a16="http://schemas.microsoft.com/office/drawing/2014/main" id="{BB88399A-DC9F-415B-830B-AD009F49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19125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distance-bar-0">
            <a:extLst xmlns:a="http://schemas.openxmlformats.org/drawingml/2006/main">
              <a:ext uri="{FF2B5EF4-FFF2-40B4-BE49-F238E27FC236}">
                <a16:creationId xmlns:a16="http://schemas.microsoft.com/office/drawing/2014/main" id="{863A8C1C-2FC5-4A8A-89F5-4711618AD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191250"/>
            <a:ext cx="1899826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istance-value-0">
            <a:extLst xmlns:a="http://schemas.openxmlformats.org/drawingml/2006/main">
              <a:ext uri="{FF2B5EF4-FFF2-40B4-BE49-F238E27FC236}">
                <a16:creationId xmlns:a16="http://schemas.microsoft.com/office/drawing/2014/main" id="{A521593E-652F-462A-BA6B-0B75990C9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2007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81.08%</a:t>
            </a:r>
          </a:p>
        </p:txBody>
      </p:sp>
      <p:sp>
        <p:nvSpPr>
          <p:cNvPr id="18" name="distance-label-1">
            <a:extLst xmlns:a="http://schemas.openxmlformats.org/drawingml/2006/main">
              <a:ext uri="{FF2B5EF4-FFF2-40B4-BE49-F238E27FC236}">
                <a16:creationId xmlns:a16="http://schemas.microsoft.com/office/drawing/2014/main" id="{B8EE5A09-3703-4052-93E3-CE9F212A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341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SHORT</a:t>
            </a:r>
          </a:p>
        </p:txBody>
      </p:sp>
      <p:sp>
        <p:nvSpPr>
          <p:cNvPr id="19" name="distance-track-1">
            <a:extLst xmlns:a="http://schemas.openxmlformats.org/drawingml/2006/main">
              <a:ext uri="{FF2B5EF4-FFF2-40B4-BE49-F238E27FC236}">
                <a16:creationId xmlns:a16="http://schemas.microsoft.com/office/drawing/2014/main" id="{0B077C75-CECC-4D88-A452-0ECC8AC42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51510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distance-bar-1">
            <a:extLst xmlns:a="http://schemas.openxmlformats.org/drawingml/2006/main">
              <a:ext uri="{FF2B5EF4-FFF2-40B4-BE49-F238E27FC236}">
                <a16:creationId xmlns:a16="http://schemas.microsoft.com/office/drawing/2014/main" id="{C7CAF41D-731D-4607-8202-FDD7FA8FE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515100"/>
            <a:ext cx="1712374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distance-value-1">
            <a:extLst xmlns:a="http://schemas.openxmlformats.org/drawingml/2006/main">
              <a:ext uri="{FF2B5EF4-FFF2-40B4-BE49-F238E27FC236}">
                <a16:creationId xmlns:a16="http://schemas.microsoft.com/office/drawing/2014/main" id="{D3C7B726-97F1-4128-A837-37EB6BD9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52462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73.08%</a:t>
            </a:r>
          </a:p>
        </p:txBody>
      </p:sp>
      <p:sp>
        <p:nvSpPr>
          <p:cNvPr id="22" name="distance-label-2">
            <a:extLst xmlns:a="http://schemas.openxmlformats.org/drawingml/2006/main">
              <a:ext uri="{FF2B5EF4-FFF2-40B4-BE49-F238E27FC236}">
                <a16:creationId xmlns:a16="http://schemas.microsoft.com/office/drawing/2014/main" id="{832A61DD-2A55-4058-A2C3-61C7B4428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LONG</a:t>
            </a:r>
          </a:p>
        </p:txBody>
      </p:sp>
      <p:sp>
        <p:nvSpPr>
          <p:cNvPr id="23" name="distance-track-2">
            <a:extLst xmlns:a="http://schemas.openxmlformats.org/drawingml/2006/main">
              <a:ext uri="{FF2B5EF4-FFF2-40B4-BE49-F238E27FC236}">
                <a16:creationId xmlns:a16="http://schemas.microsoft.com/office/drawing/2014/main" id="{DAD775D6-D9A7-4BE8-A62D-3A933EF5F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83895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distance-bar-2">
            <a:extLst xmlns:a="http://schemas.openxmlformats.org/drawingml/2006/main">
              <a:ext uri="{FF2B5EF4-FFF2-40B4-BE49-F238E27FC236}">
                <a16:creationId xmlns:a16="http://schemas.microsoft.com/office/drawing/2014/main" id="{9131DB6F-507E-49BF-8D8B-F2B560039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838950"/>
            <a:ext cx="1226873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5A2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istance-value-2">
            <a:extLst xmlns:a="http://schemas.openxmlformats.org/drawingml/2006/main">
              <a:ext uri="{FF2B5EF4-FFF2-40B4-BE49-F238E27FC236}">
                <a16:creationId xmlns:a16="http://schemas.microsoft.com/office/drawing/2014/main" id="{135BA5C4-33C8-4E37-81E0-751193C6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684847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52.36%</a:t>
            </a:r>
          </a:p>
        </p:txBody>
      </p:sp>
      <p:sp>
        <p:nvSpPr>
          <p:cNvPr id="26" name="distance-label-3">
            <a:extLst xmlns:a="http://schemas.openxmlformats.org/drawingml/2006/main">
              <a:ext uri="{FF2B5EF4-FFF2-40B4-BE49-F238E27FC236}">
                <a16:creationId xmlns:a16="http://schemas.microsoft.com/office/drawing/2014/main" id="{E5E2FEC4-AEBD-44D2-B2DD-D0C7F2804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1818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MEDIUM</a:t>
            </a:r>
          </a:p>
        </p:txBody>
      </p:sp>
      <p:sp>
        <p:nvSpPr>
          <p:cNvPr id="27" name="distance-track-3">
            <a:extLst xmlns:a="http://schemas.openxmlformats.org/drawingml/2006/main">
              <a:ext uri="{FF2B5EF4-FFF2-40B4-BE49-F238E27FC236}">
                <a16:creationId xmlns:a16="http://schemas.microsoft.com/office/drawing/2014/main" id="{AB2ADF4E-53BB-41A9-9335-4FA428E17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716280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distance-bar-3">
            <a:extLst xmlns:a="http://schemas.openxmlformats.org/drawingml/2006/main">
              <a:ext uri="{FF2B5EF4-FFF2-40B4-BE49-F238E27FC236}">
                <a16:creationId xmlns:a16="http://schemas.microsoft.com/office/drawing/2014/main" id="{F12FB7F5-C376-4B2E-A3A4-89A8ED06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7162800"/>
            <a:ext cx="1010366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istance-value-3">
            <a:extLst xmlns:a="http://schemas.openxmlformats.org/drawingml/2006/main">
              <a:ext uri="{FF2B5EF4-FFF2-40B4-BE49-F238E27FC236}">
                <a16:creationId xmlns:a16="http://schemas.microsoft.com/office/drawing/2014/main" id="{5AC76FE8-0A3E-471D-AE56-7238398FA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7172325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43.12%</a:t>
            </a:r>
          </a:p>
        </p:txBody>
      </p:sp>
      <p:sp>
        <p:nvSpPr>
          <p:cNvPr id="30" name="gps-card">
            <a:extLst xmlns:a="http://schemas.openxmlformats.org/drawingml/2006/main">
              <a:ext uri="{FF2B5EF4-FFF2-40B4-BE49-F238E27FC236}">
                <a16:creationId xmlns:a16="http://schemas.microsoft.com/office/drawing/2014/main" id="{0A726980-2B3B-49F6-A236-70569D62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143500"/>
            <a:ext cx="430530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31" name="gps-title">
            <a:extLst xmlns:a="http://schemas.openxmlformats.org/drawingml/2006/main">
              <a:ext uri="{FF2B5EF4-FFF2-40B4-BE49-F238E27FC236}">
                <a16:creationId xmlns:a16="http://schemas.microsoft.com/office/drawing/2014/main" id="{AC79B698-9F9A-4699-96AE-C99BFB51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353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02  GPS PROVIDER GAP</a:t>
            </a:r>
          </a:p>
        </p:txBody>
      </p:sp>
      <p:sp>
        <p:nvSpPr>
          <p:cNvPr id="32" name="gps-copy">
            <a:extLst xmlns:a="http://schemas.openxmlformats.org/drawingml/2006/main">
              <a:ext uri="{FF2B5EF4-FFF2-40B4-BE49-F238E27FC236}">
                <a16:creationId xmlns:a16="http://schemas.microsoft.com/office/drawing/2014/main" id="{31E8BBE0-8C32-4EB9-B768-CC91865FB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6578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E2D42"/>
                </a:solidFill>
              </a:defRPr>
            </a:pPr>
            <a:r>
              <a:rPr sz="1200">
                <a:solidFill>
                  <a:srgbClr val="1E2D42"/>
                </a:solidFill>
              </a:rPr>
              <a:t>Tracking-provider performance varies dramatically.</a:t>
            </a:r>
          </a:p>
        </p:txBody>
      </p:sp>
      <p:sp>
        <p:nvSpPr>
          <p:cNvPr id="33" name="gps-label-0">
            <a:extLst xmlns:a="http://schemas.openxmlformats.org/drawingml/2006/main">
              <a:ext uri="{FF2B5EF4-FFF2-40B4-BE49-F238E27FC236}">
                <a16:creationId xmlns:a16="http://schemas.microsoft.com/office/drawing/2014/main" id="{90366A19-4D96-40A2-835B-17E93D9E9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2103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MANUAL</a:t>
            </a:r>
          </a:p>
        </p:txBody>
      </p:sp>
      <p:sp>
        <p:nvSpPr>
          <p:cNvPr id="34" name="gps-track-0">
            <a:extLst xmlns:a="http://schemas.openxmlformats.org/drawingml/2006/main">
              <a:ext uri="{FF2B5EF4-FFF2-40B4-BE49-F238E27FC236}">
                <a16:creationId xmlns:a16="http://schemas.microsoft.com/office/drawing/2014/main" id="{6AF78DA4-9903-4C8A-9C76-39738FDC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19125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gps-bar-0">
            <a:extLst xmlns:a="http://schemas.openxmlformats.org/drawingml/2006/main">
              <a:ext uri="{FF2B5EF4-FFF2-40B4-BE49-F238E27FC236}">
                <a16:creationId xmlns:a16="http://schemas.microsoft.com/office/drawing/2014/main" id="{3F266A98-4AC0-42BB-863D-02F3CD219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191250"/>
            <a:ext cx="2319719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gps-value-0">
            <a:extLst xmlns:a="http://schemas.openxmlformats.org/drawingml/2006/main">
              <a:ext uri="{FF2B5EF4-FFF2-40B4-BE49-F238E27FC236}">
                <a16:creationId xmlns:a16="http://schemas.microsoft.com/office/drawing/2014/main" id="{D056C05C-03DF-44A0-B2CB-FC28DB911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620077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99%</a:t>
            </a:r>
          </a:p>
        </p:txBody>
      </p:sp>
      <p:sp>
        <p:nvSpPr>
          <p:cNvPr id="37" name="gps-label-1">
            <a:extLst xmlns:a="http://schemas.openxmlformats.org/drawingml/2006/main">
              <a:ext uri="{FF2B5EF4-FFF2-40B4-BE49-F238E27FC236}">
                <a16:creationId xmlns:a16="http://schemas.microsoft.com/office/drawing/2014/main" id="{94CAA110-D5D3-4DE8-873D-13910C0F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5341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CONSENT</a:t>
            </a:r>
          </a:p>
        </p:txBody>
      </p:sp>
      <p:sp>
        <p:nvSpPr>
          <p:cNvPr id="38" name="gps-track-1">
            <a:extLst xmlns:a="http://schemas.openxmlformats.org/drawingml/2006/main">
              <a:ext uri="{FF2B5EF4-FFF2-40B4-BE49-F238E27FC236}">
                <a16:creationId xmlns:a16="http://schemas.microsoft.com/office/drawing/2014/main" id="{0F21B6B5-0B09-44AA-A7FF-738476D3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51510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gps-bar-1">
            <a:extLst xmlns:a="http://schemas.openxmlformats.org/drawingml/2006/main">
              <a:ext uri="{FF2B5EF4-FFF2-40B4-BE49-F238E27FC236}">
                <a16:creationId xmlns:a16="http://schemas.microsoft.com/office/drawing/2014/main" id="{B5EE5791-DE3C-43B6-AED7-3DEE0A6A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515100"/>
            <a:ext cx="2038541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gps-value-1">
            <a:extLst xmlns:a="http://schemas.openxmlformats.org/drawingml/2006/main">
              <a:ext uri="{FF2B5EF4-FFF2-40B4-BE49-F238E27FC236}">
                <a16:creationId xmlns:a16="http://schemas.microsoft.com/office/drawing/2014/main" id="{988E727C-1593-4AD0-9249-D884DD206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652462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87%</a:t>
            </a:r>
          </a:p>
        </p:txBody>
      </p:sp>
      <p:sp>
        <p:nvSpPr>
          <p:cNvPr id="41" name="gps-label-2">
            <a:extLst xmlns:a="http://schemas.openxmlformats.org/drawingml/2006/main">
              <a:ext uri="{FF2B5EF4-FFF2-40B4-BE49-F238E27FC236}">
                <a16:creationId xmlns:a16="http://schemas.microsoft.com/office/drawing/2014/main" id="{607ABD03-606D-4AAF-B180-5CF7F6F20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68580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EKTA</a:t>
            </a:r>
          </a:p>
        </p:txBody>
      </p:sp>
      <p:sp>
        <p:nvSpPr>
          <p:cNvPr id="42" name="gps-track-2">
            <a:extLst xmlns:a="http://schemas.openxmlformats.org/drawingml/2006/main">
              <a:ext uri="{FF2B5EF4-FFF2-40B4-BE49-F238E27FC236}">
                <a16:creationId xmlns:a16="http://schemas.microsoft.com/office/drawing/2014/main" id="{6AE249FC-12C2-4C00-BD1B-32768E8EA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83895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gps-bar-2">
            <a:extLst xmlns:a="http://schemas.openxmlformats.org/drawingml/2006/main">
              <a:ext uri="{FF2B5EF4-FFF2-40B4-BE49-F238E27FC236}">
                <a16:creationId xmlns:a16="http://schemas.microsoft.com/office/drawing/2014/main" id="{43E7CABC-72F8-4F45-AA72-87119E39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838950"/>
            <a:ext cx="1663637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gps-value-2">
            <a:extLst xmlns:a="http://schemas.openxmlformats.org/drawingml/2006/main">
              <a:ext uri="{FF2B5EF4-FFF2-40B4-BE49-F238E27FC236}">
                <a16:creationId xmlns:a16="http://schemas.microsoft.com/office/drawing/2014/main" id="{B01471D7-4A87-46CC-89C8-C26B66232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684847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71%</a:t>
            </a:r>
          </a:p>
        </p:txBody>
      </p:sp>
      <p:sp>
        <p:nvSpPr>
          <p:cNvPr id="45" name="gps-label-3">
            <a:extLst xmlns:a="http://schemas.openxmlformats.org/drawingml/2006/main">
              <a:ext uri="{FF2B5EF4-FFF2-40B4-BE49-F238E27FC236}">
                <a16:creationId xmlns:a16="http://schemas.microsoft.com/office/drawing/2014/main" id="{8898A626-C763-460A-ADC7-8A8D5EFD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71818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18096"/>
                </a:solidFill>
              </a:defRPr>
            </a:pPr>
            <a:r>
              <a:rPr sz="900" b="1">
                <a:solidFill>
                  <a:srgbClr val="718096"/>
                </a:solidFill>
              </a:rPr>
              <a:t>VAMOSYS</a:t>
            </a:r>
          </a:p>
        </p:txBody>
      </p:sp>
      <p:sp>
        <p:nvSpPr>
          <p:cNvPr id="46" name="gps-track-3">
            <a:extLst xmlns:a="http://schemas.openxmlformats.org/drawingml/2006/main">
              <a:ext uri="{FF2B5EF4-FFF2-40B4-BE49-F238E27FC236}">
                <a16:creationId xmlns:a16="http://schemas.microsoft.com/office/drawing/2014/main" id="{D307CFBC-56B8-4113-8AB8-D3743F1E6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7162800"/>
            <a:ext cx="2343150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6E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gps-bar-3">
            <a:extLst xmlns:a="http://schemas.openxmlformats.org/drawingml/2006/main">
              <a:ext uri="{FF2B5EF4-FFF2-40B4-BE49-F238E27FC236}">
                <a16:creationId xmlns:a16="http://schemas.microsoft.com/office/drawing/2014/main" id="{0B4A88DF-22B9-44EE-8FF2-A13B6CA5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7162800"/>
            <a:ext cx="281178" cy="190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gps-value-3">
            <a:extLst xmlns:a="http://schemas.openxmlformats.org/drawingml/2006/main">
              <a:ext uri="{FF2B5EF4-FFF2-40B4-BE49-F238E27FC236}">
                <a16:creationId xmlns:a16="http://schemas.microsoft.com/office/drawing/2014/main" id="{6EBD347F-3A9B-4674-8AEE-2DC48E4E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7172325"/>
            <a:ext cx="514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12%</a:t>
            </a:r>
          </a:p>
        </p:txBody>
      </p:sp>
      <p:sp>
        <p:nvSpPr>
          <p:cNvPr id="49" name="vehicle-card">
            <a:extLst xmlns:a="http://schemas.openxmlformats.org/drawingml/2006/main">
              <a:ext uri="{FF2B5EF4-FFF2-40B4-BE49-F238E27FC236}">
                <a16:creationId xmlns:a16="http://schemas.microsoft.com/office/drawing/2014/main" id="{3B717E3E-CE08-401D-A003-45137FCC0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62900"/>
            <a:ext cx="43053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50" name="vehicle-title">
            <a:extLst xmlns:a="http://schemas.openxmlformats.org/drawingml/2006/main">
              <a:ext uri="{FF2B5EF4-FFF2-40B4-BE49-F238E27FC236}">
                <a16:creationId xmlns:a16="http://schemas.microsoft.com/office/drawing/2014/main" id="{73F15D44-39BE-455E-B00F-308C1F9CD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172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03  VEHICLE PRESSURE</a:t>
            </a:r>
          </a:p>
        </p:txBody>
      </p:sp>
      <p:sp>
        <p:nvSpPr>
          <p:cNvPr id="51" name="vehicle-value-a">
            <a:extLst xmlns:a="http://schemas.openxmlformats.org/drawingml/2006/main">
              <a:ext uri="{FF2B5EF4-FFF2-40B4-BE49-F238E27FC236}">
                <a16:creationId xmlns:a16="http://schemas.microsoft.com/office/drawing/2014/main" id="{5E1B532C-2F32-40D3-ACFE-60191BC9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6296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D20A16"/>
                </a:solidFill>
              </a:defRPr>
            </a:pPr>
            <a:r>
              <a:rPr sz="2850" b="1">
                <a:solidFill>
                  <a:srgbClr val="D20A16"/>
                </a:solidFill>
              </a:rPr>
              <a:t>81.53%</a:t>
            </a:r>
          </a:p>
        </p:txBody>
      </p:sp>
      <p:sp>
        <p:nvSpPr>
          <p:cNvPr id="52" name="vehicle-label-a">
            <a:extLst xmlns:a="http://schemas.openxmlformats.org/drawingml/2006/main">
              <a:ext uri="{FF2B5EF4-FFF2-40B4-BE49-F238E27FC236}">
                <a16:creationId xmlns:a16="http://schemas.microsoft.com/office/drawing/2014/main" id="{2FD4FA9D-8545-444C-846D-9152F45A5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249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18096"/>
                </a:solidFill>
              </a:defRPr>
            </a:pPr>
            <a:r>
              <a:rPr sz="975" b="1">
                <a:solidFill>
                  <a:srgbClr val="718096"/>
                </a:solidFill>
              </a:rPr>
              <a:t>32 FT SINGLE-AXLE 7MT</a:t>
            </a:r>
          </a:p>
        </p:txBody>
      </p:sp>
      <p:sp>
        <p:nvSpPr>
          <p:cNvPr id="53" name="vehicle-value-b">
            <a:extLst xmlns:a="http://schemas.openxmlformats.org/drawingml/2006/main">
              <a:ext uri="{FF2B5EF4-FFF2-40B4-BE49-F238E27FC236}">
                <a16:creationId xmlns:a16="http://schemas.microsoft.com/office/drawing/2014/main" id="{9E1C8FA1-E0B4-40FF-98BC-3EC693DAB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86296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7B2A"/>
                </a:solidFill>
              </a:defRPr>
            </a:pPr>
            <a:r>
              <a:rPr sz="2850" b="1">
                <a:solidFill>
                  <a:srgbClr val="F47B2A"/>
                </a:solidFill>
              </a:rPr>
              <a:t>80.81%</a:t>
            </a:r>
          </a:p>
        </p:txBody>
      </p:sp>
      <p:sp>
        <p:nvSpPr>
          <p:cNvPr id="54" name="vehicle-label-b">
            <a:extLst xmlns:a="http://schemas.openxmlformats.org/drawingml/2006/main">
              <a:ext uri="{FF2B5EF4-FFF2-40B4-BE49-F238E27FC236}">
                <a16:creationId xmlns:a16="http://schemas.microsoft.com/office/drawing/2014/main" id="{37704F2F-6E3F-4441-A30E-A6E957AA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91249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18096"/>
                </a:solidFill>
              </a:defRPr>
            </a:pPr>
            <a:r>
              <a:rPr sz="975" b="1">
                <a:solidFill>
                  <a:srgbClr val="718096"/>
                </a:solidFill>
              </a:rPr>
              <a:t>40 FT 3XL TRAILER 35MT</a:t>
            </a:r>
          </a:p>
        </p:txBody>
      </p:sp>
      <p:sp>
        <p:nvSpPr>
          <p:cNvPr id="55" name="vehicle-volume-strip">
            <a:extLst xmlns:a="http://schemas.openxmlformats.org/drawingml/2006/main">
              <a:ext uri="{FF2B5EF4-FFF2-40B4-BE49-F238E27FC236}">
                <a16:creationId xmlns:a16="http://schemas.microsoft.com/office/drawing/2014/main" id="{106C6472-7767-4CDE-AE2D-82A66E3E1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563100"/>
            <a:ext cx="3695700" cy="4572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EF4FC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56" name="vehicle-volume">
            <a:extLst xmlns:a="http://schemas.openxmlformats.org/drawingml/2006/main">
              <a:ext uri="{FF2B5EF4-FFF2-40B4-BE49-F238E27FC236}">
                <a16:creationId xmlns:a16="http://schemas.microsoft.com/office/drawing/2014/main" id="{51B87F25-D188-4AE7-850A-9AFCA5B9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9696450"/>
            <a:ext cx="3390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54A3"/>
                </a:solidFill>
              </a:defRPr>
            </a:pPr>
            <a:r>
              <a:rPr sz="975" b="1">
                <a:solidFill>
                  <a:srgbClr val="1554A3"/>
                </a:solidFill>
              </a:rPr>
              <a:t>2,559 trips on the highest-volume 40 FT 3XL trailer</a:t>
            </a:r>
          </a:p>
        </p:txBody>
      </p:sp>
      <p:sp>
        <p:nvSpPr>
          <p:cNvPr id="57" name="partner-card">
            <a:extLst xmlns:a="http://schemas.openxmlformats.org/drawingml/2006/main">
              <a:ext uri="{FF2B5EF4-FFF2-40B4-BE49-F238E27FC236}">
                <a16:creationId xmlns:a16="http://schemas.microsoft.com/office/drawing/2014/main" id="{DDEA2D6F-B9A7-4E45-8B10-87331699C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7962900"/>
            <a:ext cx="43053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58" name="partner-title">
            <a:extLst xmlns:a="http://schemas.openxmlformats.org/drawingml/2006/main">
              <a:ext uri="{FF2B5EF4-FFF2-40B4-BE49-F238E27FC236}">
                <a16:creationId xmlns:a16="http://schemas.microsoft.com/office/drawing/2014/main" id="{9851F53E-019D-4F2F-8DD0-1F12EDC97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8172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2653"/>
                </a:solidFill>
              </a:defRPr>
            </a:pPr>
            <a:r>
              <a:rPr sz="1350" b="1">
                <a:solidFill>
                  <a:srgbClr val="082653"/>
                </a:solidFill>
              </a:rPr>
              <a:t>04  PARTNER HOTSPOTS</a:t>
            </a:r>
          </a:p>
        </p:txBody>
      </p:sp>
      <p:sp>
        <p:nvSpPr>
          <p:cNvPr id="59" name="supplier-risk-label">
            <a:extLst xmlns:a="http://schemas.openxmlformats.org/drawingml/2006/main">
              <a:ext uri="{FF2B5EF4-FFF2-40B4-BE49-F238E27FC236}">
                <a16:creationId xmlns:a16="http://schemas.microsoft.com/office/drawing/2014/main" id="{0EA1773C-330D-4C29-A6CE-FA5600C82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86677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18096"/>
                </a:solidFill>
              </a:defRPr>
            </a:pPr>
            <a:r>
              <a:rPr sz="975" b="1">
                <a:solidFill>
                  <a:srgbClr val="718096"/>
                </a:solidFill>
              </a:rPr>
              <a:t>SUPPLIER</a:t>
            </a:r>
          </a:p>
        </p:txBody>
      </p:sp>
      <p:sp>
        <p:nvSpPr>
          <p:cNvPr id="60" name="supplier-risk-value">
            <a:extLst xmlns:a="http://schemas.openxmlformats.org/drawingml/2006/main">
              <a:ext uri="{FF2B5EF4-FFF2-40B4-BE49-F238E27FC236}">
                <a16:creationId xmlns:a16="http://schemas.microsoft.com/office/drawing/2014/main" id="{CB5A911A-E341-479D-9324-F8EEEA1F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889635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D20A16"/>
                </a:solidFill>
              </a:defRPr>
            </a:pPr>
            <a:r>
              <a:rPr sz="2700" b="1">
                <a:solidFill>
                  <a:srgbClr val="D20A16"/>
                </a:solidFill>
              </a:rPr>
              <a:t>95.38%</a:t>
            </a:r>
          </a:p>
        </p:txBody>
      </p:sp>
      <p:sp>
        <p:nvSpPr>
          <p:cNvPr id="61" name="supplier-risk-name">
            <a:extLst xmlns:a="http://schemas.openxmlformats.org/drawingml/2006/main">
              <a:ext uri="{FF2B5EF4-FFF2-40B4-BE49-F238E27FC236}">
                <a16:creationId xmlns:a16="http://schemas.microsoft.com/office/drawing/2014/main" id="{38F8DA5F-188E-4A54-A5D1-81797A20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9334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2D42"/>
                </a:solidFill>
              </a:defRPr>
            </a:pPr>
            <a:r>
              <a:rPr sz="1050" b="1">
                <a:solidFill>
                  <a:srgbClr val="1E2D42"/>
                </a:solidFill>
              </a:rPr>
              <a:t>K. Ramachandran</a:t>
            </a:r>
          </a:p>
        </p:txBody>
      </p:sp>
      <p:sp>
        <p:nvSpPr>
          <p:cNvPr id="62" name="customer-risk-label">
            <a:extLst xmlns:a="http://schemas.openxmlformats.org/drawingml/2006/main">
              <a:ext uri="{FF2B5EF4-FFF2-40B4-BE49-F238E27FC236}">
                <a16:creationId xmlns:a16="http://schemas.microsoft.com/office/drawing/2014/main" id="{DA057FDE-E841-4080-A97B-ABF208C7C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6677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18096"/>
                </a:solidFill>
              </a:defRPr>
            </a:pPr>
            <a:r>
              <a:rPr sz="975" b="1">
                <a:solidFill>
                  <a:srgbClr val="718096"/>
                </a:solidFill>
              </a:rPr>
              <a:t>CUSTOMER</a:t>
            </a:r>
          </a:p>
        </p:txBody>
      </p:sp>
      <p:sp>
        <p:nvSpPr>
          <p:cNvPr id="63" name="customer-risk-value">
            <a:extLst xmlns:a="http://schemas.openxmlformats.org/drawingml/2006/main">
              <a:ext uri="{FF2B5EF4-FFF2-40B4-BE49-F238E27FC236}">
                <a16:creationId xmlns:a16="http://schemas.microsoft.com/office/drawing/2014/main" id="{84C4AE9F-323D-4EF0-9AC0-590E9F584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889635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47B2A"/>
                </a:solidFill>
              </a:defRPr>
            </a:pPr>
            <a:r>
              <a:rPr sz="2700" b="1">
                <a:solidFill>
                  <a:srgbClr val="F47B2A"/>
                </a:solidFill>
              </a:rPr>
              <a:t>73.35%</a:t>
            </a:r>
          </a:p>
        </p:txBody>
      </p:sp>
      <p:sp>
        <p:nvSpPr>
          <p:cNvPr id="64" name="customer-risk-name">
            <a:extLst xmlns:a="http://schemas.openxmlformats.org/drawingml/2006/main">
              <a:ext uri="{FF2B5EF4-FFF2-40B4-BE49-F238E27FC236}">
                <a16:creationId xmlns:a16="http://schemas.microsoft.com/office/drawing/2014/main" id="{674106BA-7197-4C67-8DD8-941869F1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93345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2D42"/>
                </a:solidFill>
              </a:defRPr>
            </a:pPr>
            <a:r>
              <a:rPr sz="1050" b="1">
                <a:solidFill>
                  <a:srgbClr val="1E2D42"/>
                </a:solidFill>
              </a:rPr>
              <a:t>Ford India</a:t>
            </a:r>
          </a:p>
        </p:txBody>
      </p:sp>
      <p:sp>
        <p:nvSpPr>
          <p:cNvPr id="65" name="partner-note">
            <a:extLst xmlns:a="http://schemas.openxmlformats.org/drawingml/2006/main">
              <a:ext uri="{FF2B5EF4-FFF2-40B4-BE49-F238E27FC236}">
                <a16:creationId xmlns:a16="http://schemas.microsoft.com/office/drawing/2014/main" id="{7EA8BB43-005B-4819-9857-702BBD2F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973455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Delay risk is concentrated, not evenly distributed across partners.</a:t>
            </a:r>
          </a:p>
        </p:txBody>
      </p:sp>
      <p:sp>
        <p:nvSpPr>
          <p:cNvPr id="66" name="slide-06-takeaway-band">
            <a:extLst xmlns:a="http://schemas.openxmlformats.org/drawingml/2006/main">
              <a:ext uri="{FF2B5EF4-FFF2-40B4-BE49-F238E27FC236}">
                <a16:creationId xmlns:a16="http://schemas.microsoft.com/office/drawing/2014/main" id="{65B9F9D0-8FE6-4A6E-B985-5FD3D881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534650"/>
            <a:ext cx="89154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takeaway-label">
            <a:extLst xmlns:a="http://schemas.openxmlformats.org/drawingml/2006/main">
              <a:ext uri="{FF2B5EF4-FFF2-40B4-BE49-F238E27FC236}">
                <a16:creationId xmlns:a16="http://schemas.microsoft.com/office/drawing/2014/main" id="{5E785D90-333D-483F-93A0-F3332BB26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6870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47B2A"/>
                </a:solidFill>
              </a:defRPr>
            </a:pPr>
            <a:r>
              <a:rPr sz="1125" b="1">
                <a:solidFill>
                  <a:srgbClr val="F47B2A"/>
                </a:solidFill>
              </a:rPr>
              <a:t>TAKEAWAY</a:t>
            </a:r>
          </a:p>
        </p:txBody>
      </p:sp>
      <p:sp>
        <p:nvSpPr>
          <p:cNvPr id="68" name="takeaway-copy">
            <a:extLst xmlns:a="http://schemas.openxmlformats.org/drawingml/2006/main">
              <a:ext uri="{FF2B5EF4-FFF2-40B4-BE49-F238E27FC236}">
                <a16:creationId xmlns:a16="http://schemas.microsoft.com/office/drawing/2014/main" id="{82C4063D-2B56-4B2C-BFFA-5F6AC8E3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953750"/>
            <a:ext cx="819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 single blanket fix will not work—the response must target routes, tracking providers, vehicle types, and high-risk partners.</a:t>
            </a:r>
          </a:p>
        </p:txBody>
      </p:sp>
      <p:sp>
        <p:nvSpPr>
          <p:cNvPr id="69" name="slide-06-footer-left">
            <a:extLst xmlns:a="http://schemas.openxmlformats.org/drawingml/2006/main">
              <a:ext uri="{FF2B5EF4-FFF2-40B4-BE49-F238E27FC236}">
                <a16:creationId xmlns:a16="http://schemas.microsoft.com/office/drawing/2014/main" id="{8BA57057-1027-4AF5-9168-00EC07536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70" name="slide-06-footer-right">
            <a:extLst xmlns:a="http://schemas.openxmlformats.org/drawingml/2006/main">
              <a:ext uri="{FF2B5EF4-FFF2-40B4-BE49-F238E27FC236}">
                <a16:creationId xmlns:a16="http://schemas.microsoft.com/office/drawing/2014/main" id="{38E98CA0-3B12-469B-B9FA-9655E969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7790160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slide-07-top-accent">
            <a:extLst xmlns:a="http://schemas.openxmlformats.org/drawingml/2006/main">
              <a:ext uri="{FF2B5EF4-FFF2-40B4-BE49-F238E27FC236}">
                <a16:creationId xmlns:a16="http://schemas.microsoft.com/office/drawing/2014/main" id="{5AAD1ABF-8D1B-4ABE-B5C1-BD3A794E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7-eyebrow">
            <a:extLst xmlns:a="http://schemas.openxmlformats.org/drawingml/2006/main">
              <a:ext uri="{FF2B5EF4-FFF2-40B4-BE49-F238E27FC236}">
                <a16:creationId xmlns:a16="http://schemas.microsoft.com/office/drawing/2014/main" id="{30D773BB-A14C-4E13-A0E2-C840367E6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BUSINESS RECOMMENDATIONS</a:t>
            </a:r>
          </a:p>
        </p:txBody>
      </p:sp>
      <p:sp>
        <p:nvSpPr>
          <p:cNvPr id="3" name="slide-07-number">
            <a:extLst xmlns:a="http://schemas.openxmlformats.org/drawingml/2006/main">
              <a:ext uri="{FF2B5EF4-FFF2-40B4-BE49-F238E27FC236}">
                <a16:creationId xmlns:a16="http://schemas.microsoft.com/office/drawing/2014/main" id="{F5249D20-D00B-45D2-8739-7CF43EF8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07 / 08</a:t>
            </a:r>
          </a:p>
        </p:txBody>
      </p:sp>
      <p:sp>
        <p:nvSpPr>
          <p:cNvPr id="4" name="slide-07-title">
            <a:extLst xmlns:a="http://schemas.openxmlformats.org/drawingml/2006/main">
              <a:ext uri="{FF2B5EF4-FFF2-40B4-BE49-F238E27FC236}">
                <a16:creationId xmlns:a16="http://schemas.microsoft.com/office/drawing/2014/main" id="{89B1C853-0465-4F11-B686-2A6EB19E7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082653"/>
                </a:solidFill>
              </a:defRPr>
            </a:pPr>
            <a:r>
              <a:rPr sz="3375" b="1">
                <a:solidFill>
                  <a:srgbClr val="082653"/>
                </a:solidFill>
              </a:rPr>
              <a:t>TURN INSIGHTS INTO</a:t>
            </a:r>
          </a:p>
          <a:p xmlns:a="http://schemas.openxmlformats.org/drawingml/2006/main">
            <a:pPr>
              <a:defRPr sz="3375" b="1">
                <a:solidFill>
                  <a:srgbClr val="082653"/>
                </a:solidFill>
              </a:defRPr>
            </a:pPr>
            <a:r>
              <a:rPr sz="3375" b="1">
                <a:solidFill>
                  <a:srgbClr val="082653"/>
                </a:solidFill>
              </a:rPr>
              <a:t>AN OPERATING PLAN</a:t>
            </a:r>
          </a:p>
        </p:txBody>
      </p:sp>
      <p:sp>
        <p:nvSpPr>
          <p:cNvPr id="5" name="slide-07-subtitle">
            <a:extLst xmlns:a="http://schemas.openxmlformats.org/drawingml/2006/main">
              <a:ext uri="{FF2B5EF4-FFF2-40B4-BE49-F238E27FC236}">
                <a16:creationId xmlns:a16="http://schemas.microsoft.com/office/drawing/2014/main" id="{2F48FB1F-DE5C-4F02-A876-2BBD91627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Each action targets a bottleneck exposed by the EDA, SQL analysis, and Power BI dashboard.</a:t>
            </a:r>
          </a:p>
        </p:txBody>
      </p:sp>
      <p:sp>
        <p:nvSpPr>
          <p:cNvPr id="6" name="actions-label">
            <a:extLst xmlns:a="http://schemas.openxmlformats.org/drawingml/2006/main">
              <a:ext uri="{FF2B5EF4-FFF2-40B4-BE49-F238E27FC236}">
                <a16:creationId xmlns:a16="http://schemas.microsoft.com/office/drawing/2014/main" id="{02036B64-812E-4591-8BA4-10A34DB33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554A3"/>
                </a:solidFill>
              </a:defRPr>
            </a:pPr>
            <a:r>
              <a:rPr sz="1200" b="1">
                <a:solidFill>
                  <a:srgbClr val="1554A3"/>
                </a:solidFill>
              </a:rPr>
              <a:t>PRIORITY ACTIONS</a:t>
            </a:r>
          </a:p>
        </p:txBody>
      </p:sp>
      <p:sp>
        <p:nvSpPr>
          <p:cNvPr id="7" name="recommendation-0">
            <a:extLst xmlns:a="http://schemas.openxmlformats.org/drawingml/2006/main">
              <a:ext uri="{FF2B5EF4-FFF2-40B4-BE49-F238E27FC236}">
                <a16:creationId xmlns:a16="http://schemas.microsoft.com/office/drawing/2014/main" id="{3D69A151-C550-4714-8204-6B04823D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56578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8" name="recommendation-0-accent">
            <a:extLst xmlns:a="http://schemas.openxmlformats.org/drawingml/2006/main">
              <a:ext uri="{FF2B5EF4-FFF2-40B4-BE49-F238E27FC236}">
                <a16:creationId xmlns:a16="http://schemas.microsoft.com/office/drawing/2014/main" id="{3F306EDF-D208-41F0-84E7-9922556D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95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recommendation-0-number-bg">
            <a:extLst xmlns:a="http://schemas.openxmlformats.org/drawingml/2006/main">
              <a:ext uri="{FF2B5EF4-FFF2-40B4-BE49-F238E27FC236}">
                <a16:creationId xmlns:a16="http://schemas.microsoft.com/office/drawing/2014/main" id="{125B9608-1FAF-45A3-886F-CA608F12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957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ecommendation-0-number">
            <a:extLst xmlns:a="http://schemas.openxmlformats.org/drawingml/2006/main">
              <a:ext uri="{FF2B5EF4-FFF2-40B4-BE49-F238E27FC236}">
                <a16:creationId xmlns:a16="http://schemas.microsoft.com/office/drawing/2014/main" id="{6EE600B8-1B56-4D69-A01D-BC5C7585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1957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1" name="recommendation-0-title">
            <a:extLst xmlns:a="http://schemas.openxmlformats.org/drawingml/2006/main">
              <a:ext uri="{FF2B5EF4-FFF2-40B4-BE49-F238E27FC236}">
                <a16:creationId xmlns:a16="http://schemas.microsoft.com/office/drawing/2014/main" id="{A361D1F9-E0A8-4E2D-8785-5E010DB5B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767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CONTROL HIGH-RISK ROUTES</a:t>
            </a:r>
          </a:p>
        </p:txBody>
      </p:sp>
      <p:sp>
        <p:nvSpPr>
          <p:cNvPr id="12" name="recommendation-0-evidence">
            <a:extLst xmlns:a="http://schemas.openxmlformats.org/drawingml/2006/main">
              <a:ext uri="{FF2B5EF4-FFF2-40B4-BE49-F238E27FC236}">
                <a16:creationId xmlns:a16="http://schemas.microsoft.com/office/drawing/2014/main" id="{6F3E6ED9-3E54-4538-A87E-6559F766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40055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20A16"/>
                </a:solidFill>
              </a:defRPr>
            </a:pPr>
            <a:r>
              <a:rPr sz="1050" b="1">
                <a:solidFill>
                  <a:srgbClr val="D20A16"/>
                </a:solidFill>
              </a:rPr>
              <a:t>81.08% very long  ·  73.08% short</a:t>
            </a:r>
          </a:p>
        </p:txBody>
      </p:sp>
      <p:sp>
        <p:nvSpPr>
          <p:cNvPr id="13" name="recommendation-0-action">
            <a:extLst xmlns:a="http://schemas.openxmlformats.org/drawingml/2006/main">
              <a:ext uri="{FF2B5EF4-FFF2-40B4-BE49-F238E27FC236}">
                <a16:creationId xmlns:a16="http://schemas.microsoft.com/office/drawing/2014/main" id="{E123A2F7-2DA0-465A-A896-123942B69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72440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E2D42"/>
                </a:solidFill>
              </a:defRPr>
            </a:pPr>
            <a:r>
              <a:rPr sz="1125">
                <a:solidFill>
                  <a:srgbClr val="1E2D42"/>
                </a:solidFill>
              </a:rPr>
              <a:t>Create route-specific service rules, capacity plans, and exception alerts instead of one operating standard for every distance band.</a:t>
            </a:r>
          </a:p>
        </p:txBody>
      </p:sp>
      <p:sp>
        <p:nvSpPr>
          <p:cNvPr id="14" name="recommendation-1">
            <a:extLst xmlns:a="http://schemas.openxmlformats.org/drawingml/2006/main">
              <a:ext uri="{FF2B5EF4-FFF2-40B4-BE49-F238E27FC236}">
                <a16:creationId xmlns:a16="http://schemas.microsoft.com/office/drawing/2014/main" id="{0416F9F7-E19E-44B6-B094-104632A68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0225"/>
            <a:ext cx="56578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15" name="recommendation-1-accent">
            <a:extLst xmlns:a="http://schemas.openxmlformats.org/drawingml/2006/main">
              <a:ext uri="{FF2B5EF4-FFF2-40B4-BE49-F238E27FC236}">
                <a16:creationId xmlns:a16="http://schemas.microsoft.com/office/drawing/2014/main" id="{C153B99C-AAA9-4C22-AFAC-25C3511C2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0225"/>
            <a:ext cx="95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ecommendation-1-number-bg">
            <a:extLst xmlns:a="http://schemas.openxmlformats.org/drawingml/2006/main">
              <a:ext uri="{FF2B5EF4-FFF2-40B4-BE49-F238E27FC236}">
                <a16:creationId xmlns:a16="http://schemas.microsoft.com/office/drawing/2014/main" id="{410C06E3-AEDA-45A7-A092-81AF6D1FB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819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recommendation-1-number">
            <a:extLst xmlns:a="http://schemas.openxmlformats.org/drawingml/2006/main">
              <a:ext uri="{FF2B5EF4-FFF2-40B4-BE49-F238E27FC236}">
                <a16:creationId xmlns:a16="http://schemas.microsoft.com/office/drawing/2014/main" id="{25504655-32D0-4278-82FC-76AEE936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9436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8" name="recommendation-1-title">
            <a:extLst xmlns:a="http://schemas.openxmlformats.org/drawingml/2006/main">
              <a:ext uri="{FF2B5EF4-FFF2-40B4-BE49-F238E27FC236}">
                <a16:creationId xmlns:a16="http://schemas.microsoft.com/office/drawing/2014/main" id="{FAAFBCEB-99B2-425D-90CA-FB1F79A2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80072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STANDARDIZE GPS DATA</a:t>
            </a:r>
          </a:p>
        </p:txBody>
      </p:sp>
      <p:sp>
        <p:nvSpPr>
          <p:cNvPr id="19" name="recommendation-1-evidence">
            <a:extLst xmlns:a="http://schemas.openxmlformats.org/drawingml/2006/main">
              <a:ext uri="{FF2B5EF4-FFF2-40B4-BE49-F238E27FC236}">
                <a16:creationId xmlns:a16="http://schemas.microsoft.com/office/drawing/2014/main" id="{E1DC7BA2-A428-46F6-A68D-C30996F8C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12457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47B2A"/>
                </a:solidFill>
              </a:defRPr>
            </a:pPr>
            <a:r>
              <a:rPr sz="1050" b="1">
                <a:solidFill>
                  <a:srgbClr val="F47B2A"/>
                </a:solidFill>
              </a:rPr>
              <a:t>MANUAL 99%  ·  CONSENT TRACK 87%</a:t>
            </a:r>
          </a:p>
        </p:txBody>
      </p:sp>
      <p:sp>
        <p:nvSpPr>
          <p:cNvPr id="20" name="recommendation-1-action">
            <a:extLst xmlns:a="http://schemas.openxmlformats.org/drawingml/2006/main">
              <a:ext uri="{FF2B5EF4-FFF2-40B4-BE49-F238E27FC236}">
                <a16:creationId xmlns:a16="http://schemas.microsoft.com/office/drawing/2014/main" id="{1750F3B5-FCB7-4F1A-B898-36B298072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44842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E2D42"/>
                </a:solidFill>
              </a:defRPr>
            </a:pPr>
            <a:r>
              <a:rPr sz="1125">
                <a:solidFill>
                  <a:srgbClr val="1E2D42"/>
                </a:solidFill>
              </a:rPr>
              <a:t>Reduce manual tracking, standardize provider names, and monitor GPS completeness and provider-level delay performance.</a:t>
            </a:r>
          </a:p>
        </p:txBody>
      </p:sp>
      <p:sp>
        <p:nvSpPr>
          <p:cNvPr id="21" name="recommendation-2">
            <a:extLst xmlns:a="http://schemas.openxmlformats.org/drawingml/2006/main">
              <a:ext uri="{FF2B5EF4-FFF2-40B4-BE49-F238E27FC236}">
                <a16:creationId xmlns:a16="http://schemas.microsoft.com/office/drawing/2014/main" id="{EA4D5BC1-3DE1-4503-B451-530FAEF8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34250"/>
            <a:ext cx="56578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22" name="recommendation-2-accent">
            <a:extLst xmlns:a="http://schemas.openxmlformats.org/drawingml/2006/main">
              <a:ext uri="{FF2B5EF4-FFF2-40B4-BE49-F238E27FC236}">
                <a16:creationId xmlns:a16="http://schemas.microsoft.com/office/drawing/2014/main" id="{66241074-A051-4AEE-A31F-18E9F85C4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34250"/>
            <a:ext cx="95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recommendation-2-number-bg">
            <a:extLst xmlns:a="http://schemas.openxmlformats.org/drawingml/2006/main">
              <a:ext uri="{FF2B5EF4-FFF2-40B4-BE49-F238E27FC236}">
                <a16:creationId xmlns:a16="http://schemas.microsoft.com/office/drawing/2014/main" id="{E4859DA2-A970-4267-AF71-120DB599F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754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recommendation-2-number">
            <a:extLst xmlns:a="http://schemas.openxmlformats.org/drawingml/2006/main">
              <a:ext uri="{FF2B5EF4-FFF2-40B4-BE49-F238E27FC236}">
                <a16:creationId xmlns:a16="http://schemas.microsoft.com/office/drawing/2014/main" id="{BEEEC503-600A-4E8F-952D-6724E56C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76676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5" name="recommendation-2-title">
            <a:extLst xmlns:a="http://schemas.openxmlformats.org/drawingml/2006/main">
              <a:ext uri="{FF2B5EF4-FFF2-40B4-BE49-F238E27FC236}">
                <a16:creationId xmlns:a16="http://schemas.microsoft.com/office/drawing/2014/main" id="{FF1FD277-4EED-40D3-8E32-390AA8F0A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5247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INTERVENE BY VEHICLE TYPE</a:t>
            </a:r>
          </a:p>
        </p:txBody>
      </p:sp>
      <p:sp>
        <p:nvSpPr>
          <p:cNvPr id="26" name="recommendation-2-evidence">
            <a:extLst xmlns:a="http://schemas.openxmlformats.org/drawingml/2006/main">
              <a:ext uri="{FF2B5EF4-FFF2-40B4-BE49-F238E27FC236}">
                <a16:creationId xmlns:a16="http://schemas.microsoft.com/office/drawing/2014/main" id="{669C0132-60C7-4276-ADFC-452C25AFB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848600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54A3"/>
                </a:solidFill>
              </a:defRPr>
            </a:pPr>
            <a:r>
              <a:rPr sz="1050" b="1">
                <a:solidFill>
                  <a:srgbClr val="1554A3"/>
                </a:solidFill>
              </a:rPr>
              <a:t>81.53% single-axle  ·  80.81% 3XL trailer</a:t>
            </a:r>
          </a:p>
        </p:txBody>
      </p:sp>
      <p:sp>
        <p:nvSpPr>
          <p:cNvPr id="27" name="recommendation-2-action">
            <a:extLst xmlns:a="http://schemas.openxmlformats.org/drawingml/2006/main">
              <a:ext uri="{FF2B5EF4-FFF2-40B4-BE49-F238E27FC236}">
                <a16:creationId xmlns:a16="http://schemas.microsoft.com/office/drawing/2014/main" id="{B445D815-053F-4511-873D-60782698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817245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E2D42"/>
                </a:solidFill>
              </a:defRPr>
            </a:pPr>
            <a:r>
              <a:rPr sz="1125">
                <a:solidFill>
                  <a:srgbClr val="1E2D42"/>
                </a:solidFill>
              </a:rPr>
              <a:t>Audit dispatch, maintenance, load planning, and route assignment for the vehicle types carrying the highest delay exposure.</a:t>
            </a:r>
          </a:p>
        </p:txBody>
      </p:sp>
      <p:sp>
        <p:nvSpPr>
          <p:cNvPr id="28" name="recommendation-3">
            <a:extLst xmlns:a="http://schemas.openxmlformats.org/drawingml/2006/main">
              <a:ext uri="{FF2B5EF4-FFF2-40B4-BE49-F238E27FC236}">
                <a16:creationId xmlns:a16="http://schemas.microsoft.com/office/drawing/2014/main" id="{D8F6DB50-E5EC-4F3E-8C42-0FA1B3BD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58275"/>
            <a:ext cx="565785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29" name="recommendation-3-accent">
            <a:extLst xmlns:a="http://schemas.openxmlformats.org/drawingml/2006/main">
              <a:ext uri="{FF2B5EF4-FFF2-40B4-BE49-F238E27FC236}">
                <a16:creationId xmlns:a16="http://schemas.microsoft.com/office/drawing/2014/main" id="{49CB05AE-0E48-4D10-B0CA-95DCB4320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58275"/>
            <a:ext cx="9525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recommendation-3-number-bg">
            <a:extLst xmlns:a="http://schemas.openxmlformats.org/drawingml/2006/main">
              <a:ext uri="{FF2B5EF4-FFF2-40B4-BE49-F238E27FC236}">
                <a16:creationId xmlns:a16="http://schemas.microsoft.com/office/drawing/2014/main" id="{0DEE36A6-8DC0-4E83-9F30-D7F6786F5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92678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recommendation-3-number">
            <a:extLst xmlns:a="http://schemas.openxmlformats.org/drawingml/2006/main">
              <a:ext uri="{FF2B5EF4-FFF2-40B4-BE49-F238E27FC236}">
                <a16:creationId xmlns:a16="http://schemas.microsoft.com/office/drawing/2014/main" id="{004EE8D1-42A8-461E-B7D4-59FDD5FE4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939165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2" name="recommendation-3-title">
            <a:extLst xmlns:a="http://schemas.openxmlformats.org/drawingml/2006/main">
              <a:ext uri="{FF2B5EF4-FFF2-40B4-BE49-F238E27FC236}">
                <a16:creationId xmlns:a16="http://schemas.microsoft.com/office/drawing/2014/main" id="{746877C5-78A9-44AA-8B07-2980A27E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9248775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82653"/>
                </a:solidFill>
              </a:defRPr>
            </a:pPr>
            <a:r>
              <a:rPr sz="1425" b="1">
                <a:solidFill>
                  <a:srgbClr val="082653"/>
                </a:solidFill>
              </a:rPr>
              <a:t>ENFORCE PARTNER ACCOUNTABILITY</a:t>
            </a:r>
          </a:p>
        </p:txBody>
      </p:sp>
      <p:sp>
        <p:nvSpPr>
          <p:cNvPr id="33" name="recommendation-3-evidence">
            <a:extLst xmlns:a="http://schemas.openxmlformats.org/drawingml/2006/main">
              <a:ext uri="{FF2B5EF4-FFF2-40B4-BE49-F238E27FC236}">
                <a16:creationId xmlns:a16="http://schemas.microsoft.com/office/drawing/2014/main" id="{72F7BBC5-83AD-4320-9D6E-2EEE8FE1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957262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F6B2A"/>
                </a:solidFill>
              </a:defRPr>
            </a:pPr>
            <a:r>
              <a:rPr sz="1050" b="1">
                <a:solidFill>
                  <a:srgbClr val="3F6B2A"/>
                </a:solidFill>
              </a:rPr>
              <a:t>95.38% supplier  ·  73.35% customer</a:t>
            </a:r>
          </a:p>
        </p:txBody>
      </p:sp>
      <p:sp>
        <p:nvSpPr>
          <p:cNvPr id="34" name="recommendation-3-action">
            <a:extLst xmlns:a="http://schemas.openxmlformats.org/drawingml/2006/main">
              <a:ext uri="{FF2B5EF4-FFF2-40B4-BE49-F238E27FC236}">
                <a16:creationId xmlns:a16="http://schemas.microsoft.com/office/drawing/2014/main" id="{0CF4B82F-609C-41A8-9135-A0E9EB3A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98964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E2D42"/>
                </a:solidFill>
              </a:defRPr>
            </a:pPr>
            <a:r>
              <a:rPr sz="1125">
                <a:solidFill>
                  <a:srgbClr val="1E2D42"/>
                </a:solidFill>
              </a:rPr>
              <a:t>Run root-cause reviews with high-risk partners, define service-level ownership, and resolve the 737 unknown-supplier records.</a:t>
            </a:r>
          </a:p>
        </p:txBody>
      </p:sp>
      <p:sp>
        <p:nvSpPr>
          <p:cNvPr id="35" name="control-loop-panel">
            <a:extLst xmlns:a="http://schemas.openxmlformats.org/drawingml/2006/main">
              <a:ext uri="{FF2B5EF4-FFF2-40B4-BE49-F238E27FC236}">
                <a16:creationId xmlns:a16="http://schemas.microsoft.com/office/drawing/2014/main" id="{789A12E0-3DCB-471A-8FF2-162C01E6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486150"/>
            <a:ext cx="2914650" cy="487680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ntrol-loop-label">
            <a:extLst xmlns:a="http://schemas.openxmlformats.org/drawingml/2006/main">
              <a:ext uri="{FF2B5EF4-FFF2-40B4-BE49-F238E27FC236}">
                <a16:creationId xmlns:a16="http://schemas.microsoft.com/office/drawing/2014/main" id="{4FC7BE90-DE32-44BA-A596-89128ADF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338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47B2A"/>
                </a:solidFill>
              </a:defRPr>
            </a:pPr>
            <a:r>
              <a:rPr sz="1125" b="1">
                <a:solidFill>
                  <a:srgbClr val="F47B2A"/>
                </a:solidFill>
              </a:rPr>
              <a:t>MANAGEMENT CONTROL LOOP</a:t>
            </a:r>
          </a:p>
        </p:txBody>
      </p:sp>
      <p:sp>
        <p:nvSpPr>
          <p:cNvPr id="37" name="loop-0-circle">
            <a:extLst xmlns:a="http://schemas.openxmlformats.org/drawingml/2006/main">
              <a:ext uri="{FF2B5EF4-FFF2-40B4-BE49-F238E27FC236}">
                <a16:creationId xmlns:a16="http://schemas.microsoft.com/office/drawing/2014/main" id="{57B04789-D2E7-443C-9118-FF3CAB52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100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8" name="loop-0-number">
            <a:extLst xmlns:a="http://schemas.openxmlformats.org/drawingml/2006/main">
              <a:ext uri="{FF2B5EF4-FFF2-40B4-BE49-F238E27FC236}">
                <a16:creationId xmlns:a16="http://schemas.microsoft.com/office/drawing/2014/main" id="{73E39F4B-DFB5-45F7-B4D0-27C4C0344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3719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39" name="loop-0-title">
            <a:extLst xmlns:a="http://schemas.openxmlformats.org/drawingml/2006/main">
              <a:ext uri="{FF2B5EF4-FFF2-40B4-BE49-F238E27FC236}">
                <a16:creationId xmlns:a16="http://schemas.microsoft.com/office/drawing/2014/main" id="{DD5705C6-3337-4871-8F69-1E53CD7D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2291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MONITOR</a:t>
            </a:r>
          </a:p>
        </p:txBody>
      </p:sp>
      <p:sp>
        <p:nvSpPr>
          <p:cNvPr id="40" name="loop-0-body">
            <a:extLst xmlns:a="http://schemas.openxmlformats.org/drawingml/2006/main">
              <a:ext uri="{FF2B5EF4-FFF2-40B4-BE49-F238E27FC236}">
                <a16:creationId xmlns:a16="http://schemas.microsoft.com/office/drawing/2014/main" id="{981DD9BA-4E1F-4B9B-AAA4-215E7144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514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DDE8F8"/>
                </a:solidFill>
              </a:defRPr>
            </a:pPr>
            <a:r>
              <a:rPr sz="975">
                <a:solidFill>
                  <a:srgbClr val="DDE8F8"/>
                </a:solidFill>
              </a:rPr>
              <a:t>Power BI flags changes</a:t>
            </a:r>
          </a:p>
        </p:txBody>
      </p:sp>
      <p:sp>
        <p:nvSpPr>
          <p:cNvPr id="41" name="loop-0-line">
            <a:extLst xmlns:a="http://schemas.openxmlformats.org/drawingml/2006/main">
              <a:ext uri="{FF2B5EF4-FFF2-40B4-BE49-F238E27FC236}">
                <a16:creationId xmlns:a16="http://schemas.microsoft.com/office/drawing/2014/main" id="{066B5154-108A-4238-934D-7AE382C0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762500"/>
            <a:ext cx="285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loop-1-circle">
            <a:extLst xmlns:a="http://schemas.openxmlformats.org/drawingml/2006/main">
              <a:ext uri="{FF2B5EF4-FFF2-40B4-BE49-F238E27FC236}">
                <a16:creationId xmlns:a16="http://schemas.microsoft.com/office/drawing/2014/main" id="{A8C5C321-6FC6-4CA9-B752-AD83E32D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1625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43" name="loop-1-number">
            <a:extLst xmlns:a="http://schemas.openxmlformats.org/drawingml/2006/main">
              <a:ext uri="{FF2B5EF4-FFF2-40B4-BE49-F238E27FC236}">
                <a16:creationId xmlns:a16="http://schemas.microsoft.com/office/drawing/2014/main" id="{3B075051-6F34-4669-9CF4-E2E665A0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3244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4" name="loop-1-title">
            <a:extLst xmlns:a="http://schemas.openxmlformats.org/drawingml/2006/main">
              <a:ext uri="{FF2B5EF4-FFF2-40B4-BE49-F238E27FC236}">
                <a16:creationId xmlns:a16="http://schemas.microsoft.com/office/drawing/2014/main" id="{492BF0D3-9FE9-41B3-BB8A-145C74560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1816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INVESTIGATE</a:t>
            </a:r>
          </a:p>
        </p:txBody>
      </p:sp>
      <p:sp>
        <p:nvSpPr>
          <p:cNvPr id="45" name="loop-1-body">
            <a:extLst xmlns:a="http://schemas.openxmlformats.org/drawingml/2006/main">
              <a:ext uri="{FF2B5EF4-FFF2-40B4-BE49-F238E27FC236}">
                <a16:creationId xmlns:a16="http://schemas.microsoft.com/office/drawing/2014/main" id="{6C966A7D-7974-47B4-B30C-16B50BCD7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4673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DDE8F8"/>
                </a:solidFill>
              </a:defRPr>
            </a:pPr>
            <a:r>
              <a:rPr sz="975">
                <a:solidFill>
                  <a:srgbClr val="DDE8F8"/>
                </a:solidFill>
              </a:rPr>
              <a:t>SQL traces the driver</a:t>
            </a:r>
          </a:p>
        </p:txBody>
      </p:sp>
      <p:sp>
        <p:nvSpPr>
          <p:cNvPr id="46" name="loop-1-line">
            <a:extLst xmlns:a="http://schemas.openxmlformats.org/drawingml/2006/main">
              <a:ext uri="{FF2B5EF4-FFF2-40B4-BE49-F238E27FC236}">
                <a16:creationId xmlns:a16="http://schemas.microsoft.com/office/drawing/2014/main" id="{19B27CB6-A208-4883-BF23-FF0F7B8B0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5715000"/>
            <a:ext cx="285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loop-2-circle">
            <a:extLst xmlns:a="http://schemas.openxmlformats.org/drawingml/2006/main">
              <a:ext uri="{FF2B5EF4-FFF2-40B4-BE49-F238E27FC236}">
                <a16:creationId xmlns:a16="http://schemas.microsoft.com/office/drawing/2014/main" id="{F4BD9E0B-CAE7-415F-AFF4-1F142035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61150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48" name="loop-2-number">
            <a:extLst xmlns:a="http://schemas.openxmlformats.org/drawingml/2006/main">
              <a:ext uri="{FF2B5EF4-FFF2-40B4-BE49-F238E27FC236}">
                <a16:creationId xmlns:a16="http://schemas.microsoft.com/office/drawing/2014/main" id="{D8F6DEDE-C8CA-4FC7-B0CC-7D509E44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62769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49" name="loop-2-title">
            <a:extLst xmlns:a="http://schemas.openxmlformats.org/drawingml/2006/main">
              <a:ext uri="{FF2B5EF4-FFF2-40B4-BE49-F238E27FC236}">
                <a16:creationId xmlns:a16="http://schemas.microsoft.com/office/drawing/2014/main" id="{FB2B7509-221F-425C-A3B8-48115BC62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1341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ACT</a:t>
            </a:r>
          </a:p>
        </p:txBody>
      </p:sp>
      <p:sp>
        <p:nvSpPr>
          <p:cNvPr id="50" name="loop-2-body">
            <a:extLst xmlns:a="http://schemas.openxmlformats.org/drawingml/2006/main">
              <a:ext uri="{FF2B5EF4-FFF2-40B4-BE49-F238E27FC236}">
                <a16:creationId xmlns:a16="http://schemas.microsoft.com/office/drawing/2014/main" id="{F51B7DBC-F747-4C90-AB91-1C11AF503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419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DDE8F8"/>
                </a:solidFill>
              </a:defRPr>
            </a:pPr>
            <a:r>
              <a:rPr sz="975">
                <a:solidFill>
                  <a:srgbClr val="DDE8F8"/>
                </a:solidFill>
              </a:rPr>
              <a:t>Operations owns response</a:t>
            </a:r>
          </a:p>
        </p:txBody>
      </p:sp>
      <p:sp>
        <p:nvSpPr>
          <p:cNvPr id="51" name="loop-2-line">
            <a:extLst xmlns:a="http://schemas.openxmlformats.org/drawingml/2006/main">
              <a:ext uri="{FF2B5EF4-FFF2-40B4-BE49-F238E27FC236}">
                <a16:creationId xmlns:a16="http://schemas.microsoft.com/office/drawing/2014/main" id="{027A88ED-B157-4776-BB4B-2A134A6D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667500"/>
            <a:ext cx="285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F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loop-3-circle">
            <a:extLst xmlns:a="http://schemas.openxmlformats.org/drawingml/2006/main">
              <a:ext uri="{FF2B5EF4-FFF2-40B4-BE49-F238E27FC236}">
                <a16:creationId xmlns:a16="http://schemas.microsoft.com/office/drawing/2014/main" id="{0A877A4A-EF45-4EAC-A3AA-7E755BA52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70675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3" name="loop-3-number">
            <a:extLst xmlns:a="http://schemas.openxmlformats.org/drawingml/2006/main">
              <a:ext uri="{FF2B5EF4-FFF2-40B4-BE49-F238E27FC236}">
                <a16:creationId xmlns:a16="http://schemas.microsoft.com/office/drawing/2014/main" id="{48267F58-C634-4C63-92A0-4D6B71A9C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72294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54" name="loop-3-title">
            <a:extLst xmlns:a="http://schemas.openxmlformats.org/drawingml/2006/main">
              <a:ext uri="{FF2B5EF4-FFF2-40B4-BE49-F238E27FC236}">
                <a16:creationId xmlns:a16="http://schemas.microsoft.com/office/drawing/2014/main" id="{69853987-3E80-4670-B1A3-5247DB69C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70866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REVIEW</a:t>
            </a:r>
          </a:p>
        </p:txBody>
      </p:sp>
      <p:sp>
        <p:nvSpPr>
          <p:cNvPr id="55" name="loop-3-body">
            <a:extLst xmlns:a="http://schemas.openxmlformats.org/drawingml/2006/main">
              <a:ext uri="{FF2B5EF4-FFF2-40B4-BE49-F238E27FC236}">
                <a16:creationId xmlns:a16="http://schemas.microsoft.com/office/drawing/2014/main" id="{628E6D0F-69E5-42E7-A4D5-5FB143DE3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73723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DDE8F8"/>
                </a:solidFill>
              </a:defRPr>
            </a:pPr>
            <a:r>
              <a:rPr sz="975">
                <a:solidFill>
                  <a:srgbClr val="DDE8F8"/>
                </a:solidFill>
              </a:rPr>
              <a:t>KPIs confirm movement</a:t>
            </a:r>
          </a:p>
        </p:txBody>
      </p:sp>
      <p:sp>
        <p:nvSpPr>
          <p:cNvPr id="56" name="success-panel">
            <a:extLst xmlns:a="http://schemas.openxmlformats.org/drawingml/2006/main">
              <a:ext uri="{FF2B5EF4-FFF2-40B4-BE49-F238E27FC236}">
                <a16:creationId xmlns:a16="http://schemas.microsoft.com/office/drawing/2014/main" id="{8FF98291-CE6E-4D35-8381-7CC1780EC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8610600"/>
            <a:ext cx="2914650" cy="21717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57" name="success-title">
            <a:extLst xmlns:a="http://schemas.openxmlformats.org/drawingml/2006/main">
              <a:ext uri="{FF2B5EF4-FFF2-40B4-BE49-F238E27FC236}">
                <a16:creationId xmlns:a16="http://schemas.microsoft.com/office/drawing/2014/main" id="{D4994CB1-7403-47BF-A7BA-65A28AF0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8839200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WHAT SUCCESS LOOKS LIKE</a:t>
            </a:r>
          </a:p>
        </p:txBody>
      </p:sp>
      <p:sp>
        <p:nvSpPr>
          <p:cNvPr id="58" name="success-0-check">
            <a:extLst xmlns:a="http://schemas.openxmlformats.org/drawingml/2006/main">
              <a:ext uri="{FF2B5EF4-FFF2-40B4-BE49-F238E27FC236}">
                <a16:creationId xmlns:a16="http://schemas.microsoft.com/office/drawing/2014/main" id="{DFAE0DDF-0A69-487C-8071-92DC7C995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2868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success-0-mark">
            <a:extLst xmlns:a="http://schemas.openxmlformats.org/drawingml/2006/main">
              <a:ext uri="{FF2B5EF4-FFF2-40B4-BE49-F238E27FC236}">
                <a16:creationId xmlns:a16="http://schemas.microsoft.com/office/drawing/2014/main" id="{32220536-D57C-4844-8908-47B6FF13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296400"/>
            <a:ext cx="19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0" name="success-0-text">
            <a:extLst xmlns:a="http://schemas.openxmlformats.org/drawingml/2006/main">
              <a:ext uri="{FF2B5EF4-FFF2-40B4-BE49-F238E27FC236}">
                <a16:creationId xmlns:a16="http://schemas.microsoft.com/office/drawing/2014/main" id="{852123D0-3374-400D-B0D1-003FED367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92773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Lower delay rate</a:t>
            </a:r>
          </a:p>
        </p:txBody>
      </p:sp>
      <p:sp>
        <p:nvSpPr>
          <p:cNvPr id="61" name="success-1-check">
            <a:extLst xmlns:a="http://schemas.openxmlformats.org/drawingml/2006/main">
              <a:ext uri="{FF2B5EF4-FFF2-40B4-BE49-F238E27FC236}">
                <a16:creationId xmlns:a16="http://schemas.microsoft.com/office/drawing/2014/main" id="{A02C6FA9-EE7D-4253-A68D-9D6CD92F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6488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success-1-mark">
            <a:extLst xmlns:a="http://schemas.openxmlformats.org/drawingml/2006/main">
              <a:ext uri="{FF2B5EF4-FFF2-40B4-BE49-F238E27FC236}">
                <a16:creationId xmlns:a16="http://schemas.microsoft.com/office/drawing/2014/main" id="{55E0771B-7EEE-42C5-8C34-8BD865E2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9658350"/>
            <a:ext cx="19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3" name="success-1-text">
            <a:extLst xmlns:a="http://schemas.openxmlformats.org/drawingml/2006/main">
              <a:ext uri="{FF2B5EF4-FFF2-40B4-BE49-F238E27FC236}">
                <a16:creationId xmlns:a16="http://schemas.microsoft.com/office/drawing/2014/main" id="{A0F5AF66-10C0-4267-94BA-39A08046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96393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Higher on-time rate</a:t>
            </a:r>
          </a:p>
        </p:txBody>
      </p:sp>
      <p:sp>
        <p:nvSpPr>
          <p:cNvPr id="64" name="success-2-check">
            <a:extLst xmlns:a="http://schemas.openxmlformats.org/drawingml/2006/main">
              <a:ext uri="{FF2B5EF4-FFF2-40B4-BE49-F238E27FC236}">
                <a16:creationId xmlns:a16="http://schemas.microsoft.com/office/drawing/2014/main" id="{F8D09C6A-F652-4208-A5A1-F4ED14F9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0107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success-2-mark">
            <a:extLst xmlns:a="http://schemas.openxmlformats.org/drawingml/2006/main">
              <a:ext uri="{FF2B5EF4-FFF2-40B4-BE49-F238E27FC236}">
                <a16:creationId xmlns:a16="http://schemas.microsoft.com/office/drawing/2014/main" id="{D7C7DA31-849E-4FE4-AFE3-5BB19BBC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020300"/>
            <a:ext cx="19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6" name="success-2-text">
            <a:extLst xmlns:a="http://schemas.openxmlformats.org/drawingml/2006/main">
              <a:ext uri="{FF2B5EF4-FFF2-40B4-BE49-F238E27FC236}">
                <a16:creationId xmlns:a16="http://schemas.microsoft.com/office/drawing/2014/main" id="{BBB2DF9D-FC13-44E6-ABB8-7E6A1716E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00012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Cleaner GPS and supplier data</a:t>
            </a:r>
          </a:p>
        </p:txBody>
      </p:sp>
      <p:sp>
        <p:nvSpPr>
          <p:cNvPr id="67" name="success-3-check">
            <a:extLst xmlns:a="http://schemas.openxmlformats.org/drawingml/2006/main">
              <a:ext uri="{FF2B5EF4-FFF2-40B4-BE49-F238E27FC236}">
                <a16:creationId xmlns:a16="http://schemas.microsoft.com/office/drawing/2014/main" id="{BD77977C-DE98-4514-9471-8B8A44747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37272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success-3-mark">
            <a:extLst xmlns:a="http://schemas.openxmlformats.org/drawingml/2006/main">
              <a:ext uri="{FF2B5EF4-FFF2-40B4-BE49-F238E27FC236}">
                <a16:creationId xmlns:a16="http://schemas.microsoft.com/office/drawing/2014/main" id="{7C86D358-6246-470F-8E90-5C2ACE398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382250"/>
            <a:ext cx="19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9" name="success-3-text">
            <a:extLst xmlns:a="http://schemas.openxmlformats.org/drawingml/2006/main">
              <a:ext uri="{FF2B5EF4-FFF2-40B4-BE49-F238E27FC236}">
                <a16:creationId xmlns:a16="http://schemas.microsoft.com/office/drawing/2014/main" id="{84B85DE5-F469-45DF-B533-4711658F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03632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E2D42"/>
                </a:solidFill>
              </a:defRPr>
            </a:pPr>
            <a:r>
              <a:rPr sz="1050">
                <a:solidFill>
                  <a:srgbClr val="1E2D42"/>
                </a:solidFill>
              </a:rPr>
              <a:t>Fewer failed or stuck shipments</a:t>
            </a:r>
          </a:p>
        </p:txBody>
      </p:sp>
      <p:sp>
        <p:nvSpPr>
          <p:cNvPr id="70" name="slide-07-principle-band">
            <a:extLst xmlns:a="http://schemas.openxmlformats.org/drawingml/2006/main">
              <a:ext uri="{FF2B5EF4-FFF2-40B4-BE49-F238E27FC236}">
                <a16:creationId xmlns:a16="http://schemas.microsoft.com/office/drawing/2014/main" id="{0F8273EC-DBD4-4877-8477-47A06607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10900"/>
            <a:ext cx="89154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2F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71" name="principle-label">
            <a:extLst xmlns:a="http://schemas.openxmlformats.org/drawingml/2006/main">
              <a:ext uri="{FF2B5EF4-FFF2-40B4-BE49-F238E27FC236}">
                <a16:creationId xmlns:a16="http://schemas.microsoft.com/office/drawing/2014/main" id="{A2DEC7B6-2C4B-4E13-BF1B-B71EBF7F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1823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54A3"/>
                </a:solidFill>
              </a:defRPr>
            </a:pPr>
            <a:r>
              <a:rPr sz="1050" b="1">
                <a:solidFill>
                  <a:srgbClr val="1554A3"/>
                </a:solidFill>
              </a:rPr>
              <a:t>OPERATING PRINCIPLE</a:t>
            </a:r>
          </a:p>
        </p:txBody>
      </p:sp>
      <p:sp>
        <p:nvSpPr>
          <p:cNvPr id="72" name="principle-copy">
            <a:extLst xmlns:a="http://schemas.openxmlformats.org/drawingml/2006/main">
              <a:ext uri="{FF2B5EF4-FFF2-40B4-BE49-F238E27FC236}">
                <a16:creationId xmlns:a16="http://schemas.microsoft.com/office/drawing/2014/main" id="{CDE57873-1D34-4402-8CAB-E7BCC51F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1163300"/>
            <a:ext cx="638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2653"/>
                </a:solidFill>
              </a:defRPr>
            </a:pPr>
            <a:r>
              <a:rPr sz="1275" b="1">
                <a:solidFill>
                  <a:srgbClr val="082653"/>
                </a:solidFill>
              </a:rPr>
              <a:t>Use the dashboard as a recurring management system, not a one-time report.</a:t>
            </a:r>
          </a:p>
        </p:txBody>
      </p:sp>
      <p:sp>
        <p:nvSpPr>
          <p:cNvPr id="73" name="slide-07-footer-left">
            <a:extLst xmlns:a="http://schemas.openxmlformats.org/drawingml/2006/main">
              <a:ext uri="{FF2B5EF4-FFF2-40B4-BE49-F238E27FC236}">
                <a16:creationId xmlns:a16="http://schemas.microsoft.com/office/drawing/2014/main" id="{14545D96-C62D-41F5-BD4C-949A1BF30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74" name="slide-07-footer-right">
            <a:extLst xmlns:a="http://schemas.openxmlformats.org/drawingml/2006/main">
              <a:ext uri="{FF2B5EF4-FFF2-40B4-BE49-F238E27FC236}">
                <a16:creationId xmlns:a16="http://schemas.microsoft.com/office/drawing/2014/main" id="{E2603CD4-BA29-4144-9140-B77DD6475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3973888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slide-08-top-accent">
            <a:extLst xmlns:a="http://schemas.openxmlformats.org/drawingml/2006/main">
              <a:ext uri="{FF2B5EF4-FFF2-40B4-BE49-F238E27FC236}">
                <a16:creationId xmlns:a16="http://schemas.microsoft.com/office/drawing/2014/main" id="{73776CAF-7C2D-437A-851E-AC80A1D10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76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lide-08-eyebrow">
            <a:extLst xmlns:a="http://schemas.openxmlformats.org/drawingml/2006/main">
              <a:ext uri="{FF2B5EF4-FFF2-40B4-BE49-F238E27FC236}">
                <a16:creationId xmlns:a16="http://schemas.microsoft.com/office/drawing/2014/main" id="{21F68EC8-0062-459F-9266-59E6F722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554A3"/>
                </a:solidFill>
              </a:defRPr>
            </a:pPr>
            <a:r>
              <a:rPr sz="1500" b="1">
                <a:solidFill>
                  <a:srgbClr val="1554A3"/>
                </a:solidFill>
              </a:rPr>
              <a:t>PROJECT REPOSITORY</a:t>
            </a:r>
          </a:p>
        </p:txBody>
      </p:sp>
      <p:sp>
        <p:nvSpPr>
          <p:cNvPr id="3" name="slide-08-number">
            <a:extLst xmlns:a="http://schemas.openxmlformats.org/drawingml/2006/main">
              <a:ext uri="{FF2B5EF4-FFF2-40B4-BE49-F238E27FC236}">
                <a16:creationId xmlns:a16="http://schemas.microsoft.com/office/drawing/2014/main" id="{21B23F77-86C6-4AAE-A1AA-AF5E4FD4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942975"/>
            <a:ext cx="131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718096"/>
                </a:solidFill>
              </a:defRPr>
            </a:pPr>
            <a:r>
              <a:rPr sz="1350" b="1">
                <a:solidFill>
                  <a:srgbClr val="718096"/>
                </a:solidFill>
              </a:rPr>
              <a:t>08 / 08</a:t>
            </a:r>
          </a:p>
        </p:txBody>
      </p:sp>
      <p:sp>
        <p:nvSpPr>
          <p:cNvPr id="4" name="slide-08-title">
            <a:extLst xmlns:a="http://schemas.openxmlformats.org/drawingml/2006/main">
              <a:ext uri="{FF2B5EF4-FFF2-40B4-BE49-F238E27FC236}">
                <a16:creationId xmlns:a16="http://schemas.microsoft.com/office/drawing/2014/main" id="{CB5D2691-7BCF-4242-BEFA-E07578AB1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8915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082653"/>
                </a:solidFill>
              </a:defRPr>
            </a:pPr>
            <a:r>
              <a:rPr sz="3525" b="1">
                <a:solidFill>
                  <a:srgbClr val="082653"/>
                </a:solidFill>
              </a:rPr>
              <a:t>EXPLORE THE FULL</a:t>
            </a:r>
          </a:p>
          <a:p xmlns:a="http://schemas.openxmlformats.org/drawingml/2006/main">
            <a:pPr>
              <a:defRPr sz="3525" b="1">
                <a:solidFill>
                  <a:srgbClr val="082653"/>
                </a:solidFill>
              </a:defRPr>
            </a:pPr>
            <a:r>
              <a:rPr sz="3525" b="1">
                <a:solidFill>
                  <a:srgbClr val="082653"/>
                </a:solidFill>
              </a:rPr>
              <a:t>END-TO-END PROJECT</a:t>
            </a:r>
          </a:p>
        </p:txBody>
      </p:sp>
      <p:sp>
        <p:nvSpPr>
          <p:cNvPr id="5" name="slide-08-subtitle">
            <a:extLst xmlns:a="http://schemas.openxmlformats.org/drawingml/2006/main">
              <a:ext uri="{FF2B5EF4-FFF2-40B4-BE49-F238E27FC236}">
                <a16:creationId xmlns:a16="http://schemas.microsoft.com/office/drawing/2014/main" id="{68950960-06E1-40B3-942C-E022A73F4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D42"/>
                </a:solidFill>
              </a:defRPr>
            </a:pPr>
            <a:r>
              <a:rPr sz="1575">
                <a:solidFill>
                  <a:srgbClr val="1E2D42"/>
                </a:solidFill>
              </a:rPr>
              <a:t>From raw logistics data to business recommendations, the complete analytical workflow is structured for GitHub.</a:t>
            </a:r>
          </a:p>
        </p:txBody>
      </p:sp>
      <p:sp>
        <p:nvSpPr>
          <p:cNvPr id="6" name="repository-hero">
            <a:extLst xmlns:a="http://schemas.openxmlformats.org/drawingml/2006/main">
              <a:ext uri="{FF2B5EF4-FFF2-40B4-BE49-F238E27FC236}">
                <a16:creationId xmlns:a16="http://schemas.microsoft.com/office/drawing/2014/main" id="{B3D3DCE4-58B4-48F1-9CC6-D22152836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8915400" cy="3467100"/>
          </a:xfrm>
          <a:prstGeom xmlns:a="http://schemas.openxmlformats.org/drawingml/2006/main" prst="roundRect">
            <a:avLst>
              <a:gd name="adj" fmla="val 2198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pository-icon-bg">
            <a:extLst xmlns:a="http://schemas.openxmlformats.org/drawingml/2006/main">
              <a:ext uri="{FF2B5EF4-FFF2-40B4-BE49-F238E27FC236}">
                <a16:creationId xmlns:a16="http://schemas.microsoft.com/office/drawing/2014/main" id="{3C3EF770-B9DC-46CE-A4D2-86B52EB59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62400"/>
            <a:ext cx="1638300" cy="1638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2F80ED"/>
            </a:solidFill>
            <a:prstDash val="solid"/>
          </a:ln>
        </p:spPr>
      </p:sp>
      <p:sp>
        <p:nvSpPr>
          <p:cNvPr id="8" name="repository-icon">
            <a:extLst xmlns:a="http://schemas.openxmlformats.org/drawingml/2006/main">
              <a:ext uri="{FF2B5EF4-FFF2-40B4-BE49-F238E27FC236}">
                <a16:creationId xmlns:a16="http://schemas.microsoft.com/office/drawing/2014/main" id="{C6B87A00-C561-4ED1-B9AE-E9A097FC7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00550"/>
            <a:ext cx="1638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082653"/>
                </a:solidFill>
              </a:defRPr>
            </a:pPr>
            <a:r>
              <a:rPr sz="3600" b="1">
                <a:solidFill>
                  <a:srgbClr val="082653"/>
                </a:solidFill>
              </a:rPr>
              <a:t>&lt;/&gt;</a:t>
            </a:r>
          </a:p>
        </p:txBody>
      </p:sp>
      <p:sp>
        <p:nvSpPr>
          <p:cNvPr id="9" name="repository-platform">
            <a:extLst xmlns:a="http://schemas.openxmlformats.org/drawingml/2006/main">
              <a:ext uri="{FF2B5EF4-FFF2-40B4-BE49-F238E27FC236}">
                <a16:creationId xmlns:a16="http://schemas.microsoft.com/office/drawing/2014/main" id="{495EF5CB-A1D6-492D-B2FC-C5D9247A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554A3"/>
                </a:solidFill>
              </a:defRPr>
            </a:pPr>
            <a:r>
              <a:rPr sz="1200" b="1">
                <a:solidFill>
                  <a:srgbClr val="1554A3"/>
                </a:solidFill>
              </a:rPr>
              <a:t>GITHUB</a:t>
            </a:r>
          </a:p>
        </p:txBody>
      </p:sp>
      <p:sp>
        <p:nvSpPr>
          <p:cNvPr id="10" name="repository-owner">
            <a:extLst xmlns:a="http://schemas.openxmlformats.org/drawingml/2006/main">
              <a:ext uri="{FF2B5EF4-FFF2-40B4-BE49-F238E27FC236}">
                <a16:creationId xmlns:a16="http://schemas.microsoft.com/office/drawing/2014/main" id="{B3C0E9A6-936E-4A1C-BD51-865B973B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8862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9FB9DF"/>
                </a:solidFill>
              </a:defRPr>
            </a:pPr>
            <a:r>
              <a:rPr sz="1200" b="1">
                <a:solidFill>
                  <a:srgbClr val="9FB9DF"/>
                </a:solidFill>
              </a:rPr>
              <a:t>MOHAMEDTAREK00212  /</a:t>
            </a:r>
          </a:p>
        </p:txBody>
      </p:sp>
      <p:sp>
        <p:nvSpPr>
          <p:cNvPr id="11" name="repository-name">
            <a:extLst xmlns:a="http://schemas.openxmlformats.org/drawingml/2006/main">
              <a:ext uri="{FF2B5EF4-FFF2-40B4-BE49-F238E27FC236}">
                <a16:creationId xmlns:a16="http://schemas.microsoft.com/office/drawing/2014/main" id="{CAB32571-C514-49E6-BF5F-7FAF77EEF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21005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Transportation-Logistics</a:t>
            </a:r>
          </a:p>
        </p:txBody>
      </p:sp>
      <p:sp>
        <p:nvSpPr>
          <p:cNvPr id="12" name="repository-description">
            <a:extLst xmlns:a="http://schemas.openxmlformats.org/drawingml/2006/main">
              <a:ext uri="{FF2B5EF4-FFF2-40B4-BE49-F238E27FC236}">
                <a16:creationId xmlns:a16="http://schemas.microsoft.com/office/drawing/2014/main" id="{89025F26-734E-4393-A11B-922A72C85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819650"/>
            <a:ext cx="581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DDE8F8"/>
                </a:solidFill>
              </a:defRPr>
            </a:pPr>
            <a:r>
              <a:rPr sz="1500">
                <a:solidFill>
                  <a:srgbClr val="DDE8F8"/>
                </a:solidFill>
              </a:rPr>
              <a:t>Transportation &amp; Logistics Analytics</a:t>
            </a:r>
          </a:p>
          <a:p xmlns:a="http://schemas.openxmlformats.org/drawingml/2006/main">
            <a:pPr>
              <a:defRPr sz="1500">
                <a:solidFill>
                  <a:srgbClr val="DDE8F8"/>
                </a:solidFill>
              </a:defRPr>
            </a:pPr>
            <a:r>
              <a:rPr sz="1500">
                <a:solidFill>
                  <a:srgbClr val="DDE8F8"/>
                </a:solidFill>
              </a:rPr>
              <a:t>End-to-End Data Analytics and BI Case Study</a:t>
            </a:r>
          </a:p>
        </p:txBody>
      </p:sp>
      <p:sp>
        <p:nvSpPr>
          <p:cNvPr id="13" name="repository-link-bg">
            <a:extLst xmlns:a="http://schemas.openxmlformats.org/drawingml/2006/main">
              <a:ext uri="{FF2B5EF4-FFF2-40B4-BE49-F238E27FC236}">
                <a16:creationId xmlns:a16="http://schemas.microsoft.com/office/drawing/2014/main" id="{0B8DCEE5-2A36-4982-951E-630CEE8F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791200"/>
            <a:ext cx="5810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repository-link-label">
            <a:extLst xmlns:a="http://schemas.openxmlformats.org/drawingml/2006/main">
              <a:ext uri="{FF2B5EF4-FFF2-40B4-BE49-F238E27FC236}">
                <a16:creationId xmlns:a16="http://schemas.microsoft.com/office/drawing/2014/main" id="{6E6D002D-408C-4CB2-BAEE-E65DD99C6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9055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VIEW THE PROJECT</a:t>
            </a:r>
          </a:p>
        </p:txBody>
      </p:sp>
      <p:sp>
        <p:nvSpPr>
          <p:cNvPr id="15" name="repository-link">
            <a:extLst xmlns:a="http://schemas.openxmlformats.org/drawingml/2006/main">
              <a:ext uri="{FF2B5EF4-FFF2-40B4-BE49-F238E27FC236}">
                <a16:creationId xmlns:a16="http://schemas.microsoft.com/office/drawing/2014/main" id="{A3CA7C36-29E9-4958-B31E-FC4DEAD3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6172200"/>
            <a:ext cx="539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github.com/Mohamedtarek00212/Transportation-Logistics</a:t>
            </a:r>
          </a:p>
        </p:txBody>
      </p:sp>
      <p:sp>
        <p:nvSpPr>
          <p:cNvPr id="16" name="scope-label">
            <a:extLst xmlns:a="http://schemas.openxmlformats.org/drawingml/2006/main">
              <a:ext uri="{FF2B5EF4-FFF2-40B4-BE49-F238E27FC236}">
                <a16:creationId xmlns:a16="http://schemas.microsoft.com/office/drawing/2014/main" id="{EA18139D-C789-4F34-A698-7D3809A2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3425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554A3"/>
                </a:solidFill>
              </a:defRPr>
            </a:pPr>
            <a:r>
              <a:rPr sz="1275" b="1">
                <a:solidFill>
                  <a:srgbClr val="1554A3"/>
                </a:solidFill>
              </a:rPr>
              <a:t>END-TO-END PROJECT SCOPE</a:t>
            </a:r>
          </a:p>
        </p:txBody>
      </p:sp>
      <p:sp>
        <p:nvSpPr>
          <p:cNvPr id="17" name="scope-0">
            <a:extLst xmlns:a="http://schemas.openxmlformats.org/drawingml/2006/main">
              <a:ext uri="{FF2B5EF4-FFF2-40B4-BE49-F238E27FC236}">
                <a16:creationId xmlns:a16="http://schemas.microsoft.com/office/drawing/2014/main" id="{EE6149CB-A5A4-4FBB-A498-5B8E0B90E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18" name="scope-0-number-bg">
            <a:extLst xmlns:a="http://schemas.openxmlformats.org/drawingml/2006/main">
              <a:ext uri="{FF2B5EF4-FFF2-40B4-BE49-F238E27FC236}">
                <a16:creationId xmlns:a16="http://schemas.microsoft.com/office/drawing/2014/main" id="{61D08665-95B2-4BFD-8EFE-59B746340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81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4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cope-0-number">
            <a:extLst xmlns:a="http://schemas.openxmlformats.org/drawingml/2006/main">
              <a:ext uri="{FF2B5EF4-FFF2-40B4-BE49-F238E27FC236}">
                <a16:creationId xmlns:a16="http://schemas.microsoft.com/office/drawing/2014/main" id="{4D7AE3CD-24E1-4CA6-B725-86EA0989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80867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20" name="scope-0-title">
            <a:extLst xmlns:a="http://schemas.openxmlformats.org/drawingml/2006/main">
              <a:ext uri="{FF2B5EF4-FFF2-40B4-BE49-F238E27FC236}">
                <a16:creationId xmlns:a16="http://schemas.microsoft.com/office/drawing/2014/main" id="{3EE9A2E5-B0E5-47C3-A59A-A7D25163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79819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CLEANED DATASET</a:t>
            </a:r>
          </a:p>
        </p:txBody>
      </p:sp>
      <p:sp>
        <p:nvSpPr>
          <p:cNvPr id="21" name="scope-0-body">
            <a:extLst xmlns:a="http://schemas.openxmlformats.org/drawingml/2006/main">
              <a:ext uri="{FF2B5EF4-FFF2-40B4-BE49-F238E27FC236}">
                <a16:creationId xmlns:a16="http://schemas.microsoft.com/office/drawing/2014/main" id="{C6297DBD-EB77-40D3-A55A-135AEC96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82867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Validated analysis-ready records</a:t>
            </a:r>
          </a:p>
        </p:txBody>
      </p:sp>
      <p:sp>
        <p:nvSpPr>
          <p:cNvPr id="22" name="scope-1">
            <a:extLst xmlns:a="http://schemas.openxmlformats.org/drawingml/2006/main">
              <a:ext uri="{FF2B5EF4-FFF2-40B4-BE49-F238E27FC236}">
                <a16:creationId xmlns:a16="http://schemas.microsoft.com/office/drawing/2014/main" id="{EA7AF9B0-30B5-4174-BDDF-BC9B5391D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78105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23" name="scope-1-number-bg">
            <a:extLst xmlns:a="http://schemas.openxmlformats.org/drawingml/2006/main">
              <a:ext uri="{FF2B5EF4-FFF2-40B4-BE49-F238E27FC236}">
                <a16:creationId xmlns:a16="http://schemas.microsoft.com/office/drawing/2014/main" id="{7B29E65A-6308-48F0-8E2C-EA847B765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7981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scope-1-number">
            <a:extLst xmlns:a="http://schemas.openxmlformats.org/drawingml/2006/main">
              <a:ext uri="{FF2B5EF4-FFF2-40B4-BE49-F238E27FC236}">
                <a16:creationId xmlns:a16="http://schemas.microsoft.com/office/drawing/2014/main" id="{A6B35F3A-2A67-4FA6-BEE0-463C3FC1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80867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5" name="scope-1-title">
            <a:extLst xmlns:a="http://schemas.openxmlformats.org/drawingml/2006/main">
              <a:ext uri="{FF2B5EF4-FFF2-40B4-BE49-F238E27FC236}">
                <a16:creationId xmlns:a16="http://schemas.microsoft.com/office/drawing/2014/main" id="{157B0121-098E-4D7F-930C-00C08CC6C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79819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EDA NOTEBOOK</a:t>
            </a:r>
          </a:p>
        </p:txBody>
      </p:sp>
      <p:sp>
        <p:nvSpPr>
          <p:cNvPr id="26" name="scope-1-body">
            <a:extLst xmlns:a="http://schemas.openxmlformats.org/drawingml/2006/main">
              <a:ext uri="{FF2B5EF4-FFF2-40B4-BE49-F238E27FC236}">
                <a16:creationId xmlns:a16="http://schemas.microsoft.com/office/drawing/2014/main" id="{98F9D5F4-C4DD-4F46-B511-48A37594A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82867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Cleaning, exploration, and findings</a:t>
            </a:r>
          </a:p>
        </p:txBody>
      </p:sp>
      <p:sp>
        <p:nvSpPr>
          <p:cNvPr id="27" name="scope-2">
            <a:extLst xmlns:a="http://schemas.openxmlformats.org/drawingml/2006/main">
              <a:ext uri="{FF2B5EF4-FFF2-40B4-BE49-F238E27FC236}">
                <a16:creationId xmlns:a16="http://schemas.microsoft.com/office/drawing/2014/main" id="{B48DD168-0954-4978-A40A-43F4E4FCA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78105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28" name="scope-2-number-bg">
            <a:extLst xmlns:a="http://schemas.openxmlformats.org/drawingml/2006/main">
              <a:ext uri="{FF2B5EF4-FFF2-40B4-BE49-F238E27FC236}">
                <a16:creationId xmlns:a16="http://schemas.microsoft.com/office/drawing/2014/main" id="{E112C32F-2EEC-4AF6-B6F0-CD07F43C8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7981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cope-2-number">
            <a:extLst xmlns:a="http://schemas.openxmlformats.org/drawingml/2006/main">
              <a:ext uri="{FF2B5EF4-FFF2-40B4-BE49-F238E27FC236}">
                <a16:creationId xmlns:a16="http://schemas.microsoft.com/office/drawing/2014/main" id="{9BFB35AF-AE13-4FAD-B13B-2E04229FD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80867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30" name="scope-2-title">
            <a:extLst xmlns:a="http://schemas.openxmlformats.org/drawingml/2006/main">
              <a:ext uri="{FF2B5EF4-FFF2-40B4-BE49-F238E27FC236}">
                <a16:creationId xmlns:a16="http://schemas.microsoft.com/office/drawing/2014/main" id="{C0ADC8E6-F2BC-4AD8-8BBF-AA139FA1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79819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SQL DATABASE</a:t>
            </a:r>
          </a:p>
        </p:txBody>
      </p:sp>
      <p:sp>
        <p:nvSpPr>
          <p:cNvPr id="31" name="scope-2-body">
            <a:extLst xmlns:a="http://schemas.openxmlformats.org/drawingml/2006/main">
              <a:ext uri="{FF2B5EF4-FFF2-40B4-BE49-F238E27FC236}">
                <a16:creationId xmlns:a16="http://schemas.microsoft.com/office/drawing/2014/main" id="{E2A436FE-3F15-44C9-A0AD-0AC28CD75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82867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ERD, 13 tables, and 10 queries</a:t>
            </a:r>
          </a:p>
        </p:txBody>
      </p:sp>
      <p:sp>
        <p:nvSpPr>
          <p:cNvPr id="32" name="scope-3">
            <a:extLst xmlns:a="http://schemas.openxmlformats.org/drawingml/2006/main">
              <a:ext uri="{FF2B5EF4-FFF2-40B4-BE49-F238E27FC236}">
                <a16:creationId xmlns:a16="http://schemas.microsoft.com/office/drawing/2014/main" id="{FC8D3C23-4DBD-4527-AB6C-78D13D4C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0678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33" name="scope-3-number-bg">
            <a:extLst xmlns:a="http://schemas.openxmlformats.org/drawingml/2006/main">
              <a:ext uri="{FF2B5EF4-FFF2-40B4-BE49-F238E27FC236}">
                <a16:creationId xmlns:a16="http://schemas.microsoft.com/office/drawing/2014/main" id="{2E94AF26-945B-4390-869C-B527D3FE8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239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3B9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scope-3-number">
            <a:extLst xmlns:a="http://schemas.openxmlformats.org/drawingml/2006/main">
              <a:ext uri="{FF2B5EF4-FFF2-40B4-BE49-F238E27FC236}">
                <a16:creationId xmlns:a16="http://schemas.microsoft.com/office/drawing/2014/main" id="{804FE0C7-5594-4E1F-A23E-72093D2A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93440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5" name="scope-3-title">
            <a:extLst xmlns:a="http://schemas.openxmlformats.org/drawingml/2006/main">
              <a:ext uri="{FF2B5EF4-FFF2-40B4-BE49-F238E27FC236}">
                <a16:creationId xmlns:a16="http://schemas.microsoft.com/office/drawing/2014/main" id="{4BBEE6DF-9A5D-4322-8AC1-CEB5180E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92392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QUERY OUTPUTS</a:t>
            </a:r>
          </a:p>
        </p:txBody>
      </p:sp>
      <p:sp>
        <p:nvSpPr>
          <p:cNvPr id="36" name="scope-3-body">
            <a:extLst xmlns:a="http://schemas.openxmlformats.org/drawingml/2006/main">
              <a:ext uri="{FF2B5EF4-FFF2-40B4-BE49-F238E27FC236}">
                <a16:creationId xmlns:a16="http://schemas.microsoft.com/office/drawing/2014/main" id="{3FE52AAB-9079-4DD8-88BC-D0819B3E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95440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Evidence from analytical SQL</a:t>
            </a:r>
          </a:p>
        </p:txBody>
      </p:sp>
      <p:sp>
        <p:nvSpPr>
          <p:cNvPr id="37" name="scope-4">
            <a:extLst xmlns:a="http://schemas.openxmlformats.org/drawingml/2006/main">
              <a:ext uri="{FF2B5EF4-FFF2-40B4-BE49-F238E27FC236}">
                <a16:creationId xmlns:a16="http://schemas.microsoft.com/office/drawing/2014/main" id="{23D7BB31-CF57-4BC5-8F37-7E8B45F7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90678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38" name="scope-4-number-bg">
            <a:extLst xmlns:a="http://schemas.openxmlformats.org/drawingml/2006/main">
              <a:ext uri="{FF2B5EF4-FFF2-40B4-BE49-F238E27FC236}">
                <a16:creationId xmlns:a16="http://schemas.microsoft.com/office/drawing/2014/main" id="{2DD24B0A-95AC-48BB-A7FF-9B3ACB890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9239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6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scope-4-number">
            <a:extLst xmlns:a="http://schemas.openxmlformats.org/drawingml/2006/main">
              <a:ext uri="{FF2B5EF4-FFF2-40B4-BE49-F238E27FC236}">
                <a16:creationId xmlns:a16="http://schemas.microsoft.com/office/drawing/2014/main" id="{D2C8C686-868B-4F76-8E51-7279070DD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93440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40" name="scope-4-title">
            <a:extLst xmlns:a="http://schemas.openxmlformats.org/drawingml/2006/main">
              <a:ext uri="{FF2B5EF4-FFF2-40B4-BE49-F238E27FC236}">
                <a16:creationId xmlns:a16="http://schemas.microsoft.com/office/drawing/2014/main" id="{43B8CDF5-1115-4ED5-99AD-DC7CA56C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92392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POWER BI</a:t>
            </a:r>
          </a:p>
        </p:txBody>
      </p:sp>
      <p:sp>
        <p:nvSpPr>
          <p:cNvPr id="41" name="scope-4-body">
            <a:extLst xmlns:a="http://schemas.openxmlformats.org/drawingml/2006/main">
              <a:ext uri="{FF2B5EF4-FFF2-40B4-BE49-F238E27FC236}">
                <a16:creationId xmlns:a16="http://schemas.microsoft.com/office/drawing/2014/main" id="{80607463-D4B8-4400-9EB8-182DB3A4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95440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Three interactive dashboard views</a:t>
            </a:r>
          </a:p>
        </p:txBody>
      </p:sp>
      <p:sp>
        <p:nvSpPr>
          <p:cNvPr id="42" name="scope-5">
            <a:extLst xmlns:a="http://schemas.openxmlformats.org/drawingml/2006/main">
              <a:ext uri="{FF2B5EF4-FFF2-40B4-BE49-F238E27FC236}">
                <a16:creationId xmlns:a16="http://schemas.microsoft.com/office/drawing/2014/main" id="{FE8CEE16-541B-48CF-878A-3B39429FA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90678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6EDF7"/>
            </a:solidFill>
            <a:prstDash val="solid"/>
          </a:ln>
        </p:spPr>
      </p:sp>
      <p:sp>
        <p:nvSpPr>
          <p:cNvPr id="43" name="scope-5-number-bg">
            <a:extLst xmlns:a="http://schemas.openxmlformats.org/drawingml/2006/main">
              <a:ext uri="{FF2B5EF4-FFF2-40B4-BE49-F238E27FC236}">
                <a16:creationId xmlns:a16="http://schemas.microsoft.com/office/drawing/2014/main" id="{879BB918-FB3A-41B6-BD12-57967267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9239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20A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scope-5-number">
            <a:extLst xmlns:a="http://schemas.openxmlformats.org/drawingml/2006/main">
              <a:ext uri="{FF2B5EF4-FFF2-40B4-BE49-F238E27FC236}">
                <a16:creationId xmlns:a16="http://schemas.microsoft.com/office/drawing/2014/main" id="{8E4F3237-BF98-4BE9-BED7-C189C7DAA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93440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45" name="scope-5-title">
            <a:extLst xmlns:a="http://schemas.openxmlformats.org/drawingml/2006/main">
              <a:ext uri="{FF2B5EF4-FFF2-40B4-BE49-F238E27FC236}">
                <a16:creationId xmlns:a16="http://schemas.microsoft.com/office/drawing/2014/main" id="{D3BA84AD-EB97-472D-882B-EC979C70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92392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082653"/>
                </a:solidFill>
              </a:defRPr>
            </a:pPr>
            <a:r>
              <a:rPr sz="1125" b="1">
                <a:solidFill>
                  <a:srgbClr val="082653"/>
                </a:solidFill>
              </a:rPr>
              <a:t>REPORT &amp; STORY</a:t>
            </a:r>
          </a:p>
        </p:txBody>
      </p:sp>
      <p:sp>
        <p:nvSpPr>
          <p:cNvPr id="46" name="scope-5-body">
            <a:extLst xmlns:a="http://schemas.openxmlformats.org/drawingml/2006/main">
              <a:ext uri="{FF2B5EF4-FFF2-40B4-BE49-F238E27FC236}">
                <a16:creationId xmlns:a16="http://schemas.microsoft.com/office/drawing/2014/main" id="{AF6A2EED-16A4-4037-9BBA-7AED25673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95440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E2D42"/>
                </a:solidFill>
              </a:defRPr>
            </a:pPr>
            <a:r>
              <a:rPr sz="975">
                <a:solidFill>
                  <a:srgbClr val="1E2D42"/>
                </a:solidFill>
              </a:rPr>
              <a:t>Arabic report and business narrative</a:t>
            </a:r>
          </a:p>
        </p:txBody>
      </p:sp>
      <p:sp>
        <p:nvSpPr>
          <p:cNvPr id="47" name="project-pipeline">
            <a:extLst xmlns:a="http://schemas.openxmlformats.org/drawingml/2006/main">
              <a:ext uri="{FF2B5EF4-FFF2-40B4-BE49-F238E27FC236}">
                <a16:creationId xmlns:a16="http://schemas.microsoft.com/office/drawing/2014/main" id="{EC5D2B0D-50F9-41DF-AA49-4F34D059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0"/>
            <a:ext cx="89154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D"/>
          </a:solidFill>
          <a:ln xmlns:a="http://schemas.openxmlformats.org/drawingml/2006/main" w="9525">
            <a:solidFill>
              <a:srgbClr val="2F80ED"/>
            </a:solidFill>
            <a:prstDash val="solid"/>
          </a:ln>
        </p:spPr>
      </p:sp>
      <p:sp>
        <p:nvSpPr>
          <p:cNvPr id="48" name="pipeline-label">
            <a:extLst xmlns:a="http://schemas.openxmlformats.org/drawingml/2006/main">
              <a:ext uri="{FF2B5EF4-FFF2-40B4-BE49-F238E27FC236}">
                <a16:creationId xmlns:a16="http://schemas.microsoft.com/office/drawing/2014/main" id="{47548D1C-781C-4EF9-9621-19B78CB5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6489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54A3"/>
                </a:solidFill>
              </a:defRPr>
            </a:pPr>
            <a:r>
              <a:rPr sz="1050" b="1">
                <a:solidFill>
                  <a:srgbClr val="1554A3"/>
                </a:solidFill>
              </a:rPr>
              <a:t>PROJECT JOURNEY</a:t>
            </a:r>
          </a:p>
        </p:txBody>
      </p:sp>
      <p:sp>
        <p:nvSpPr>
          <p:cNvPr id="49" name="pipeline-step-0">
            <a:extLst xmlns:a="http://schemas.openxmlformats.org/drawingml/2006/main">
              <a:ext uri="{FF2B5EF4-FFF2-40B4-BE49-F238E27FC236}">
                <a16:creationId xmlns:a16="http://schemas.microsoft.com/office/drawing/2014/main" id="{01D4B35D-1CDB-4AC0-B67A-72C7774D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pipeline-step-0-text">
            <a:extLst xmlns:a="http://schemas.openxmlformats.org/drawingml/2006/main">
              <a:ext uri="{FF2B5EF4-FFF2-40B4-BE49-F238E27FC236}">
                <a16:creationId xmlns:a16="http://schemas.microsoft.com/office/drawing/2014/main" id="{C17BFCBA-2697-45A4-96AB-5BE2E6134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51" name="pipeline-arrow-0">
            <a:extLst xmlns:a="http://schemas.openxmlformats.org/drawingml/2006/main">
              <a:ext uri="{FF2B5EF4-FFF2-40B4-BE49-F238E27FC236}">
                <a16:creationId xmlns:a16="http://schemas.microsoft.com/office/drawing/2014/main" id="{9D58BBCB-7FF9-4938-A8C6-A9AC0C52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102042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54A3"/>
                </a:solidFill>
              </a:defRPr>
            </a:pPr>
            <a:r>
              <a:rPr sz="1650" b="1">
                <a:solidFill>
                  <a:srgbClr val="1554A3"/>
                </a:solidFill>
              </a:rPr>
              <a:t>&gt;</a:t>
            </a:r>
          </a:p>
        </p:txBody>
      </p:sp>
      <p:sp>
        <p:nvSpPr>
          <p:cNvPr id="52" name="pipeline-step-1">
            <a:extLst xmlns:a="http://schemas.openxmlformats.org/drawingml/2006/main">
              <a:ext uri="{FF2B5EF4-FFF2-40B4-BE49-F238E27FC236}">
                <a16:creationId xmlns:a16="http://schemas.microsoft.com/office/drawing/2014/main" id="{0DA65AE1-F052-48B7-9CA9-FE1C189A9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pipeline-step-1-text">
            <a:extLst xmlns:a="http://schemas.openxmlformats.org/drawingml/2006/main">
              <a:ext uri="{FF2B5EF4-FFF2-40B4-BE49-F238E27FC236}">
                <a16:creationId xmlns:a16="http://schemas.microsoft.com/office/drawing/2014/main" id="{5C3A7C59-5300-4495-BD8C-02E13CF7E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EDA</a:t>
            </a:r>
          </a:p>
        </p:txBody>
      </p:sp>
      <p:sp>
        <p:nvSpPr>
          <p:cNvPr id="54" name="pipeline-arrow-1">
            <a:extLst xmlns:a="http://schemas.openxmlformats.org/drawingml/2006/main">
              <a:ext uri="{FF2B5EF4-FFF2-40B4-BE49-F238E27FC236}">
                <a16:creationId xmlns:a16="http://schemas.microsoft.com/office/drawing/2014/main" id="{D3259172-FBFF-4F60-9027-A2F9AA17A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102042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54A3"/>
                </a:solidFill>
              </a:defRPr>
            </a:pPr>
            <a:r>
              <a:rPr sz="1650" b="1">
                <a:solidFill>
                  <a:srgbClr val="1554A3"/>
                </a:solidFill>
              </a:rPr>
              <a:t>&gt;</a:t>
            </a:r>
          </a:p>
        </p:txBody>
      </p:sp>
      <p:sp>
        <p:nvSpPr>
          <p:cNvPr id="55" name="pipeline-step-2">
            <a:extLst xmlns:a="http://schemas.openxmlformats.org/drawingml/2006/main">
              <a:ext uri="{FF2B5EF4-FFF2-40B4-BE49-F238E27FC236}">
                <a16:creationId xmlns:a16="http://schemas.microsoft.com/office/drawing/2014/main" id="{264F9F16-75DA-45B3-A194-8EF4B6D1B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pipeline-step-2-text">
            <a:extLst xmlns:a="http://schemas.openxmlformats.org/drawingml/2006/main">
              <a:ext uri="{FF2B5EF4-FFF2-40B4-BE49-F238E27FC236}">
                <a16:creationId xmlns:a16="http://schemas.microsoft.com/office/drawing/2014/main" id="{7D4BEA8C-385C-458C-8F3C-3EF5866C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SQL</a:t>
            </a:r>
          </a:p>
        </p:txBody>
      </p:sp>
      <p:sp>
        <p:nvSpPr>
          <p:cNvPr id="57" name="pipeline-arrow-2">
            <a:extLst xmlns:a="http://schemas.openxmlformats.org/drawingml/2006/main">
              <a:ext uri="{FF2B5EF4-FFF2-40B4-BE49-F238E27FC236}">
                <a16:creationId xmlns:a16="http://schemas.microsoft.com/office/drawing/2014/main" id="{05E1F3AF-373E-49F4-B3E2-6CC2958B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102042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54A3"/>
                </a:solidFill>
              </a:defRPr>
            </a:pPr>
            <a:r>
              <a:rPr sz="1650" b="1">
                <a:solidFill>
                  <a:srgbClr val="1554A3"/>
                </a:solidFill>
              </a:rPr>
              <a:t>&gt;</a:t>
            </a:r>
          </a:p>
        </p:txBody>
      </p:sp>
      <p:sp>
        <p:nvSpPr>
          <p:cNvPr id="58" name="pipeline-step-3">
            <a:extLst xmlns:a="http://schemas.openxmlformats.org/drawingml/2006/main">
              <a:ext uri="{FF2B5EF4-FFF2-40B4-BE49-F238E27FC236}">
                <a16:creationId xmlns:a16="http://schemas.microsoft.com/office/drawing/2014/main" id="{8048BB5C-1544-4A24-8AB8-7B341D034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0826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pipeline-step-3-text">
            <a:extLst xmlns:a="http://schemas.openxmlformats.org/drawingml/2006/main">
              <a:ext uri="{FF2B5EF4-FFF2-40B4-BE49-F238E27FC236}">
                <a16:creationId xmlns:a16="http://schemas.microsoft.com/office/drawing/2014/main" id="{D6E07C23-BC1B-4CFD-AAE9-2D9CBDA3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POWER BI</a:t>
            </a:r>
          </a:p>
        </p:txBody>
      </p:sp>
      <p:sp>
        <p:nvSpPr>
          <p:cNvPr id="60" name="pipeline-arrow-3">
            <a:extLst xmlns:a="http://schemas.openxmlformats.org/drawingml/2006/main">
              <a:ext uri="{FF2B5EF4-FFF2-40B4-BE49-F238E27FC236}">
                <a16:creationId xmlns:a16="http://schemas.microsoft.com/office/drawing/2014/main" id="{EC754809-E5DF-4F22-8FE4-B80916ECC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1020425"/>
            <a:ext cx="304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54A3"/>
                </a:solidFill>
              </a:defRPr>
            </a:pPr>
            <a:r>
              <a:rPr sz="1650" b="1">
                <a:solidFill>
                  <a:srgbClr val="1554A3"/>
                </a:solidFill>
              </a:rPr>
              <a:t>&gt;</a:t>
            </a:r>
          </a:p>
        </p:txBody>
      </p:sp>
      <p:sp>
        <p:nvSpPr>
          <p:cNvPr id="61" name="pipeline-step-4">
            <a:extLst xmlns:a="http://schemas.openxmlformats.org/drawingml/2006/main">
              <a:ext uri="{FF2B5EF4-FFF2-40B4-BE49-F238E27FC236}">
                <a16:creationId xmlns:a16="http://schemas.microsoft.com/office/drawing/2014/main" id="{97C73AD3-632B-402E-96B6-2905000A6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0972800"/>
            <a:ext cx="125730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47B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pipeline-step-4-text">
            <a:extLst xmlns:a="http://schemas.openxmlformats.org/drawingml/2006/main">
              <a:ext uri="{FF2B5EF4-FFF2-40B4-BE49-F238E27FC236}">
                <a16:creationId xmlns:a16="http://schemas.microsoft.com/office/drawing/2014/main" id="{045689C7-AEA4-42B5-A638-ECF2CB55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106805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DECISIONS</a:t>
            </a:r>
          </a:p>
        </p:txBody>
      </p:sp>
      <p:sp>
        <p:nvSpPr>
          <p:cNvPr id="63" name="slide-08-footer-left">
            <a:extLst xmlns:a="http://schemas.openxmlformats.org/drawingml/2006/main">
              <a:ext uri="{FF2B5EF4-FFF2-40B4-BE49-F238E27FC236}">
                <a16:creationId xmlns:a16="http://schemas.microsoft.com/office/drawing/2014/main" id="{0FE527A8-59CE-408C-B224-3A4C688CA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2682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82653"/>
                </a:solidFill>
              </a:defRPr>
            </a:pPr>
            <a:r>
              <a:rPr sz="1200" b="1">
                <a:solidFill>
                  <a:srgbClr val="082653"/>
                </a:solidFill>
              </a:rPr>
              <a:t>TRANSPORTATION &amp; LOGISTICS ANALYTICS</a:t>
            </a:r>
          </a:p>
        </p:txBody>
      </p:sp>
      <p:sp>
        <p:nvSpPr>
          <p:cNvPr id="64" name="slide-08-footer-right">
            <a:extLst xmlns:a="http://schemas.openxmlformats.org/drawingml/2006/main">
              <a:ext uri="{FF2B5EF4-FFF2-40B4-BE49-F238E27FC236}">
                <a16:creationId xmlns:a16="http://schemas.microsoft.com/office/drawing/2014/main" id="{F0E19F2C-27B8-4E82-B362-5DBA49BB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2682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718096"/>
                </a:solidFill>
              </a:defRPr>
            </a:pPr>
            <a:r>
              <a:rPr sz="1200">
                <a:solidFill>
                  <a:srgbClr val="718096"/>
                </a:solidFill>
              </a:rPr>
              <a:t>MOHAMED TAREK  |  DATA ANALYST</a:t>
            </a:r>
          </a:p>
        </p:txBody>
      </p:sp>
    </p:spTree>
    <p:extLst>
      <p:ext uri="{BB962C8B-B14F-4D97-AF65-F5344CB8AC3E}">
        <p14:creationId xmlns:p14="http://schemas.microsoft.com/office/powerpoint/2010/main" val="16087994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2026-08-31T11:29:28.9550000Z</dcterms:created>
  <dcterms:modified xsi:type="dcterms:W3CDTF">2026-08-31T11:29:28.9550000Z</dcterms:modified>
</coreProperties>
</file>