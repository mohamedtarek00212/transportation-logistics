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24795b84d654606" /><Relationship Type="http://schemas.openxmlformats.org/officeDocument/2006/relationships/extended-properties" Target="/docProps/app.xml" Id="R9858eac356434fd5" /><Relationship Type="http://schemas.openxmlformats.org/officeDocument/2006/relationships/officeDocument" Target="/ppt/presentation.xml" Id="R51c83d565c6e403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d120e0cd7c1464f"/>
  </p:sldMasterIdLst>
  <p:notesMasterIdLst>
    <p:notesMasterId xmlns:r="http://schemas.openxmlformats.org/officeDocument/2006/relationships" r:id="Rd23aa917a9624015"/>
  </p:notesMasterIdLst>
  <p:sldIdLst>
    <p:sldId xmlns:r="http://schemas.openxmlformats.org/officeDocument/2006/relationships" id="256" r:id="R61895d4c716d483a"/>
    <p:sldId xmlns:r="http://schemas.openxmlformats.org/officeDocument/2006/relationships" id="257" r:id="R085f69e8a7fb4dca"/>
    <p:sldId xmlns:r="http://schemas.openxmlformats.org/officeDocument/2006/relationships" id="258" r:id="R35fe7731e0cd4be2"/>
    <p:sldId xmlns:r="http://schemas.openxmlformats.org/officeDocument/2006/relationships" id="259" r:id="R28a94ba5ac0a406c"/>
    <p:sldId xmlns:r="http://schemas.openxmlformats.org/officeDocument/2006/relationships" id="260" r:id="R8bb4e571c6ed4a8e"/>
    <p:sldId xmlns:r="http://schemas.openxmlformats.org/officeDocument/2006/relationships" id="261" r:id="Rb3d2c624f9be4263"/>
    <p:sldId xmlns:r="http://schemas.openxmlformats.org/officeDocument/2006/relationships" id="262" r:id="R8fc8bed5379b4844"/>
    <p:sldId xmlns:r="http://schemas.openxmlformats.org/officeDocument/2006/relationships" id="263" r:id="Rbd8200608ba54605"/>
  </p:sldIdLst>
  <p:sldSz cx="10287000" cy="1285875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f7f2a691dfc4625" /><Relationship Type="http://schemas.openxmlformats.org/officeDocument/2006/relationships/slideMaster" Target="/ppt/slideMasters/slideMaster1.xml" Id="R7d120e0cd7c1464f" /><Relationship Type="http://schemas.openxmlformats.org/officeDocument/2006/relationships/notesMaster" Target="/ppt/notesMasters/notesMaster1.xml" Id="Rd23aa917a9624015" /><Relationship Type="http://schemas.openxmlformats.org/officeDocument/2006/relationships/presProps" Target="/ppt/presProps.xml" Id="R8448109fe6df4cca" /><Relationship Type="http://schemas.openxmlformats.org/officeDocument/2006/relationships/tableStyles" Target="/ppt/tableStyles.xml" Id="Rf5ab3f963cd541ce" /><Relationship Type="http://schemas.openxmlformats.org/officeDocument/2006/relationships/slide" Target="/ppt/slides/slide1.xml" Id="R61895d4c716d483a" /><Relationship Type="http://schemas.openxmlformats.org/officeDocument/2006/relationships/slide" Target="/ppt/slides/slide2.xml" Id="R085f69e8a7fb4dca" /><Relationship Type="http://schemas.openxmlformats.org/officeDocument/2006/relationships/slide" Target="/ppt/slides/slide3.xml" Id="R35fe7731e0cd4be2" /><Relationship Type="http://schemas.openxmlformats.org/officeDocument/2006/relationships/slide" Target="/ppt/slides/slide4.xml" Id="R28a94ba5ac0a406c" /><Relationship Type="http://schemas.openxmlformats.org/officeDocument/2006/relationships/slide" Target="/ppt/slides/slide5.xml" Id="R8bb4e571c6ed4a8e" /><Relationship Type="http://schemas.openxmlformats.org/officeDocument/2006/relationships/slide" Target="/ppt/slides/slide6.xml" Id="Rb3d2c624f9be4263" /><Relationship Type="http://schemas.openxmlformats.org/officeDocument/2006/relationships/slide" Target="/ppt/slides/slide7.xml" Id="R8fc8bed5379b4844" /><Relationship Type="http://schemas.openxmlformats.org/officeDocument/2006/relationships/slide" Target="/ppt/slides/slide8.xml" Id="Rbd8200608ba5460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b8a4db960884e2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3fae0060cf24231" /><Relationship Type="http://schemas.openxmlformats.org/officeDocument/2006/relationships/notesMaster" Target="/ppt/notesMasters/notesMaster1.xml" Id="R59201a7c45f9441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6ea00d6e4dc42e4" /><Relationship Type="http://schemas.openxmlformats.org/officeDocument/2006/relationships/notesMaster" Target="/ppt/notesMasters/notesMaster1.xml" Id="R122af4c3bd1d464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a896493a4064aec" /><Relationship Type="http://schemas.openxmlformats.org/officeDocument/2006/relationships/notesMaster" Target="/ppt/notesMasters/notesMaster1.xml" Id="R7b94efa39547494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3ebc978d41e4c78" /><Relationship Type="http://schemas.openxmlformats.org/officeDocument/2006/relationships/notesMaster" Target="/ppt/notesMasters/notesMaster1.xml" Id="R88e03ce8c2d14b1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c1c22f1276b40d5" /><Relationship Type="http://schemas.openxmlformats.org/officeDocument/2006/relationships/notesMaster" Target="/ppt/notesMasters/notesMaster1.xml" Id="Re983006a31a5440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1bb546b54d043ec" /><Relationship Type="http://schemas.openxmlformats.org/officeDocument/2006/relationships/notesMaster" Target="/ppt/notesMasters/notesMaster1.xml" Id="Re1ca56c0c31f4b6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d226199fc594621" /><Relationship Type="http://schemas.openxmlformats.org/officeDocument/2006/relationships/notesMaster" Target="/ppt/notesMasters/notesMaster1.xml" Id="R41abdce5f036492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c45cd657b95431b" /><Relationship Type="http://schemas.openxmlformats.org/officeDocument/2006/relationships/notesMaster" Target="/ppt/notesMasters/notesMaster1.xml" Id="R426ea9172102480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Power BI dashboard image: Power BI/Screenshot 2026-08-31 111930.png</a:t>
            </a:r>
          </a:p>
          <a:p xmlns:a="http://schemas.openxmlformats.org/drawingml/2006/main">
            <a:r>
              <a:t>- Cleaned dataset: cleaned_transportation_logistics_data.xlsx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Logistics_EDA.ipynb: project scope, analytical dimensions, and business questions</a:t>
            </a:r>
          </a:p>
          <a:p xmlns:a="http://schemas.openxmlformats.org/drawingml/2006/main">
            <a:r>
              <a:t>- cleaned_transportation_logistics_data.xlsx: shipment, supplier, customer, vehicle, route, and GPS fields</a:t>
            </a:r>
          </a:p>
          <a:p xmlns:a="http://schemas.openxmlformats.org/drawingml/2006/main">
            <a:r>
              <a:t>- storytelling.txt: business-problem narrative</a:t>
            </a:r>
          </a:p>
          <a:p xmlns:a="http://schemas.openxmlformats.org/drawingml/2006/main">
            <a:r>
              <a:t>- AI-generated conceptual logistics bottleneck visual created for this case study; no factual claims are encoded in the image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cleaned_transportation_logistics_data.xlsx: 6,773 total records; 4,263 delayed; 2,510 on-time</a:t>
            </a:r>
          </a:p>
          <a:p xmlns:a="http://schemas.openxmlformats.org/drawingml/2006/main">
            <a:r>
              <a:t>- Logistics_EDA.ipynb: delivery-status definition and delay analysis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Project_ERD.html: complete 13-table entity relationship model and documented relationships</a:t>
            </a:r>
          </a:p>
          <a:p xmlns:a="http://schemas.openxmlformats.org/drawingml/2006/main">
            <a:r>
              <a:t>- SQL/SQL_Script_Final.sql: final SQL Server schema and Q1-Q10 analytical queries</a:t>
            </a:r>
          </a:p>
          <a:p xmlns:a="http://schemas.openxmlformats.org/drawingml/2006/main">
            <a:r>
              <a:t>- SQL/Tables/*.csv: source tables used by the relational database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Power BI/⏱️ Delay Analysis.png: Delay Analysis dashboard page</a:t>
            </a:r>
          </a:p>
          <a:p xmlns:a="http://schemas.openxmlformats.org/drawingml/2006/main">
            <a:r>
              <a:t>- Power BI/🚛 Suppliers &amp; Customers.png: Suppliers and Customers dashboard page</a:t>
            </a:r>
          </a:p>
          <a:p xmlns:a="http://schemas.openxmlformats.org/drawingml/2006/main">
            <a:r>
              <a:t>- Power BI/📡🚗 Fleet &amp; GPS.png: Fleet and GPS dashboard page</a:t>
            </a:r>
          </a:p>
          <a:p xmlns:a="http://schemas.openxmlformats.org/drawingml/2006/main">
            <a:r>
              <a:t>- cleaned_transportation_logistics_data.xlsx: 6,773 shipments and March 2019–September 2020 analysis period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Power BI/⏱️ Delay Analysis.png: crisis period, distance-segment delay rates, and GPS-provider delay rates</a:t>
            </a:r>
          </a:p>
          <a:p xmlns:a="http://schemas.openxmlformats.org/drawingml/2006/main">
            <a:r>
              <a:t>- Power BI/📡🚗 Fleet &amp; GPS.png: vehicle-type volume and delay rates</a:t>
            </a:r>
          </a:p>
          <a:p xmlns:a="http://schemas.openxmlformats.org/drawingml/2006/main">
            <a:r>
              <a:t>- Power BI/🚛 Suppliers &amp; Customers.png: supplier and customer delay rates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Power BI/⏱️ Delay Analysis.png: distance and GPS-provider risk evidence</a:t>
            </a:r>
          </a:p>
          <a:p xmlns:a="http://schemas.openxmlformats.org/drawingml/2006/main">
            <a:r>
              <a:t>- Power BI/📡🚗 Fleet &amp; GPS.png: vehicle-type delay evidence</a:t>
            </a:r>
          </a:p>
          <a:p xmlns:a="http://schemas.openxmlformats.org/drawingml/2006/main">
            <a:r>
              <a:t>- Power BI/🚛 Suppliers &amp; Customers.png: partner delay evidence and 737 unknown supplier records</a:t>
            </a:r>
          </a:p>
          <a:p xmlns:a="http://schemas.openxmlformats.org/drawingml/2006/main">
            <a:r>
              <a:t>- Recommendations are analytical proposals derived from the documented findings; no unverified performance targets are asserted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GitHub repository URL provided by the project author: https://github.com/Mohamedtarek00212/Transportation-Logistics</a:t>
            </a:r>
          </a:p>
          <a:p xmlns:a="http://schemas.openxmlformats.org/drawingml/2006/main">
            <a:r>
              <a:t>- Repository checked on 2026-08-31 and was empty at the time of slide creation; upload project assets before publishing the case study</a:t>
            </a:r>
          </a:p>
          <a:p xmlns:a="http://schemas.openxmlformats.org/drawingml/2006/main">
            <a:r>
              <a:t>- Project scope derived from the user-provided notebook, cleaned dataset, SQL files, screenshots, report, and storytelling file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cbed408d7f49b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b7c8884c1e6410b" /><Relationship Type="http://schemas.openxmlformats.org/officeDocument/2006/relationships/slideLayout" Target="/ppt/slideLayouts/slideLayout1.xml" Id="R8e98c8b8b7b1430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e98c8b8b7b1430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f19e6ba5be4246" /><Relationship Type="http://schemas.openxmlformats.org/officeDocument/2006/relationships/image" Target="/ppt/media/image.png" Id="R35e3b11bc9bc45cb" /><Relationship Type="http://schemas.openxmlformats.org/officeDocument/2006/relationships/notesSlide" Target="/ppt/notesSlides/notesSlide1.xml" Id="R099be97902a84ad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bc94381cf04a7c" /><Relationship Type="http://schemas.openxmlformats.org/officeDocument/2006/relationships/image" Target="/ppt/media/image2.png" Id="R3b564690ea534c39" /><Relationship Type="http://schemas.openxmlformats.org/officeDocument/2006/relationships/notesSlide" Target="/ppt/notesSlides/notesSlide2.xml" Id="R699c8ac4a631463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85dc0430ca47d4" /><Relationship Type="http://schemas.openxmlformats.org/officeDocument/2006/relationships/chart" Target="/ppt/slides/charts/chart1.xml" Id="R0192f3d6875645a3" /><Relationship Type="http://schemas.openxmlformats.org/officeDocument/2006/relationships/notesSlide" Target="/ppt/notesSlides/notesSlide3.xml" Id="Rf5432748dcda4ee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80a2e97177439f" /><Relationship Type="http://schemas.openxmlformats.org/officeDocument/2006/relationships/notesSlide" Target="/ppt/notesSlides/notesSlide4.xml" Id="R9c24274655244cb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dc439b139e4e73" /><Relationship Type="http://schemas.openxmlformats.org/officeDocument/2006/relationships/image" Target="/ppt/media/image3.png" Id="Rf46253349bea4973" /><Relationship Type="http://schemas.openxmlformats.org/officeDocument/2006/relationships/image" Target="/ppt/media/image4.png" Id="R79b8b64c19354166" /><Relationship Type="http://schemas.openxmlformats.org/officeDocument/2006/relationships/image" Target="/ppt/media/image5.png" Id="R0b29b0dbe6fd4703" /><Relationship Type="http://schemas.openxmlformats.org/officeDocument/2006/relationships/notesSlide" Target="/ppt/notesSlides/notesSlide5.xml" Id="R4b14da328ee3494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5fd04b31d14ed0" /><Relationship Type="http://schemas.openxmlformats.org/officeDocument/2006/relationships/notesSlide" Target="/ppt/notesSlides/notesSlide6.xml" Id="Rcfc5ae6f46a4456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317b05d2de45ab" /><Relationship Type="http://schemas.openxmlformats.org/officeDocument/2006/relationships/notesSlide" Target="/ppt/notesSlides/notesSlide7.xml" Id="Rc1ae1e2e20ba4b1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9589ffdfe44034" /><Relationship Type="http://schemas.openxmlformats.org/officeDocument/2006/relationships/notesSlide" Target="/ppt/notesSlides/notesSlide8.xml" Id="R79840159ad454832" /></Relationships>
</file>

<file path=ppt/slides/charts/chart1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Shipments</c:v>
          </c:tx>
          <c:dPt>
            <c:idx val="0"/>
            <c:spPr>
              <a:solidFill xmlns:a="http://schemas.openxmlformats.org/drawingml/2006/main">
                <a:srgbClr val="D20A16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3F6B2A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cat>
            <c:strLit>
              <c:ptCount val="2"/>
              <c:pt idx="0">
                <c:v>Delayed</c:v>
              </c:pt>
              <c:pt idx="1">
                <c:v>On-Time</c:v>
              </c:pt>
            </c:strLit>
          </c:cat>
          <c:val>
            <c:numLit>
              <c:formatCode>General</c:formatCode>
              <c:ptCount val="2"/>
              <c:pt idx="0">
                <c:v>4263</c:v>
              </c:pt>
              <c:pt idx="1">
                <c:v>2510</c:v>
              </c:pt>
            </c:numLit>
          </c:val>
        </c:ser>
        <c:firstSliceAng val="270"/>
        <c:holeSize val="68"/>
      </c:doughnutChart>
      <c:spPr>
        <a:solidFill xmlns:a="http://schemas.openxmlformats.org/drawingml/2006/main">
          <a:srgbClr val="FFFFFF"/>
        </a:solidFill>
        <a:ln xmlns:a="http://schemas.openxmlformats.org/drawingml/2006/main" w="0">
          <a:noFill/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-accent-line">
            <a:extLst xmlns:a="http://schemas.openxmlformats.org/drawingml/2006/main">
              <a:ext uri="{FF2B5EF4-FFF2-40B4-BE49-F238E27FC236}">
                <a16:creationId xmlns:a16="http://schemas.microsoft.com/office/drawing/2014/main" id="{6D9A51FE-BE1F-4B8F-AC1C-370E3E4D5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76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ase-study-eyebrow">
            <a:extLst xmlns:a="http://schemas.openxmlformats.org/drawingml/2006/main">
              <a:ext uri="{FF2B5EF4-FFF2-40B4-BE49-F238E27FC236}">
                <a16:creationId xmlns:a16="http://schemas.microsoft.com/office/drawing/2014/main" id="{8932E2EB-AE7D-4F8A-BFD5-D0E42D280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723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554A3"/>
                </a:solidFill>
              </a:defRPr>
            </a:pPr>
            <a:r>
              <a:rPr sz="1500" b="1">
                <a:solidFill>
                  <a:srgbClr val="1554A3"/>
                </a:solidFill>
              </a:rPr>
              <a:t>END-TO-END DATA ANALYTICS &amp; BI CASE STUDY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B95E03C4-C68D-4151-AC9F-08E155B3E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942975"/>
            <a:ext cx="1314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718096"/>
                </a:solidFill>
              </a:defRPr>
            </a:pPr>
            <a:r>
              <a:rPr sz="1350" b="1">
                <a:solidFill>
                  <a:srgbClr val="718096"/>
                </a:solidFill>
              </a:rPr>
              <a:t>01 / 08</a:t>
            </a:r>
          </a:p>
        </p:txBody>
      </p:sp>
      <p:sp>
        <p:nvSpPr>
          <p:cNvPr id="4" name="title-line-one">
            <a:extLst xmlns:a="http://schemas.openxmlformats.org/drawingml/2006/main">
              <a:ext uri="{FF2B5EF4-FFF2-40B4-BE49-F238E27FC236}">
                <a16:creationId xmlns:a16="http://schemas.microsoft.com/office/drawing/2014/main" id="{BED12EED-573D-45E8-A0B6-716B928E0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857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275" b="1">
                <a:solidFill>
                  <a:srgbClr val="082653"/>
                </a:solidFill>
              </a:defRPr>
            </a:pPr>
            <a:r>
              <a:rPr sz="4275" b="1">
                <a:solidFill>
                  <a:srgbClr val="082653"/>
                </a:solidFill>
              </a:rPr>
              <a:t>TRANSPORTATION &amp;</a:t>
            </a:r>
          </a:p>
        </p:txBody>
      </p:sp>
      <p:sp>
        <p:nvSpPr>
          <p:cNvPr id="5" name="title-line-two">
            <a:extLst xmlns:a="http://schemas.openxmlformats.org/drawingml/2006/main">
              <a:ext uri="{FF2B5EF4-FFF2-40B4-BE49-F238E27FC236}">
                <a16:creationId xmlns:a16="http://schemas.microsoft.com/office/drawing/2014/main" id="{B4AE830F-9C46-4DA4-9BEF-41905C385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300" b="1">
                <a:solidFill>
                  <a:srgbClr val="1554A3"/>
                </a:solidFill>
              </a:defRPr>
            </a:pPr>
            <a:r>
              <a:rPr sz="6300" b="1">
                <a:solidFill>
                  <a:srgbClr val="1554A3"/>
                </a:solidFill>
              </a:rPr>
              <a:t>LOGISTICS</a:t>
            </a:r>
          </a:p>
        </p:txBody>
      </p:sp>
      <p:sp>
        <p:nvSpPr>
          <p:cNvPr id="6" name="title-line-three">
            <a:extLst xmlns:a="http://schemas.openxmlformats.org/drawingml/2006/main">
              <a:ext uri="{FF2B5EF4-FFF2-40B4-BE49-F238E27FC236}">
                <a16:creationId xmlns:a16="http://schemas.microsoft.com/office/drawing/2014/main" id="{A96FBEA7-9A9B-4B25-AF16-8A4B22BC4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62325"/>
            <a:ext cx="857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E2D42"/>
                </a:solidFill>
              </a:defRPr>
            </a:pPr>
            <a:r>
              <a:rPr sz="3750" b="1">
                <a:solidFill>
                  <a:srgbClr val="1E2D42"/>
                </a:solidFill>
              </a:rPr>
              <a:t>ANALYTICS DASHBOARD</a:t>
            </a:r>
          </a:p>
        </p:txBody>
      </p:sp>
      <p:sp>
        <p:nvSpPr>
          <p:cNvPr id="7" name="subtitle">
            <a:extLst xmlns:a="http://schemas.openxmlformats.org/drawingml/2006/main">
              <a:ext uri="{FF2B5EF4-FFF2-40B4-BE49-F238E27FC236}">
                <a16:creationId xmlns:a16="http://schemas.microsoft.com/office/drawing/2014/main" id="{36A5C5B4-6B3E-4D45-9E02-04BBA24C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24375"/>
            <a:ext cx="857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1E2D42"/>
                </a:solidFill>
              </a:defRPr>
            </a:pPr>
            <a:r>
              <a:rPr sz="1950">
                <a:solidFill>
                  <a:srgbClr val="1E2D42"/>
                </a:solidFill>
              </a:rPr>
              <a:t>Exploring shipment delays, operational bottlenecks, and performance drivers through data.</a:t>
            </a:r>
          </a:p>
        </p:txBody>
      </p:sp>
      <p:sp>
        <p:nvSpPr>
          <p:cNvPr id="8" name="metadata-rule">
            <a:extLst xmlns:a="http://schemas.openxmlformats.org/drawingml/2006/main">
              <a:ext uri="{FF2B5EF4-FFF2-40B4-BE49-F238E27FC236}">
                <a16:creationId xmlns:a16="http://schemas.microsoft.com/office/drawing/2014/main" id="{D555077B-9246-4D1E-BE61-2096BD3B4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8915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eriod-and-volume">
            <a:extLst xmlns:a="http://schemas.openxmlformats.org/drawingml/2006/main">
              <a:ext uri="{FF2B5EF4-FFF2-40B4-BE49-F238E27FC236}">
                <a16:creationId xmlns:a16="http://schemas.microsoft.com/office/drawing/2014/main" id="{FA3C76BD-56EE-4730-BA4D-B74C72CB9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581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82653"/>
                </a:solidFill>
              </a:defRPr>
            </a:pPr>
            <a:r>
              <a:rPr sz="1425" b="1">
                <a:solidFill>
                  <a:srgbClr val="082653"/>
                </a:solidFill>
              </a:rPr>
              <a:t>6,773 SHIPMENTS  |  MARCH 2019 - SEPTEMBER 2020</a:t>
            </a:r>
          </a:p>
        </p:txBody>
      </p:sp>
      <p:sp>
        <p:nvSpPr>
          <p:cNvPr id="10" name="tools">
            <a:extLst xmlns:a="http://schemas.openxmlformats.org/drawingml/2006/main">
              <a:ext uri="{FF2B5EF4-FFF2-40B4-BE49-F238E27FC236}">
                <a16:creationId xmlns:a16="http://schemas.microsoft.com/office/drawing/2014/main" id="{E1277A32-42A1-4F85-8438-4440FCAB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867400"/>
            <a:ext cx="3028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1554A3"/>
                </a:solidFill>
              </a:defRPr>
            </a:pPr>
            <a:r>
              <a:rPr sz="1425" b="1">
                <a:solidFill>
                  <a:srgbClr val="1554A3"/>
                </a:solidFill>
              </a:rPr>
              <a:t>PYTHON  |  SQL  |  POWER BI</a:t>
            </a:r>
          </a:p>
        </p:txBody>
      </p:sp>
      <p:sp>
        <p:nvSpPr>
          <p:cNvPr id="11" name="dashboard-shadow">
            <a:extLst xmlns:a="http://schemas.openxmlformats.org/drawingml/2006/main">
              <a:ext uri="{FF2B5EF4-FFF2-40B4-BE49-F238E27FC236}">
                <a16:creationId xmlns:a16="http://schemas.microsoft.com/office/drawing/2014/main" id="{A5C97469-2B43-4C8D-AB2A-547B571E4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762750"/>
            <a:ext cx="8915400" cy="502920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D5DFED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e3b11bc9bc45c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6667500"/>
            <a:ext cx="8915400" cy="5029200"/>
          </a:xfrm>
          <a:prstGeom xmlns:a="http://schemas.openxmlformats.org/drawingml/2006/main" prst="roundRect">
            <a:avLst>
              <a:gd name="adj" fmla="val 2273"/>
            </a:avLst>
          </a:prstGeom>
        </p:spPr>
      </p:pic>
      <p:sp>
        <p:nvSpPr>
          <p:cNvPr id="13" name="author">
            <a:extLst xmlns:a="http://schemas.openxmlformats.org/drawingml/2006/main">
              <a:ext uri="{FF2B5EF4-FFF2-40B4-BE49-F238E27FC236}">
                <a16:creationId xmlns:a16="http://schemas.microsoft.com/office/drawing/2014/main" id="{87A152E0-67C6-493A-BB4E-1551DE1AE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2653"/>
                </a:solidFill>
              </a:defRPr>
            </a:pPr>
            <a:r>
              <a:rPr sz="1350" b="1">
                <a:solidFill>
                  <a:srgbClr val="082653"/>
                </a:solidFill>
              </a:rPr>
              <a:t>MOHAMED TAREK  |  DATA ANALYST</a:t>
            </a:r>
          </a:p>
        </p:txBody>
      </p:sp>
      <p:sp>
        <p:nvSpPr>
          <p:cNvPr id="14" name="github">
            <a:extLst xmlns:a="http://schemas.openxmlformats.org/drawingml/2006/main">
              <a:ext uri="{FF2B5EF4-FFF2-40B4-BE49-F238E27FC236}">
                <a16:creationId xmlns:a16="http://schemas.microsoft.com/office/drawing/2014/main" id="{0499477C-D1FA-4928-9F0C-3C00FBCDE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2192000"/>
            <a:ext cx="4648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718096"/>
                </a:solidFill>
              </a:defRPr>
            </a:pPr>
            <a:r>
              <a:rPr sz="1200">
                <a:solidFill>
                  <a:srgbClr val="718096"/>
                </a:solidFill>
              </a:rPr>
              <a:t>github.com/Mohamedtarek00212/Transportation-Logistics</a:t>
            </a:r>
          </a:p>
        </p:txBody>
      </p:sp>
    </p:spTree>
    <p:extLst>
      <p:ext uri="{BB962C8B-B14F-4D97-AF65-F5344CB8AC3E}">
        <p14:creationId xmlns:p14="http://schemas.microsoft.com/office/powerpoint/2010/main" val="7881369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02-accent-line">
            <a:extLst xmlns:a="http://schemas.openxmlformats.org/drawingml/2006/main">
              <a:ext uri="{FF2B5EF4-FFF2-40B4-BE49-F238E27FC236}">
                <a16:creationId xmlns:a16="http://schemas.microsoft.com/office/drawing/2014/main" id="{933A0969-6D09-433F-8874-81A05B980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876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02-eyebrow">
            <a:extLst xmlns:a="http://schemas.openxmlformats.org/drawingml/2006/main">
              <a:ext uri="{FF2B5EF4-FFF2-40B4-BE49-F238E27FC236}">
                <a16:creationId xmlns:a16="http://schemas.microsoft.com/office/drawing/2014/main" id="{3B74FAC6-5EAA-495A-B670-3D13EC6AE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554A3"/>
                </a:solidFill>
              </a:defRPr>
            </a:pPr>
            <a:r>
              <a:rPr sz="1500" b="1">
                <a:solidFill>
                  <a:srgbClr val="1554A3"/>
                </a:solidFill>
              </a:rPr>
              <a:t>BUSINESS PROBLEM</a:t>
            </a:r>
          </a:p>
        </p:txBody>
      </p:sp>
      <p:sp>
        <p:nvSpPr>
          <p:cNvPr id="3" name="slide-02-number">
            <a:extLst xmlns:a="http://schemas.openxmlformats.org/drawingml/2006/main">
              <a:ext uri="{FF2B5EF4-FFF2-40B4-BE49-F238E27FC236}">
                <a16:creationId xmlns:a16="http://schemas.microsoft.com/office/drawing/2014/main" id="{85F4494D-30B6-4FFC-8A2D-FD86825EC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866775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718096"/>
                </a:solidFill>
              </a:defRPr>
            </a:pPr>
            <a:r>
              <a:rPr sz="1350" b="1">
                <a:solidFill>
                  <a:srgbClr val="718096"/>
                </a:solidFill>
              </a:rPr>
              <a:t>02 / 08</a:t>
            </a:r>
          </a:p>
        </p:txBody>
      </p:sp>
      <p:sp>
        <p:nvSpPr>
          <p:cNvPr id="4" name="slide-02-title-line-one">
            <a:extLst xmlns:a="http://schemas.openxmlformats.org/drawingml/2006/main">
              <a:ext uri="{FF2B5EF4-FFF2-40B4-BE49-F238E27FC236}">
                <a16:creationId xmlns:a16="http://schemas.microsoft.com/office/drawing/2014/main" id="{15462B65-D7D5-4799-B6C8-D470D2B5E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8572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82653"/>
                </a:solidFill>
              </a:defRPr>
            </a:pPr>
            <a:r>
              <a:rPr sz="3900" b="1">
                <a:solidFill>
                  <a:srgbClr val="082653"/>
                </a:solidFill>
              </a:rPr>
              <a:t>WHY ARE SHIPMENTS</a:t>
            </a:r>
          </a:p>
        </p:txBody>
      </p:sp>
      <p:sp>
        <p:nvSpPr>
          <p:cNvPr id="5" name="slide-02-title-line-two">
            <a:extLst xmlns:a="http://schemas.openxmlformats.org/drawingml/2006/main">
              <a:ext uri="{FF2B5EF4-FFF2-40B4-BE49-F238E27FC236}">
                <a16:creationId xmlns:a16="http://schemas.microsoft.com/office/drawing/2014/main" id="{B125FCB6-185E-40A6-AE8B-400B03F54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90725"/>
            <a:ext cx="857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550" b="1">
                <a:solidFill>
                  <a:srgbClr val="D20A16"/>
                </a:solidFill>
              </a:defRPr>
            </a:pPr>
            <a:r>
              <a:rPr sz="5550" b="1">
                <a:solidFill>
                  <a:srgbClr val="D20A16"/>
                </a:solidFill>
              </a:rPr>
              <a:t>DELAYED?</a:t>
            </a:r>
          </a:p>
        </p:txBody>
      </p:sp>
      <p:sp>
        <p:nvSpPr>
          <p:cNvPr id="6" name="slide-02-problem-copy">
            <a:extLst xmlns:a="http://schemas.openxmlformats.org/drawingml/2006/main">
              <a:ext uri="{FF2B5EF4-FFF2-40B4-BE49-F238E27FC236}">
                <a16:creationId xmlns:a16="http://schemas.microsoft.com/office/drawing/2014/main" id="{BAAA6647-72C9-4B16-A27A-ABF4225F5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0"/>
            <a:ext cx="8915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E2D42"/>
                </a:solidFill>
              </a:defRPr>
            </a:pPr>
            <a:r>
              <a:rPr sz="1800">
                <a:solidFill>
                  <a:srgbClr val="1E2D42"/>
                </a:solidFill>
              </a:rPr>
              <a:t>Operational data was scattered across suppliers, vehicles, routes, GPS providers, and delivery events. Without one connected view, teams could see delays but not where the operation was breaking down.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564690ea534c3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4095750"/>
            <a:ext cx="8915400" cy="7715250"/>
          </a:xfrm>
          <a:prstGeom xmlns:a="http://schemas.openxmlformats.org/drawingml/2006/main" prst="roundRect">
            <a:avLst>
              <a:gd name="adj" fmla="val 1481"/>
            </a:avLst>
          </a:prstGeom>
        </p:spPr>
      </p:pic>
      <p:sp>
        <p:nvSpPr>
          <p:cNvPr id="8" name="analysis-question-band">
            <a:extLst xmlns:a="http://schemas.openxmlformats.org/drawingml/2006/main">
              <a:ext uri="{FF2B5EF4-FFF2-40B4-BE49-F238E27FC236}">
                <a16:creationId xmlns:a16="http://schemas.microsoft.com/office/drawing/2014/main" id="{2C2F75C0-2B57-4735-BFE0-5AFF7BFAC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1250"/>
            <a:ext cx="89154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analysis-question-one-label">
            <a:extLst xmlns:a="http://schemas.openxmlformats.org/drawingml/2006/main">
              <a:ext uri="{FF2B5EF4-FFF2-40B4-BE49-F238E27FC236}">
                <a16:creationId xmlns:a16="http://schemas.microsoft.com/office/drawing/2014/main" id="{D892FBEF-77E4-488E-98BC-FEA740994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03251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F80ED"/>
                </a:solidFill>
              </a:defRPr>
            </a:pPr>
            <a:r>
              <a:rPr sz="1500" b="1">
                <a:solidFill>
                  <a:srgbClr val="2F80ED"/>
                </a:solidFill>
              </a:rPr>
              <a:t>WHERE?</a:t>
            </a:r>
          </a:p>
        </p:txBody>
      </p:sp>
      <p:sp>
        <p:nvSpPr>
          <p:cNvPr id="10" name="analysis-question-one">
            <a:extLst xmlns:a="http://schemas.openxmlformats.org/drawingml/2006/main">
              <a:ext uri="{FF2B5EF4-FFF2-40B4-BE49-F238E27FC236}">
                <a16:creationId xmlns:a16="http://schemas.microsoft.com/office/drawing/2014/main" id="{9CF4D2A4-506D-4226-83E1-D0FADBDEC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0725150"/>
            <a:ext cx="2381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Where do delays concentrate?</a:t>
            </a:r>
          </a:p>
        </p:txBody>
      </p:sp>
      <p:sp>
        <p:nvSpPr>
          <p:cNvPr id="11" name="analysis-question-two-label">
            <a:extLst xmlns:a="http://schemas.openxmlformats.org/drawingml/2006/main">
              <a:ext uri="{FF2B5EF4-FFF2-40B4-BE49-F238E27FC236}">
                <a16:creationId xmlns:a16="http://schemas.microsoft.com/office/drawing/2014/main" id="{8F0E6576-8527-4B1C-A244-2E61014A9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0325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47B2A"/>
                </a:solidFill>
              </a:defRPr>
            </a:pPr>
            <a:r>
              <a:rPr sz="1500" b="1">
                <a:solidFill>
                  <a:srgbClr val="F47B2A"/>
                </a:solidFill>
              </a:rPr>
              <a:t>WHO?</a:t>
            </a:r>
          </a:p>
        </p:txBody>
      </p:sp>
      <p:sp>
        <p:nvSpPr>
          <p:cNvPr id="12" name="analysis-question-two">
            <a:extLst xmlns:a="http://schemas.openxmlformats.org/drawingml/2006/main">
              <a:ext uri="{FF2B5EF4-FFF2-40B4-BE49-F238E27FC236}">
                <a16:creationId xmlns:a16="http://schemas.microsoft.com/office/drawing/2014/main" id="{EC19FB70-BFF3-44E8-B006-88E6D2098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0725150"/>
            <a:ext cx="2381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Who drives the greatest risk?</a:t>
            </a:r>
          </a:p>
        </p:txBody>
      </p:sp>
      <p:sp>
        <p:nvSpPr>
          <p:cNvPr id="13" name="analysis-question-three-label">
            <a:extLst xmlns:a="http://schemas.openxmlformats.org/drawingml/2006/main">
              <a:ext uri="{FF2B5EF4-FFF2-40B4-BE49-F238E27FC236}">
                <a16:creationId xmlns:a16="http://schemas.microsoft.com/office/drawing/2014/main" id="{C7A2886B-714D-46D6-927D-3E423CCA2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03251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D20A16"/>
                </a:solidFill>
              </a:defRPr>
            </a:pPr>
            <a:r>
              <a:rPr sz="1500" b="1">
                <a:solidFill>
                  <a:srgbClr val="D20A16"/>
                </a:solidFill>
              </a:rPr>
              <a:t>WHAT NEXT?</a:t>
            </a:r>
          </a:p>
        </p:txBody>
      </p:sp>
      <p:sp>
        <p:nvSpPr>
          <p:cNvPr id="14" name="analysis-question-three">
            <a:extLst xmlns:a="http://schemas.openxmlformats.org/drawingml/2006/main">
              <a:ext uri="{FF2B5EF4-FFF2-40B4-BE49-F238E27FC236}">
                <a16:creationId xmlns:a16="http://schemas.microsoft.com/office/drawing/2014/main" id="{5D295D31-74A9-4C6B-9F10-87614CE4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0725150"/>
            <a:ext cx="2381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What should change operationally?</a:t>
            </a:r>
          </a:p>
        </p:txBody>
      </p:sp>
      <p:sp>
        <p:nvSpPr>
          <p:cNvPr id="15" name="slide-02-footer-left">
            <a:extLst xmlns:a="http://schemas.openxmlformats.org/drawingml/2006/main">
              <a:ext uri="{FF2B5EF4-FFF2-40B4-BE49-F238E27FC236}">
                <a16:creationId xmlns:a16="http://schemas.microsoft.com/office/drawing/2014/main" id="{23ACA3CB-F996-4CDD-9635-99566771F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2682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82653"/>
                </a:solidFill>
              </a:defRPr>
            </a:pPr>
            <a:r>
              <a:rPr sz="1200" b="1">
                <a:solidFill>
                  <a:srgbClr val="082653"/>
                </a:solidFill>
              </a:rPr>
              <a:t>TRANSPORTATION &amp; LOGISTICS ANALYTICS</a:t>
            </a:r>
          </a:p>
        </p:txBody>
      </p:sp>
      <p:sp>
        <p:nvSpPr>
          <p:cNvPr id="16" name="slide-02-footer-right">
            <a:extLst xmlns:a="http://schemas.openxmlformats.org/drawingml/2006/main">
              <a:ext uri="{FF2B5EF4-FFF2-40B4-BE49-F238E27FC236}">
                <a16:creationId xmlns:a16="http://schemas.microsoft.com/office/drawing/2014/main" id="{3154ACAB-6722-49DC-9488-9B69B9F51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2268200"/>
            <a:ext cx="3886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718096"/>
                </a:solidFill>
              </a:defRPr>
            </a:pPr>
            <a:r>
              <a:rPr sz="1200">
                <a:solidFill>
                  <a:srgbClr val="718096"/>
                </a:solidFill>
              </a:rPr>
              <a:t>MOHAMED TAREK  |  DATA ANALYST</a:t>
            </a:r>
          </a:p>
        </p:txBody>
      </p:sp>
    </p:spTree>
    <p:extLst>
      <p:ext uri="{BB962C8B-B14F-4D97-AF65-F5344CB8AC3E}">
        <p14:creationId xmlns:p14="http://schemas.microsoft.com/office/powerpoint/2010/main" val="164117471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slide-03-accent-line">
            <a:extLst xmlns:a="http://schemas.openxmlformats.org/drawingml/2006/main">
              <a:ext uri="{FF2B5EF4-FFF2-40B4-BE49-F238E27FC236}">
                <a16:creationId xmlns:a16="http://schemas.microsoft.com/office/drawing/2014/main" id="{29C0C70A-E7C1-46E8-A05B-181F32C80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876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03-eyebrow">
            <a:extLst xmlns:a="http://schemas.openxmlformats.org/drawingml/2006/main">
              <a:ext uri="{FF2B5EF4-FFF2-40B4-BE49-F238E27FC236}">
                <a16:creationId xmlns:a16="http://schemas.microsoft.com/office/drawing/2014/main" id="{CE83614F-86F9-4452-A8A6-225D99CC6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554A3"/>
                </a:solidFill>
              </a:defRPr>
            </a:pPr>
            <a:r>
              <a:rPr sz="1500" b="1">
                <a:solidFill>
                  <a:srgbClr val="1554A3"/>
                </a:solidFill>
              </a:rPr>
              <a:t>EXPLORATORY DATA ANALYSIS</a:t>
            </a:r>
          </a:p>
        </p:txBody>
      </p:sp>
      <p:sp>
        <p:nvSpPr>
          <p:cNvPr id="3" name="slide-03-number">
            <a:extLst xmlns:a="http://schemas.openxmlformats.org/drawingml/2006/main">
              <a:ext uri="{FF2B5EF4-FFF2-40B4-BE49-F238E27FC236}">
                <a16:creationId xmlns:a16="http://schemas.microsoft.com/office/drawing/2014/main" id="{F1F89E07-89F7-4107-8B2D-7B7083395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866775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718096"/>
                </a:solidFill>
              </a:defRPr>
            </a:pPr>
            <a:r>
              <a:rPr sz="1350" b="1">
                <a:solidFill>
                  <a:srgbClr val="718096"/>
                </a:solidFill>
              </a:rPr>
              <a:t>03 / 08</a:t>
            </a:r>
          </a:p>
        </p:txBody>
      </p:sp>
      <p:sp>
        <p:nvSpPr>
          <p:cNvPr id="4" name="slide-03-title-line-one">
            <a:extLst xmlns:a="http://schemas.openxmlformats.org/drawingml/2006/main">
              <a:ext uri="{FF2B5EF4-FFF2-40B4-BE49-F238E27FC236}">
                <a16:creationId xmlns:a16="http://schemas.microsoft.com/office/drawing/2014/main" id="{A217578D-ADAF-4C50-8D7E-3A8C43063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82653"/>
                </a:solidFill>
              </a:defRPr>
            </a:pPr>
            <a:r>
              <a:rPr sz="3900" b="1">
                <a:solidFill>
                  <a:srgbClr val="082653"/>
                </a:solidFill>
              </a:rPr>
              <a:t>62.9% OF SHIPMENTS</a:t>
            </a:r>
          </a:p>
        </p:txBody>
      </p:sp>
      <p:sp>
        <p:nvSpPr>
          <p:cNvPr id="5" name="slide-03-title-line-two">
            <a:extLst xmlns:a="http://schemas.openxmlformats.org/drawingml/2006/main">
              <a:ext uri="{FF2B5EF4-FFF2-40B4-BE49-F238E27FC236}">
                <a16:creationId xmlns:a16="http://schemas.microsoft.com/office/drawing/2014/main" id="{3D271E46-326E-4690-BEB3-81148C538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19300"/>
            <a:ext cx="8572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D20A16"/>
                </a:solidFill>
              </a:defRPr>
            </a:pPr>
            <a:r>
              <a:rPr sz="4800" b="1">
                <a:solidFill>
                  <a:srgbClr val="D20A16"/>
                </a:solidFill>
              </a:rPr>
              <a:t>WERE DELAYED</a:t>
            </a:r>
          </a:p>
        </p:txBody>
      </p:sp>
      <p:sp>
        <p:nvSpPr>
          <p:cNvPr id="6" name="slide-03-subtitle">
            <a:extLst xmlns:a="http://schemas.openxmlformats.org/drawingml/2006/main">
              <a:ext uri="{FF2B5EF4-FFF2-40B4-BE49-F238E27FC236}">
                <a16:creationId xmlns:a16="http://schemas.microsoft.com/office/drawing/2014/main" id="{B81246B6-1371-4896-B6C1-BDD9AF69E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175"/>
            <a:ext cx="8915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1E2D42"/>
                </a:solidFill>
              </a:defRPr>
            </a:pPr>
            <a:r>
              <a:rPr sz="1875">
                <a:solidFill>
                  <a:srgbClr val="1E2D42"/>
                </a:solidFill>
              </a:rPr>
              <a:t>The data revealed a systemic delivery performance problem, not isolated exceptions.</a:t>
            </a:r>
          </a:p>
        </p:txBody>
      </p:sp>
      <p:sp>
        <p:nvSpPr>
          <p:cNvPr id="7" name="eda-visual-background">
            <a:extLst xmlns:a="http://schemas.openxmlformats.org/drawingml/2006/main">
              <a:ext uri="{FF2B5EF4-FFF2-40B4-BE49-F238E27FC236}">
                <a16:creationId xmlns:a16="http://schemas.microsoft.com/office/drawing/2014/main" id="{FA7EE092-6364-4057-B1FD-F031A4289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4286250" cy="70485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8" name="eda-visual-label">
            <a:extLst xmlns:a="http://schemas.openxmlformats.org/drawingml/2006/main">
              <a:ext uri="{FF2B5EF4-FFF2-40B4-BE49-F238E27FC236}">
                <a16:creationId xmlns:a16="http://schemas.microsoft.com/office/drawing/2014/main" id="{202397E8-4554-4EC4-8C1B-F8D582E97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71950"/>
            <a:ext cx="361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18096"/>
                </a:solidFill>
              </a:defRPr>
            </a:pPr>
            <a:r>
              <a:rPr sz="1350" b="1">
                <a:solidFill>
                  <a:srgbClr val="718096"/>
                </a:solidFill>
              </a:rPr>
              <a:t>DELIVERY STATUS</a:t>
            </a:r>
          </a:p>
        </p:txBody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857250" y="4591050"/>
          <a:ext xmlns:a="http://schemas.openxmlformats.org/drawingml/2006/main" cx="39433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192f3d6875645a3"/>
          </a:graphicData>
        </a:graphic>
      </p:graphicFrame>
      <p:sp>
        <p:nvSpPr>
          <p:cNvPr id="10" name="eda-donut-value">
            <a:extLst xmlns:a="http://schemas.openxmlformats.org/drawingml/2006/main">
              <a:ext uri="{FF2B5EF4-FFF2-40B4-BE49-F238E27FC236}">
                <a16:creationId xmlns:a16="http://schemas.microsoft.com/office/drawing/2014/main" id="{30AFD0B5-B40D-489B-A696-B00375227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895975"/>
            <a:ext cx="2571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D20A16"/>
                </a:solidFill>
              </a:defRPr>
            </a:pPr>
            <a:r>
              <a:rPr sz="4350" b="1">
                <a:solidFill>
                  <a:srgbClr val="D20A16"/>
                </a:solidFill>
              </a:rPr>
              <a:t>62.9%</a:t>
            </a:r>
          </a:p>
        </p:txBody>
      </p:sp>
      <p:sp>
        <p:nvSpPr>
          <p:cNvPr id="11" name="eda-donut-label">
            <a:extLst xmlns:a="http://schemas.openxmlformats.org/drawingml/2006/main">
              <a:ext uri="{FF2B5EF4-FFF2-40B4-BE49-F238E27FC236}">
                <a16:creationId xmlns:a16="http://schemas.microsoft.com/office/drawing/2014/main" id="{5FBF3F95-FB98-4F36-A023-ED65E7E9B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6657975"/>
            <a:ext cx="2266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82653"/>
                </a:solidFill>
              </a:defRPr>
            </a:pPr>
            <a:r>
              <a:rPr sz="1500" b="1">
                <a:solidFill>
                  <a:srgbClr val="082653"/>
                </a:solidFill>
              </a:rPr>
              <a:t>DELAYED</a:t>
            </a:r>
          </a:p>
        </p:txBody>
      </p:sp>
      <p:sp>
        <p:nvSpPr>
          <p:cNvPr id="12" name="delayed-legend-dot">
            <a:extLst xmlns:a="http://schemas.openxmlformats.org/drawingml/2006/main">
              <a:ext uri="{FF2B5EF4-FFF2-40B4-BE49-F238E27FC236}">
                <a16:creationId xmlns:a16="http://schemas.microsoft.com/office/drawing/2014/main" id="{8057B837-E77B-40E3-9E4F-CA3A65CFC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6106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20A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delayed-legend">
            <a:extLst xmlns:a="http://schemas.openxmlformats.org/drawingml/2006/main">
              <a:ext uri="{FF2B5EF4-FFF2-40B4-BE49-F238E27FC236}">
                <a16:creationId xmlns:a16="http://schemas.microsoft.com/office/drawing/2014/main" id="{EB850734-4005-438F-B441-018424BC6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850582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E2D42"/>
                </a:solidFill>
              </a:defRPr>
            </a:pPr>
            <a:r>
              <a:rPr sz="1500" b="1">
                <a:solidFill>
                  <a:srgbClr val="1E2D42"/>
                </a:solidFill>
              </a:rPr>
              <a:t>Delayed  4,263  |  62.9%</a:t>
            </a:r>
          </a:p>
        </p:txBody>
      </p:sp>
      <p:sp>
        <p:nvSpPr>
          <p:cNvPr id="14" name="ontime-legend-dot">
            <a:extLst xmlns:a="http://schemas.openxmlformats.org/drawingml/2006/main">
              <a:ext uri="{FF2B5EF4-FFF2-40B4-BE49-F238E27FC236}">
                <a16:creationId xmlns:a16="http://schemas.microsoft.com/office/drawing/2014/main" id="{7288E692-0704-416F-AB91-1CD0B8171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90963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ontime-legend">
            <a:extLst xmlns:a="http://schemas.openxmlformats.org/drawingml/2006/main">
              <a:ext uri="{FF2B5EF4-FFF2-40B4-BE49-F238E27FC236}">
                <a16:creationId xmlns:a16="http://schemas.microsoft.com/office/drawing/2014/main" id="{423F9FE0-E528-4FC3-B269-87584BA04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89916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E2D42"/>
                </a:solidFill>
              </a:defRPr>
            </a:pPr>
            <a:r>
              <a:rPr sz="1500" b="1">
                <a:solidFill>
                  <a:srgbClr val="1E2D42"/>
                </a:solidFill>
              </a:rPr>
              <a:t>On-Time  2,510  |  37.1%</a:t>
            </a:r>
          </a:p>
        </p:txBody>
      </p:sp>
      <p:sp>
        <p:nvSpPr>
          <p:cNvPr id="16" name="methodology-accent">
            <a:extLst xmlns:a="http://schemas.openxmlformats.org/drawingml/2006/main">
              <a:ext uri="{FF2B5EF4-FFF2-40B4-BE49-F238E27FC236}">
                <a16:creationId xmlns:a16="http://schemas.microsoft.com/office/drawing/2014/main" id="{2F9613B7-50A2-4530-9CC3-AB0A0C9DA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9753600"/>
            <a:ext cx="571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methodology-label">
            <a:extLst xmlns:a="http://schemas.openxmlformats.org/drawingml/2006/main">
              <a:ext uri="{FF2B5EF4-FFF2-40B4-BE49-F238E27FC236}">
                <a16:creationId xmlns:a16="http://schemas.microsoft.com/office/drawing/2014/main" id="{40315C11-FA21-42CE-BAF7-D5FD3E85C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6964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718096"/>
                </a:solidFill>
              </a:defRPr>
            </a:pPr>
            <a:r>
              <a:rPr sz="1200" b="1">
                <a:solidFill>
                  <a:srgbClr val="718096"/>
                </a:solidFill>
              </a:rPr>
              <a:t>DELAY DEFINITION</a:t>
            </a:r>
          </a:p>
        </p:txBody>
      </p:sp>
      <p:sp>
        <p:nvSpPr>
          <p:cNvPr id="18" name="methodology-copy">
            <a:extLst xmlns:a="http://schemas.openxmlformats.org/drawingml/2006/main">
              <a:ext uri="{FF2B5EF4-FFF2-40B4-BE49-F238E27FC236}">
                <a16:creationId xmlns:a16="http://schemas.microsoft.com/office/drawing/2014/main" id="{B63D4047-21F0-4FE3-A02E-79DCF8CC9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04887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82653"/>
                </a:solidFill>
              </a:defRPr>
            </a:pPr>
            <a:r>
              <a:rPr sz="1650" b="1">
                <a:solidFill>
                  <a:srgbClr val="082653"/>
                </a:solidFill>
              </a:rPr>
              <a:t>Actual ETA &gt; Planned ETA</a:t>
            </a:r>
          </a:p>
        </p:txBody>
      </p:sp>
      <p:sp>
        <p:nvSpPr>
          <p:cNvPr id="19" name="eda-meaning-label">
            <a:extLst xmlns:a="http://schemas.openxmlformats.org/drawingml/2006/main">
              <a:ext uri="{FF2B5EF4-FFF2-40B4-BE49-F238E27FC236}">
                <a16:creationId xmlns:a16="http://schemas.microsoft.com/office/drawing/2014/main" id="{80B5394A-E290-47A2-A8E0-463B6E5BF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0005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554A3"/>
                </a:solidFill>
              </a:defRPr>
            </a:pPr>
            <a:r>
              <a:rPr sz="1350" b="1">
                <a:solidFill>
                  <a:srgbClr val="1554A3"/>
                </a:solidFill>
              </a:rPr>
              <a:t>WHAT THIS MEANS</a:t>
            </a:r>
          </a:p>
        </p:txBody>
      </p:sp>
      <p:sp>
        <p:nvSpPr>
          <p:cNvPr id="20" name="eda-primary-meaning">
            <a:extLst xmlns:a="http://schemas.openxmlformats.org/drawingml/2006/main">
              <a:ext uri="{FF2B5EF4-FFF2-40B4-BE49-F238E27FC236}">
                <a16:creationId xmlns:a16="http://schemas.microsoft.com/office/drawing/2014/main" id="{724FF001-3E50-4CD8-B20F-06DBFB5D2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514850"/>
            <a:ext cx="40005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82653"/>
                </a:solidFill>
              </a:defRPr>
            </a:pPr>
            <a:r>
              <a:rPr sz="2850" b="1">
                <a:solidFill>
                  <a:srgbClr val="082653"/>
                </a:solidFill>
              </a:rPr>
              <a:t>Nearly 2 in every 3 shipments missed the planned ETA.</a:t>
            </a:r>
          </a:p>
        </p:txBody>
      </p:sp>
      <p:sp>
        <p:nvSpPr>
          <p:cNvPr id="21" name="eda-divider-one">
            <a:extLst xmlns:a="http://schemas.openxmlformats.org/drawingml/2006/main">
              <a:ext uri="{FF2B5EF4-FFF2-40B4-BE49-F238E27FC236}">
                <a16:creationId xmlns:a16="http://schemas.microsoft.com/office/drawing/2014/main" id="{3414ECD0-DFE4-40DC-AB59-93A8B614E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6172200"/>
            <a:ext cx="390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eda-insight-one-label">
            <a:extLst xmlns:a="http://schemas.openxmlformats.org/drawingml/2006/main">
              <a:ext uri="{FF2B5EF4-FFF2-40B4-BE49-F238E27FC236}">
                <a16:creationId xmlns:a16="http://schemas.microsoft.com/office/drawing/2014/main" id="{5C3A1A58-6C91-4ACA-9747-865495C16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645795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20A16"/>
                </a:solidFill>
              </a:defRPr>
            </a:pPr>
            <a:r>
              <a:rPr sz="1275" b="1">
                <a:solidFill>
                  <a:srgbClr val="D20A16"/>
                </a:solidFill>
              </a:rPr>
              <a:t>SYSTEM-WIDE ISSUE</a:t>
            </a:r>
          </a:p>
        </p:txBody>
      </p:sp>
      <p:sp>
        <p:nvSpPr>
          <p:cNvPr id="23" name="eda-insight-one-copy">
            <a:extLst xmlns:a="http://schemas.openxmlformats.org/drawingml/2006/main">
              <a:ext uri="{FF2B5EF4-FFF2-40B4-BE49-F238E27FC236}">
                <a16:creationId xmlns:a16="http://schemas.microsoft.com/office/drawing/2014/main" id="{00FB5E0F-3CC5-4CC2-98E5-881D20F97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6858000"/>
            <a:ext cx="3905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1E2D42"/>
                </a:solidFill>
              </a:defRPr>
            </a:pPr>
            <a:r>
              <a:rPr sz="1875">
                <a:solidFill>
                  <a:srgbClr val="1E2D42"/>
                </a:solidFill>
              </a:rPr>
              <a:t>4,263 of 6,773 cleaned shipment records were classified as delayed.</a:t>
            </a:r>
          </a:p>
        </p:txBody>
      </p:sp>
      <p:sp>
        <p:nvSpPr>
          <p:cNvPr id="24" name="eda-divider-two">
            <a:extLst xmlns:a="http://schemas.openxmlformats.org/drawingml/2006/main">
              <a:ext uri="{FF2B5EF4-FFF2-40B4-BE49-F238E27FC236}">
                <a16:creationId xmlns:a16="http://schemas.microsoft.com/office/drawing/2014/main" id="{43393AA3-C9A2-4558-95D8-94F1FC9DC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7943850"/>
            <a:ext cx="390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eda-insight-two-label">
            <a:extLst xmlns:a="http://schemas.openxmlformats.org/drawingml/2006/main">
              <a:ext uri="{FF2B5EF4-FFF2-40B4-BE49-F238E27FC236}">
                <a16:creationId xmlns:a16="http://schemas.microsoft.com/office/drawing/2014/main" id="{17617438-56E1-47A4-B408-973C48921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8229600"/>
            <a:ext cx="381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47B2A"/>
                </a:solidFill>
              </a:defRPr>
            </a:pPr>
            <a:r>
              <a:rPr sz="1275" b="1">
                <a:solidFill>
                  <a:srgbClr val="F47B2A"/>
                </a:solidFill>
              </a:rPr>
              <a:t>NOT ISOLATED EXCEPTIONS</a:t>
            </a:r>
          </a:p>
        </p:txBody>
      </p:sp>
      <p:sp>
        <p:nvSpPr>
          <p:cNvPr id="26" name="eda-insight-two-copy">
            <a:extLst xmlns:a="http://schemas.openxmlformats.org/drawingml/2006/main">
              <a:ext uri="{FF2B5EF4-FFF2-40B4-BE49-F238E27FC236}">
                <a16:creationId xmlns:a16="http://schemas.microsoft.com/office/drawing/2014/main" id="{932B82DC-6110-43EF-BB0E-A03DAE0E4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8629650"/>
            <a:ext cx="3905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1E2D42"/>
                </a:solidFill>
              </a:defRPr>
            </a:pPr>
            <a:r>
              <a:rPr sz="1875">
                <a:solidFill>
                  <a:srgbClr val="1E2D42"/>
                </a:solidFill>
              </a:rPr>
              <a:t>Delay patterns shifted across time, distance, suppliers, vehicle types, and GPS providers.</a:t>
            </a:r>
          </a:p>
        </p:txBody>
      </p:sp>
      <p:sp>
        <p:nvSpPr>
          <p:cNvPr id="27" name="eda-next-step-band">
            <a:extLst xmlns:a="http://schemas.openxmlformats.org/drawingml/2006/main">
              <a:ext uri="{FF2B5EF4-FFF2-40B4-BE49-F238E27FC236}">
                <a16:creationId xmlns:a16="http://schemas.microsoft.com/office/drawing/2014/main" id="{F2D4FA9B-DCEF-41D6-B927-2A21EC00F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10039350"/>
            <a:ext cx="43243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eda-next-step-label">
            <a:extLst xmlns:a="http://schemas.openxmlformats.org/drawingml/2006/main">
              <a:ext uri="{FF2B5EF4-FFF2-40B4-BE49-F238E27FC236}">
                <a16:creationId xmlns:a16="http://schemas.microsoft.com/office/drawing/2014/main" id="{1073853D-6DE2-47D0-8BF4-54E2E503D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0239375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47B2A"/>
                </a:solidFill>
              </a:defRPr>
            </a:pPr>
            <a:r>
              <a:rPr sz="1200" b="1">
                <a:solidFill>
                  <a:srgbClr val="F47B2A"/>
                </a:solidFill>
              </a:rPr>
              <a:t>NEXT</a:t>
            </a:r>
          </a:p>
        </p:txBody>
      </p:sp>
      <p:sp>
        <p:nvSpPr>
          <p:cNvPr id="29" name="eda-next-step-copy">
            <a:extLst xmlns:a="http://schemas.openxmlformats.org/drawingml/2006/main">
              <a:ext uri="{FF2B5EF4-FFF2-40B4-BE49-F238E27FC236}">
                <a16:creationId xmlns:a16="http://schemas.microsoft.com/office/drawing/2014/main" id="{6D5273B0-E9A6-4377-86DF-3E67337BB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0572750"/>
            <a:ext cx="3733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Structure the operation for deeper SQL analysis.</a:t>
            </a:r>
          </a:p>
        </p:txBody>
      </p:sp>
      <p:sp>
        <p:nvSpPr>
          <p:cNvPr id="30" name="slide-03-footer-left">
            <a:extLst xmlns:a="http://schemas.openxmlformats.org/drawingml/2006/main">
              <a:ext uri="{FF2B5EF4-FFF2-40B4-BE49-F238E27FC236}">
                <a16:creationId xmlns:a16="http://schemas.microsoft.com/office/drawing/2014/main" id="{23CD8F60-D797-4F77-95F1-F8EFD6FAB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2682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82653"/>
                </a:solidFill>
              </a:defRPr>
            </a:pPr>
            <a:r>
              <a:rPr sz="1200" b="1">
                <a:solidFill>
                  <a:srgbClr val="082653"/>
                </a:solidFill>
              </a:rPr>
              <a:t>TRANSPORTATION &amp; LOGISTICS ANALYTICS</a:t>
            </a:r>
          </a:p>
        </p:txBody>
      </p:sp>
      <p:sp>
        <p:nvSpPr>
          <p:cNvPr id="31" name="slide-03-footer-right">
            <a:extLst xmlns:a="http://schemas.openxmlformats.org/drawingml/2006/main">
              <a:ext uri="{FF2B5EF4-FFF2-40B4-BE49-F238E27FC236}">
                <a16:creationId xmlns:a16="http://schemas.microsoft.com/office/drawing/2014/main" id="{3FDB658E-6BEA-49C1-A46E-26D819825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2268200"/>
            <a:ext cx="3886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718096"/>
                </a:solidFill>
              </a:defRPr>
            </a:pPr>
            <a:r>
              <a:rPr sz="1200">
                <a:solidFill>
                  <a:srgbClr val="718096"/>
                </a:solidFill>
              </a:rPr>
              <a:t>MOHAMED TAREK  |  DATA ANALYST</a:t>
            </a:r>
          </a:p>
        </p:txBody>
      </p:sp>
    </p:spTree>
    <p:extLst>
      <p:ext uri="{BB962C8B-B14F-4D97-AF65-F5344CB8AC3E}">
        <p14:creationId xmlns:p14="http://schemas.microsoft.com/office/powerpoint/2010/main" val="48789348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4" name="slide-04-top-accent">
            <a:extLst xmlns:a="http://schemas.openxmlformats.org/drawingml/2006/main">
              <a:ext uri="{FF2B5EF4-FFF2-40B4-BE49-F238E27FC236}">
                <a16:creationId xmlns:a16="http://schemas.microsoft.com/office/drawing/2014/main" id="{6C032F07-0F3A-4F20-8B50-3C50D8168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76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04-eyebrow">
            <a:extLst xmlns:a="http://schemas.openxmlformats.org/drawingml/2006/main">
              <a:ext uri="{FF2B5EF4-FFF2-40B4-BE49-F238E27FC236}">
                <a16:creationId xmlns:a16="http://schemas.microsoft.com/office/drawing/2014/main" id="{38CB7574-2F77-4089-A173-C1C380CA4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554A3"/>
                </a:solidFill>
              </a:defRPr>
            </a:pPr>
            <a:r>
              <a:rPr sz="1500" b="1">
                <a:solidFill>
                  <a:srgbClr val="1554A3"/>
                </a:solidFill>
              </a:rPr>
              <a:t>THE SQL SOLUTION</a:t>
            </a:r>
          </a:p>
        </p:txBody>
      </p:sp>
      <p:sp>
        <p:nvSpPr>
          <p:cNvPr id="3" name="slide-04-number">
            <a:extLst xmlns:a="http://schemas.openxmlformats.org/drawingml/2006/main">
              <a:ext uri="{FF2B5EF4-FFF2-40B4-BE49-F238E27FC236}">
                <a16:creationId xmlns:a16="http://schemas.microsoft.com/office/drawing/2014/main" id="{DF9B0BFD-C694-4D10-80C3-7068932D2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942975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718096"/>
                </a:solidFill>
              </a:defRPr>
            </a:pPr>
            <a:r>
              <a:rPr sz="1350" b="1">
                <a:solidFill>
                  <a:srgbClr val="718096"/>
                </a:solidFill>
              </a:rPr>
              <a:t>04 / 08</a:t>
            </a:r>
          </a:p>
        </p:txBody>
      </p:sp>
      <p:sp>
        <p:nvSpPr>
          <p:cNvPr id="4" name="slide-04-title">
            <a:extLst xmlns:a="http://schemas.openxmlformats.org/drawingml/2006/main">
              <a:ext uri="{FF2B5EF4-FFF2-40B4-BE49-F238E27FC236}">
                <a16:creationId xmlns:a16="http://schemas.microsoft.com/office/drawing/2014/main" id="{4C6C791C-AF9F-4BD5-98F8-982453D9E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8915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75" b="1">
                <a:solidFill>
                  <a:srgbClr val="082653"/>
                </a:solidFill>
              </a:defRPr>
            </a:pPr>
            <a:r>
              <a:rPr sz="3075" b="1">
                <a:solidFill>
                  <a:srgbClr val="082653"/>
                </a:solidFill>
              </a:rPr>
              <a:t>A CONNECTED DATABASE FOR</a:t>
            </a:r>
          </a:p>
          <a:p xmlns:a="http://schemas.openxmlformats.org/drawingml/2006/main">
            <a:pPr>
              <a:defRPr sz="3075" b="1">
                <a:solidFill>
                  <a:srgbClr val="082653"/>
                </a:solidFill>
              </a:defRPr>
            </a:pPr>
            <a:r>
              <a:rPr sz="3075" b="1">
                <a:solidFill>
                  <a:srgbClr val="082653"/>
                </a:solidFill>
              </a:rPr>
              <a:t>END-TO-END SHIPMENT CONTROL</a:t>
            </a:r>
          </a:p>
        </p:txBody>
      </p:sp>
      <p:sp>
        <p:nvSpPr>
          <p:cNvPr id="5" name="slide-04-subtitle">
            <a:extLst xmlns:a="http://schemas.openxmlformats.org/drawingml/2006/main">
              <a:ext uri="{FF2B5EF4-FFF2-40B4-BE49-F238E27FC236}">
                <a16:creationId xmlns:a16="http://schemas.microsoft.com/office/drawing/2014/main" id="{A81D4DCB-88A5-49E9-97EB-9B824E742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E2D42"/>
                </a:solidFill>
              </a:defRPr>
            </a:pPr>
            <a:r>
              <a:rPr sz="1575">
                <a:solidFill>
                  <a:srgbClr val="1E2D42"/>
                </a:solidFill>
              </a:rPr>
              <a:t>The solution transforms fragmented logistics records into a structured SQL Server data foundation.</a:t>
            </a:r>
          </a:p>
        </p:txBody>
      </p:sp>
      <p:sp>
        <p:nvSpPr>
          <p:cNvPr id="6" name="schema-panel">
            <a:extLst xmlns:a="http://schemas.openxmlformats.org/drawingml/2006/main">
              <a:ext uri="{FF2B5EF4-FFF2-40B4-BE49-F238E27FC236}">
                <a16:creationId xmlns:a16="http://schemas.microsoft.com/office/drawing/2014/main" id="{35DC80A7-A8E8-416A-BE3E-59403448B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05200"/>
            <a:ext cx="4305300" cy="7258050"/>
          </a:xfrm>
          <a:prstGeom xmlns:a="http://schemas.openxmlformats.org/drawingml/2006/main" prst="roundRect">
            <a:avLst>
              <a:gd name="adj" fmla="val 17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7" name="schema-label">
            <a:extLst xmlns:a="http://schemas.openxmlformats.org/drawingml/2006/main">
              <a:ext uri="{FF2B5EF4-FFF2-40B4-BE49-F238E27FC236}">
                <a16:creationId xmlns:a16="http://schemas.microsoft.com/office/drawing/2014/main" id="{A0A13D97-BF10-4588-8C9A-596D9AACA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528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554A3"/>
                </a:solidFill>
              </a:defRPr>
            </a:pPr>
            <a:r>
              <a:rPr sz="1200" b="1">
                <a:solidFill>
                  <a:srgbClr val="1554A3"/>
                </a:solidFill>
              </a:rPr>
              <a:t>SOLUTION ARCHITECTURE</a:t>
            </a:r>
          </a:p>
        </p:txBody>
      </p:sp>
      <p:sp>
        <p:nvSpPr>
          <p:cNvPr id="8" name="architecture-group-0">
            <a:extLst xmlns:a="http://schemas.openxmlformats.org/drawingml/2006/main">
              <a:ext uri="{FF2B5EF4-FFF2-40B4-BE49-F238E27FC236}">
                <a16:creationId xmlns:a16="http://schemas.microsoft.com/office/drawing/2014/main" id="{8BD55722-634D-42B9-AAFD-4921E19F1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10050"/>
            <a:ext cx="3848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EF4FC"/>
          </a:solidFill>
          <a:ln xmlns:a="http://schemas.openxmlformats.org/drawingml/2006/main" w="19050">
            <a:solidFill>
              <a:srgbClr val="2F80ED"/>
            </a:solidFill>
            <a:prstDash val="solid"/>
          </a:ln>
        </p:spPr>
      </p:sp>
      <p:sp>
        <p:nvSpPr>
          <p:cNvPr id="9" name="architecture-group-0-title">
            <a:extLst xmlns:a="http://schemas.openxmlformats.org/drawingml/2006/main">
              <a:ext uri="{FF2B5EF4-FFF2-40B4-BE49-F238E27FC236}">
                <a16:creationId xmlns:a16="http://schemas.microsoft.com/office/drawing/2014/main" id="{7F36D183-B99D-42FD-BA3E-58D9B431D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434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F80ED"/>
                </a:solidFill>
              </a:defRPr>
            </a:pPr>
            <a:r>
              <a:rPr sz="975" b="1">
                <a:solidFill>
                  <a:srgbClr val="2F80ED"/>
                </a:solidFill>
              </a:rPr>
              <a:t>REFERENCE DATA</a:t>
            </a:r>
          </a:p>
        </p:txBody>
      </p:sp>
      <p:sp>
        <p:nvSpPr>
          <p:cNvPr id="10" name="architecture-chip-0-0">
            <a:extLst xmlns:a="http://schemas.openxmlformats.org/drawingml/2006/main">
              <a:ext uri="{FF2B5EF4-FFF2-40B4-BE49-F238E27FC236}">
                <a16:creationId xmlns:a16="http://schemas.microsoft.com/office/drawing/2014/main" id="{D1D38889-837D-4943-8799-3E645BDE6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2915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11" name="architecture-chip-0-0-text">
            <a:extLst xmlns:a="http://schemas.openxmlformats.org/drawingml/2006/main">
              <a:ext uri="{FF2B5EF4-FFF2-40B4-BE49-F238E27FC236}">
                <a16:creationId xmlns:a16="http://schemas.microsoft.com/office/drawing/2014/main" id="{15C1BAB5-CDE3-44FD-9C78-7D3C686C4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0535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Countries</a:t>
            </a:r>
          </a:p>
        </p:txBody>
      </p:sp>
      <p:sp>
        <p:nvSpPr>
          <p:cNvPr id="12" name="architecture-chip-0-1">
            <a:extLst xmlns:a="http://schemas.openxmlformats.org/drawingml/2006/main">
              <a:ext uri="{FF2B5EF4-FFF2-40B4-BE49-F238E27FC236}">
                <a16:creationId xmlns:a16="http://schemas.microsoft.com/office/drawing/2014/main" id="{317DDD91-E303-495F-9592-98CB1A530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62915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13" name="architecture-chip-0-1-text">
            <a:extLst xmlns:a="http://schemas.openxmlformats.org/drawingml/2006/main">
              <a:ext uri="{FF2B5EF4-FFF2-40B4-BE49-F238E27FC236}">
                <a16:creationId xmlns:a16="http://schemas.microsoft.com/office/drawing/2014/main" id="{B7661F65-25D3-4497-848C-B21ACFC4A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70535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Shipment Status</a:t>
            </a:r>
          </a:p>
        </p:txBody>
      </p:sp>
      <p:sp>
        <p:nvSpPr>
          <p:cNvPr id="14" name="architecture-chip-0-2">
            <a:extLst xmlns:a="http://schemas.openxmlformats.org/drawingml/2006/main">
              <a:ext uri="{FF2B5EF4-FFF2-40B4-BE49-F238E27FC236}">
                <a16:creationId xmlns:a16="http://schemas.microsoft.com/office/drawing/2014/main" id="{9D46CEEB-E206-4506-9EB8-93C595933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6730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15" name="architecture-chip-0-2-text">
            <a:extLst xmlns:a="http://schemas.openxmlformats.org/drawingml/2006/main">
              <a:ext uri="{FF2B5EF4-FFF2-40B4-BE49-F238E27FC236}">
                <a16:creationId xmlns:a16="http://schemas.microsoft.com/office/drawing/2014/main" id="{EADAA84B-A2BD-46BC-B691-0CA7725E9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4350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Material</a:t>
            </a:r>
          </a:p>
        </p:txBody>
      </p:sp>
      <p:sp>
        <p:nvSpPr>
          <p:cNvPr id="16" name="architecture-chip-0-3">
            <a:extLst xmlns:a="http://schemas.openxmlformats.org/drawingml/2006/main">
              <a:ext uri="{FF2B5EF4-FFF2-40B4-BE49-F238E27FC236}">
                <a16:creationId xmlns:a16="http://schemas.microsoft.com/office/drawing/2014/main" id="{3C4A6530-AD9E-4118-83B0-EEC0659FF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06730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17" name="architecture-chip-0-3-text">
            <a:extLst xmlns:a="http://schemas.openxmlformats.org/drawingml/2006/main">
              <a:ext uri="{FF2B5EF4-FFF2-40B4-BE49-F238E27FC236}">
                <a16:creationId xmlns:a16="http://schemas.microsoft.com/office/drawing/2014/main" id="{303C27E9-51F2-4EA1-9075-08708AD60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514350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Failure Reasons</a:t>
            </a:r>
          </a:p>
        </p:txBody>
      </p:sp>
      <p:sp>
        <p:nvSpPr>
          <p:cNvPr id="18" name="architecture-group-1">
            <a:extLst xmlns:a="http://schemas.openxmlformats.org/drawingml/2006/main">
              <a:ext uri="{FF2B5EF4-FFF2-40B4-BE49-F238E27FC236}">
                <a16:creationId xmlns:a16="http://schemas.microsoft.com/office/drawing/2014/main" id="{D6131485-0331-4794-8C8D-D9B615620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62600"/>
            <a:ext cx="3848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19050">
            <a:solidFill>
              <a:srgbClr val="1554A3"/>
            </a:solidFill>
            <a:prstDash val="solid"/>
          </a:ln>
        </p:spPr>
      </p:sp>
      <p:sp>
        <p:nvSpPr>
          <p:cNvPr id="19" name="architecture-group-1-title">
            <a:extLst xmlns:a="http://schemas.openxmlformats.org/drawingml/2006/main">
              <a:ext uri="{FF2B5EF4-FFF2-40B4-BE49-F238E27FC236}">
                <a16:creationId xmlns:a16="http://schemas.microsoft.com/office/drawing/2014/main" id="{53D12475-2223-469B-8E4C-B66197B57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6959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554A3"/>
                </a:solidFill>
              </a:defRPr>
            </a:pPr>
            <a:r>
              <a:rPr sz="975" b="1">
                <a:solidFill>
                  <a:srgbClr val="1554A3"/>
                </a:solidFill>
              </a:rPr>
              <a:t>BUSINESS ENTITIES</a:t>
            </a:r>
          </a:p>
        </p:txBody>
      </p:sp>
      <p:sp>
        <p:nvSpPr>
          <p:cNvPr id="20" name="architecture-chip-1-0">
            <a:extLst xmlns:a="http://schemas.openxmlformats.org/drawingml/2006/main">
              <a:ext uri="{FF2B5EF4-FFF2-40B4-BE49-F238E27FC236}">
                <a16:creationId xmlns:a16="http://schemas.microsoft.com/office/drawing/2014/main" id="{D7C2F8DF-16BF-466D-8481-534AF20B0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98170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21" name="architecture-chip-1-0-text">
            <a:extLst xmlns:a="http://schemas.openxmlformats.org/drawingml/2006/main">
              <a:ext uri="{FF2B5EF4-FFF2-40B4-BE49-F238E27FC236}">
                <a16:creationId xmlns:a16="http://schemas.microsoft.com/office/drawing/2014/main" id="{32936A50-C85A-4A33-9E41-2C815E700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05790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Customers</a:t>
            </a:r>
          </a:p>
        </p:txBody>
      </p:sp>
      <p:sp>
        <p:nvSpPr>
          <p:cNvPr id="22" name="architecture-chip-1-1">
            <a:extLst xmlns:a="http://schemas.openxmlformats.org/drawingml/2006/main">
              <a:ext uri="{FF2B5EF4-FFF2-40B4-BE49-F238E27FC236}">
                <a16:creationId xmlns:a16="http://schemas.microsoft.com/office/drawing/2014/main" id="{4D5B0DDB-B440-4EE2-B461-A1FBFD1F2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98170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23" name="architecture-chip-1-1-text">
            <a:extLst xmlns:a="http://schemas.openxmlformats.org/drawingml/2006/main">
              <a:ext uri="{FF2B5EF4-FFF2-40B4-BE49-F238E27FC236}">
                <a16:creationId xmlns:a16="http://schemas.microsoft.com/office/drawing/2014/main" id="{C72A413E-4D64-4100-AFB6-C89228663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605790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Hubs</a:t>
            </a:r>
          </a:p>
        </p:txBody>
      </p:sp>
      <p:sp>
        <p:nvSpPr>
          <p:cNvPr id="24" name="architecture-chip-1-2">
            <a:extLst xmlns:a="http://schemas.openxmlformats.org/drawingml/2006/main">
              <a:ext uri="{FF2B5EF4-FFF2-40B4-BE49-F238E27FC236}">
                <a16:creationId xmlns:a16="http://schemas.microsoft.com/office/drawing/2014/main" id="{57A97046-1D52-4D58-97A2-EEBEC8865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641985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25" name="architecture-chip-1-2-text">
            <a:extLst xmlns:a="http://schemas.openxmlformats.org/drawingml/2006/main">
              <a:ext uri="{FF2B5EF4-FFF2-40B4-BE49-F238E27FC236}">
                <a16:creationId xmlns:a16="http://schemas.microsoft.com/office/drawing/2014/main" id="{2F2534AB-1B8D-4C21-9EDA-AFEBE5B65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49605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Employees</a:t>
            </a:r>
          </a:p>
        </p:txBody>
      </p:sp>
      <p:sp>
        <p:nvSpPr>
          <p:cNvPr id="26" name="architecture-chip-1-3">
            <a:extLst xmlns:a="http://schemas.openxmlformats.org/drawingml/2006/main">
              <a:ext uri="{FF2B5EF4-FFF2-40B4-BE49-F238E27FC236}">
                <a16:creationId xmlns:a16="http://schemas.microsoft.com/office/drawing/2014/main" id="{F1079E50-39E3-4D98-A36C-09E7CE7EB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641985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27" name="architecture-chip-1-3-text">
            <a:extLst xmlns:a="http://schemas.openxmlformats.org/drawingml/2006/main">
              <a:ext uri="{FF2B5EF4-FFF2-40B4-BE49-F238E27FC236}">
                <a16:creationId xmlns:a16="http://schemas.microsoft.com/office/drawing/2014/main" id="{ACDB7063-68E3-42C8-BE7B-C3E05898A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649605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Couriers</a:t>
            </a:r>
          </a:p>
        </p:txBody>
      </p:sp>
      <p:sp>
        <p:nvSpPr>
          <p:cNvPr id="28" name="architecture-group-2">
            <a:extLst xmlns:a="http://schemas.openxmlformats.org/drawingml/2006/main">
              <a:ext uri="{FF2B5EF4-FFF2-40B4-BE49-F238E27FC236}">
                <a16:creationId xmlns:a16="http://schemas.microsoft.com/office/drawing/2014/main" id="{9142CBF5-AF40-4E60-9F1A-4E57C0F09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153400"/>
            <a:ext cx="384810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7F1"/>
          </a:solidFill>
          <a:ln xmlns:a="http://schemas.openxmlformats.org/drawingml/2006/main" w="19050">
            <a:solidFill>
              <a:srgbClr val="F47B2A"/>
            </a:solidFill>
            <a:prstDash val="solid"/>
          </a:ln>
        </p:spPr>
      </p:sp>
      <p:sp>
        <p:nvSpPr>
          <p:cNvPr id="29" name="architecture-group-2-title">
            <a:extLst xmlns:a="http://schemas.openxmlformats.org/drawingml/2006/main">
              <a:ext uri="{FF2B5EF4-FFF2-40B4-BE49-F238E27FC236}">
                <a16:creationId xmlns:a16="http://schemas.microsoft.com/office/drawing/2014/main" id="{AFB534C3-9E6D-4F74-9686-5BB138025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82867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47B2A"/>
                </a:solidFill>
              </a:defRPr>
            </a:pPr>
            <a:r>
              <a:rPr sz="975" b="1">
                <a:solidFill>
                  <a:srgbClr val="F47B2A"/>
                </a:solidFill>
              </a:rPr>
              <a:t>CONNECTED OPERATIONS</a:t>
            </a:r>
          </a:p>
        </p:txBody>
      </p:sp>
      <p:sp>
        <p:nvSpPr>
          <p:cNvPr id="30" name="architecture-chip-2-0">
            <a:extLst xmlns:a="http://schemas.openxmlformats.org/drawingml/2006/main">
              <a:ext uri="{FF2B5EF4-FFF2-40B4-BE49-F238E27FC236}">
                <a16:creationId xmlns:a16="http://schemas.microsoft.com/office/drawing/2014/main" id="{108FC487-7144-459A-96F0-A84C63F5C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57250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31" name="architecture-chip-2-0-text">
            <a:extLst xmlns:a="http://schemas.openxmlformats.org/drawingml/2006/main">
              <a:ext uri="{FF2B5EF4-FFF2-40B4-BE49-F238E27FC236}">
                <a16:creationId xmlns:a16="http://schemas.microsoft.com/office/drawing/2014/main" id="{EDAF5D33-66A9-414C-8559-9CE7091A4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864870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Tracking Events</a:t>
            </a:r>
          </a:p>
        </p:txBody>
      </p:sp>
      <p:sp>
        <p:nvSpPr>
          <p:cNvPr id="32" name="architecture-chip-2-1">
            <a:extLst xmlns:a="http://schemas.openxmlformats.org/drawingml/2006/main">
              <a:ext uri="{FF2B5EF4-FFF2-40B4-BE49-F238E27FC236}">
                <a16:creationId xmlns:a16="http://schemas.microsoft.com/office/drawing/2014/main" id="{E96DFD3E-1742-4F38-B0DB-1DB40441A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857250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33" name="architecture-chip-2-1-text">
            <a:extLst xmlns:a="http://schemas.openxmlformats.org/drawingml/2006/main">
              <a:ext uri="{FF2B5EF4-FFF2-40B4-BE49-F238E27FC236}">
                <a16:creationId xmlns:a16="http://schemas.microsoft.com/office/drawing/2014/main" id="{A446D77D-4C0D-423C-A541-766218CC3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864870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Delivery Attempts</a:t>
            </a:r>
          </a:p>
        </p:txBody>
      </p:sp>
      <p:sp>
        <p:nvSpPr>
          <p:cNvPr id="34" name="architecture-chip-2-2">
            <a:extLst xmlns:a="http://schemas.openxmlformats.org/drawingml/2006/main">
              <a:ext uri="{FF2B5EF4-FFF2-40B4-BE49-F238E27FC236}">
                <a16:creationId xmlns:a16="http://schemas.microsoft.com/office/drawing/2014/main" id="{1D73712F-4325-4458-87CB-C2EA8C68C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901065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35" name="architecture-chip-2-2-text">
            <a:extLst xmlns:a="http://schemas.openxmlformats.org/drawingml/2006/main">
              <a:ext uri="{FF2B5EF4-FFF2-40B4-BE49-F238E27FC236}">
                <a16:creationId xmlns:a16="http://schemas.microsoft.com/office/drawing/2014/main" id="{F4F3F4F4-8BBF-4BB9-8B00-775D87D79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08685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Payments</a:t>
            </a:r>
          </a:p>
        </p:txBody>
      </p:sp>
      <p:sp>
        <p:nvSpPr>
          <p:cNvPr id="36" name="architecture-chip-2-3">
            <a:extLst xmlns:a="http://schemas.openxmlformats.org/drawingml/2006/main">
              <a:ext uri="{FF2B5EF4-FFF2-40B4-BE49-F238E27FC236}">
                <a16:creationId xmlns:a16="http://schemas.microsoft.com/office/drawing/2014/main" id="{41BB6877-703B-4631-BB0F-D2DC7A03C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901065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37" name="architecture-chip-2-3-text">
            <a:extLst xmlns:a="http://schemas.openxmlformats.org/drawingml/2006/main">
              <a:ext uri="{FF2B5EF4-FFF2-40B4-BE49-F238E27FC236}">
                <a16:creationId xmlns:a16="http://schemas.microsoft.com/office/drawing/2014/main" id="{639EE7AF-0E34-4157-A82F-C01C8363D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908685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Proof of Delivery</a:t>
            </a:r>
          </a:p>
        </p:txBody>
      </p:sp>
      <p:sp>
        <p:nvSpPr>
          <p:cNvPr id="38" name="reference-to-core-line">
            <a:extLst xmlns:a="http://schemas.openxmlformats.org/drawingml/2006/main">
              <a:ext uri="{FF2B5EF4-FFF2-40B4-BE49-F238E27FC236}">
                <a16:creationId xmlns:a16="http://schemas.microsoft.com/office/drawing/2014/main" id="{65102B66-20FA-4C79-ABEC-EA23301EC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391150"/>
            <a:ext cx="38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entities-to-shipment-line">
            <a:extLst xmlns:a="http://schemas.openxmlformats.org/drawingml/2006/main">
              <a:ext uri="{FF2B5EF4-FFF2-40B4-BE49-F238E27FC236}">
                <a16:creationId xmlns:a16="http://schemas.microsoft.com/office/drawing/2014/main" id="{118A75ED-421C-4501-9071-51A8F492E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674370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entities-to-shipment-arrow">
            <a:extLst xmlns:a="http://schemas.openxmlformats.org/drawingml/2006/main">
              <a:ext uri="{FF2B5EF4-FFF2-40B4-BE49-F238E27FC236}">
                <a16:creationId xmlns:a16="http://schemas.microsoft.com/office/drawing/2014/main" id="{953186D4-15A6-4C4A-BFB1-9B1F34C63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6858000"/>
            <a:ext cx="247650" cy="1714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1554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shipments-core">
            <a:extLst xmlns:a="http://schemas.openxmlformats.org/drawingml/2006/main">
              <a:ext uri="{FF2B5EF4-FFF2-40B4-BE49-F238E27FC236}">
                <a16:creationId xmlns:a16="http://schemas.microsoft.com/office/drawing/2014/main" id="{12860E26-E262-4D7D-AF17-7ACA4C156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029450"/>
            <a:ext cx="354330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19050">
            <a:solidFill>
              <a:srgbClr val="1554A3"/>
            </a:solidFill>
            <a:prstDash val="solid"/>
          </a:ln>
        </p:spPr>
      </p:sp>
      <p:sp>
        <p:nvSpPr>
          <p:cNvPr id="42" name="shipments-core-icon">
            <a:extLst xmlns:a="http://schemas.openxmlformats.org/drawingml/2006/main">
              <a:ext uri="{FF2B5EF4-FFF2-40B4-BE49-F238E27FC236}">
                <a16:creationId xmlns:a16="http://schemas.microsoft.com/office/drawing/2014/main" id="{6DE6840B-F74A-4865-AE09-8E167094F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718185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shipments-core-icon-text">
            <a:extLst xmlns:a="http://schemas.openxmlformats.org/drawingml/2006/main">
              <a:ext uri="{FF2B5EF4-FFF2-40B4-BE49-F238E27FC236}">
                <a16:creationId xmlns:a16="http://schemas.microsoft.com/office/drawing/2014/main" id="{C86DB77C-E6D2-4B9E-838B-9A268D3C2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7353300"/>
            <a:ext cx="590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CORE</a:t>
            </a:r>
          </a:p>
        </p:txBody>
      </p:sp>
      <p:sp>
        <p:nvSpPr>
          <p:cNvPr id="44" name="shipments-core-title">
            <a:extLst xmlns:a="http://schemas.openxmlformats.org/drawingml/2006/main">
              <a:ext uri="{FF2B5EF4-FFF2-40B4-BE49-F238E27FC236}">
                <a16:creationId xmlns:a16="http://schemas.microsoft.com/office/drawing/2014/main" id="{04E1EC1F-B9D1-4030-903B-F37BFD5AF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71437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SHIPMENTS</a:t>
            </a:r>
          </a:p>
        </p:txBody>
      </p:sp>
      <p:sp>
        <p:nvSpPr>
          <p:cNvPr id="45" name="shipments-core-copy">
            <a:extLst xmlns:a="http://schemas.openxmlformats.org/drawingml/2006/main">
              <a:ext uri="{FF2B5EF4-FFF2-40B4-BE49-F238E27FC236}">
                <a16:creationId xmlns:a16="http://schemas.microsoft.com/office/drawing/2014/main" id="{DECCE158-482E-4DF3-80B5-ADD56D1CC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7467600"/>
            <a:ext cx="2266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Connects sender, receiver, hubs, status, material, and failure reason.</a:t>
            </a:r>
          </a:p>
        </p:txBody>
      </p:sp>
      <p:sp>
        <p:nvSpPr>
          <p:cNvPr id="46" name="shipment-to-operations-line">
            <a:extLst xmlns:a="http://schemas.openxmlformats.org/drawingml/2006/main">
              <a:ext uri="{FF2B5EF4-FFF2-40B4-BE49-F238E27FC236}">
                <a16:creationId xmlns:a16="http://schemas.microsoft.com/office/drawing/2014/main" id="{75F6AD2A-4FE5-46A8-8867-0C8BEA290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792480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shipment-to-operations-arrow">
            <a:extLst xmlns:a="http://schemas.openxmlformats.org/drawingml/2006/main">
              <a:ext uri="{FF2B5EF4-FFF2-40B4-BE49-F238E27FC236}">
                <a16:creationId xmlns:a16="http://schemas.microsoft.com/office/drawing/2014/main" id="{E481A58E-BA30-4B60-A20D-FA1E44E65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8039100"/>
            <a:ext cx="247650" cy="1714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architecture-count">
            <a:extLst xmlns:a="http://schemas.openxmlformats.org/drawingml/2006/main">
              <a:ext uri="{FF2B5EF4-FFF2-40B4-BE49-F238E27FC236}">
                <a16:creationId xmlns:a16="http://schemas.microsoft.com/office/drawing/2014/main" id="{C62EB733-78C0-4218-89EC-2F8EB5C50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9791700"/>
            <a:ext cx="361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2653"/>
                </a:solidFill>
              </a:defRPr>
            </a:pPr>
            <a:r>
              <a:rPr sz="1050" b="1">
                <a:solidFill>
                  <a:srgbClr val="082653"/>
                </a:solidFill>
              </a:rPr>
              <a:t>13 tables connected through primary and foreign keys</a:t>
            </a:r>
          </a:p>
        </p:txBody>
      </p:sp>
      <p:sp>
        <p:nvSpPr>
          <p:cNvPr id="49" name="architecture-caption">
            <a:extLst xmlns:a="http://schemas.openxmlformats.org/drawingml/2006/main">
              <a:ext uri="{FF2B5EF4-FFF2-40B4-BE49-F238E27FC236}">
                <a16:creationId xmlns:a16="http://schemas.microsoft.com/office/drawing/2014/main" id="{1E7F53F7-3984-4A4B-957C-2AF289FCE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0134600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718096"/>
                </a:solidFill>
              </a:defRPr>
            </a:pPr>
            <a:r>
              <a:rPr sz="975">
                <a:solidFill>
                  <a:srgbClr val="718096"/>
                </a:solidFill>
              </a:rPr>
              <a:t>Simplified solution view  ·  Full ERD documented in the project</a:t>
            </a:r>
          </a:p>
        </p:txBody>
      </p:sp>
      <p:sp>
        <p:nvSpPr>
          <p:cNvPr id="50" name="model-intro">
            <a:extLst xmlns:a="http://schemas.openxmlformats.org/drawingml/2006/main">
              <a:ext uri="{FF2B5EF4-FFF2-40B4-BE49-F238E27FC236}">
                <a16:creationId xmlns:a16="http://schemas.microsoft.com/office/drawing/2014/main" id="{774EF086-5251-4841-919E-4A1B6C3CE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543300"/>
            <a:ext cx="4191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E2D42"/>
                </a:solidFill>
              </a:defRPr>
            </a:pPr>
            <a:r>
              <a:rPr sz="1650" b="1">
                <a:solidFill>
                  <a:srgbClr val="1E2D42"/>
                </a:solidFill>
              </a:rPr>
              <a:t>I designed a relational SQL Server database to turn disconnected records into one traceable logistics system.</a:t>
            </a:r>
          </a:p>
        </p:txBody>
      </p:sp>
      <p:sp>
        <p:nvSpPr>
          <p:cNvPr id="51" name="metric-tables">
            <a:extLst xmlns:a="http://schemas.openxmlformats.org/drawingml/2006/main">
              <a:ext uri="{FF2B5EF4-FFF2-40B4-BE49-F238E27FC236}">
                <a16:creationId xmlns:a16="http://schemas.microsoft.com/office/drawing/2014/main" id="{45210A7B-2598-4E7C-B914-1D60CC9B1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629150"/>
            <a:ext cx="19621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metric-tables-value">
            <a:extLst xmlns:a="http://schemas.openxmlformats.org/drawingml/2006/main">
              <a:ext uri="{FF2B5EF4-FFF2-40B4-BE49-F238E27FC236}">
                <a16:creationId xmlns:a16="http://schemas.microsoft.com/office/drawing/2014/main" id="{C203774E-CB61-455E-81EF-01B7F01A4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762500"/>
            <a:ext cx="1581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13</a:t>
            </a:r>
          </a:p>
        </p:txBody>
      </p:sp>
      <p:sp>
        <p:nvSpPr>
          <p:cNvPr id="53" name="metric-tables-label">
            <a:extLst xmlns:a="http://schemas.openxmlformats.org/drawingml/2006/main">
              <a:ext uri="{FF2B5EF4-FFF2-40B4-BE49-F238E27FC236}">
                <a16:creationId xmlns:a16="http://schemas.microsoft.com/office/drawing/2014/main" id="{4C1C4FB9-6556-470C-BEFB-0CAA5FBE4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5314950"/>
            <a:ext cx="165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RELATIONAL TABLES</a:t>
            </a:r>
          </a:p>
        </p:txBody>
      </p:sp>
      <p:sp>
        <p:nvSpPr>
          <p:cNvPr id="54" name="metric-queries">
            <a:extLst xmlns:a="http://schemas.openxmlformats.org/drawingml/2006/main">
              <a:ext uri="{FF2B5EF4-FFF2-40B4-BE49-F238E27FC236}">
                <a16:creationId xmlns:a16="http://schemas.microsoft.com/office/drawing/2014/main" id="{DAEEBEF4-2AB2-43E7-A1C1-1981EAF9F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629150"/>
            <a:ext cx="20383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metric-queries-value">
            <a:extLst xmlns:a="http://schemas.openxmlformats.org/drawingml/2006/main">
              <a:ext uri="{FF2B5EF4-FFF2-40B4-BE49-F238E27FC236}">
                <a16:creationId xmlns:a16="http://schemas.microsoft.com/office/drawing/2014/main" id="{CBCB5D57-643F-4DC7-9465-A55F97E18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762500"/>
            <a:ext cx="1657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56" name="metric-queries-label">
            <a:extLst xmlns:a="http://schemas.openxmlformats.org/drawingml/2006/main">
              <a:ext uri="{FF2B5EF4-FFF2-40B4-BE49-F238E27FC236}">
                <a16:creationId xmlns:a16="http://schemas.microsoft.com/office/drawing/2014/main" id="{CECD62BF-7612-4143-8BFD-5832D5D88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3149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ANALYTICAL QUERIES</a:t>
            </a:r>
          </a:p>
        </p:txBody>
      </p:sp>
      <p:sp>
        <p:nvSpPr>
          <p:cNvPr id="57" name="point-01">
            <a:extLst xmlns:a="http://schemas.openxmlformats.org/drawingml/2006/main">
              <a:ext uri="{FF2B5EF4-FFF2-40B4-BE49-F238E27FC236}">
                <a16:creationId xmlns:a16="http://schemas.microsoft.com/office/drawing/2014/main" id="{3EFDC63C-8ECF-4F6F-B970-445A0FE5E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61150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4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point-01-number">
            <a:extLst xmlns:a="http://schemas.openxmlformats.org/drawingml/2006/main">
              <a:ext uri="{FF2B5EF4-FFF2-40B4-BE49-F238E27FC236}">
                <a16:creationId xmlns:a16="http://schemas.microsoft.com/office/drawing/2014/main" id="{1018C3BA-C4D5-4F67-9CFA-9E44E96E4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61912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59" name="point-01-heading">
            <a:extLst xmlns:a="http://schemas.openxmlformats.org/drawingml/2006/main">
              <a:ext uri="{FF2B5EF4-FFF2-40B4-BE49-F238E27FC236}">
                <a16:creationId xmlns:a16="http://schemas.microsoft.com/office/drawing/2014/main" id="{1F086110-7EF4-4F60-BC81-D54131E54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6105525"/>
            <a:ext cx="3581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2653"/>
                </a:solidFill>
              </a:defRPr>
            </a:pPr>
            <a:r>
              <a:rPr sz="1350" b="1">
                <a:solidFill>
                  <a:srgbClr val="082653"/>
                </a:solidFill>
              </a:rPr>
              <a:t>SINGLE SOURCE OF TRUTH</a:t>
            </a:r>
          </a:p>
        </p:txBody>
      </p:sp>
      <p:sp>
        <p:nvSpPr>
          <p:cNvPr id="60" name="point-01-body">
            <a:extLst xmlns:a="http://schemas.openxmlformats.org/drawingml/2006/main">
              <a:ext uri="{FF2B5EF4-FFF2-40B4-BE49-F238E27FC236}">
                <a16:creationId xmlns:a16="http://schemas.microsoft.com/office/drawing/2014/main" id="{2F7F1681-7F33-4D68-82C9-649F36FE9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6438900"/>
            <a:ext cx="3581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E2D42"/>
                </a:solidFill>
              </a:defRPr>
            </a:pPr>
            <a:r>
              <a:rPr sz="1275">
                <a:solidFill>
                  <a:srgbClr val="1E2D42"/>
                </a:solidFill>
              </a:rPr>
              <a:t>Customers, hubs, reference data, and shipments are connected through validated relationships.</a:t>
            </a:r>
          </a:p>
        </p:txBody>
      </p:sp>
      <p:sp>
        <p:nvSpPr>
          <p:cNvPr id="61" name="point-02">
            <a:extLst xmlns:a="http://schemas.openxmlformats.org/drawingml/2006/main">
              <a:ext uri="{FF2B5EF4-FFF2-40B4-BE49-F238E27FC236}">
                <a16:creationId xmlns:a16="http://schemas.microsoft.com/office/drawing/2014/main" id="{E05CC20D-CD9C-458B-8BCB-C8D9F32FB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74676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4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point-02-number">
            <a:extLst xmlns:a="http://schemas.openxmlformats.org/drawingml/2006/main">
              <a:ext uri="{FF2B5EF4-FFF2-40B4-BE49-F238E27FC236}">
                <a16:creationId xmlns:a16="http://schemas.microsoft.com/office/drawing/2014/main" id="{543B7405-73A1-4F24-8848-BC4EA2471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75438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63" name="point-02-heading">
            <a:extLst xmlns:a="http://schemas.openxmlformats.org/drawingml/2006/main">
              <a:ext uri="{FF2B5EF4-FFF2-40B4-BE49-F238E27FC236}">
                <a16:creationId xmlns:a16="http://schemas.microsoft.com/office/drawing/2014/main" id="{B67D4965-5980-4478-9D40-50EDB8562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7458075"/>
            <a:ext cx="3581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2653"/>
                </a:solidFill>
              </a:defRPr>
            </a:pPr>
            <a:r>
              <a:rPr sz="1350" b="1">
                <a:solidFill>
                  <a:srgbClr val="082653"/>
                </a:solidFill>
              </a:rPr>
              <a:t>END-TO-END TRACEABILITY</a:t>
            </a:r>
          </a:p>
        </p:txBody>
      </p:sp>
      <p:sp>
        <p:nvSpPr>
          <p:cNvPr id="64" name="point-02-body">
            <a:extLst xmlns:a="http://schemas.openxmlformats.org/drawingml/2006/main">
              <a:ext uri="{FF2B5EF4-FFF2-40B4-BE49-F238E27FC236}">
                <a16:creationId xmlns:a16="http://schemas.microsoft.com/office/drawing/2014/main" id="{29EB1142-2CFC-4382-B79C-F27BA3FA0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7791450"/>
            <a:ext cx="3581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E2D42"/>
                </a:solidFill>
              </a:defRPr>
            </a:pPr>
            <a:r>
              <a:rPr sz="1275">
                <a:solidFill>
                  <a:srgbClr val="1E2D42"/>
                </a:solidFill>
              </a:rPr>
              <a:t>Every tracking event, delivery attempt, payment, and proof of delivery remains linked to its shipment.</a:t>
            </a:r>
          </a:p>
        </p:txBody>
      </p:sp>
      <p:sp>
        <p:nvSpPr>
          <p:cNvPr id="65" name="point-03">
            <a:extLst xmlns:a="http://schemas.openxmlformats.org/drawingml/2006/main">
              <a:ext uri="{FF2B5EF4-FFF2-40B4-BE49-F238E27FC236}">
                <a16:creationId xmlns:a16="http://schemas.microsoft.com/office/drawing/2014/main" id="{E1D269F5-7BCC-451F-9C22-CF978CC5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88201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point-03-number">
            <a:extLst xmlns:a="http://schemas.openxmlformats.org/drawingml/2006/main">
              <a:ext uri="{FF2B5EF4-FFF2-40B4-BE49-F238E27FC236}">
                <a16:creationId xmlns:a16="http://schemas.microsoft.com/office/drawing/2014/main" id="{51940E02-E188-4966-A9E3-574780E9F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88963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67" name="point-03-heading">
            <a:extLst xmlns:a="http://schemas.openxmlformats.org/drawingml/2006/main">
              <a:ext uri="{FF2B5EF4-FFF2-40B4-BE49-F238E27FC236}">
                <a16:creationId xmlns:a16="http://schemas.microsoft.com/office/drawing/2014/main" id="{6930282A-EFB0-498F-B1A7-113F59A1A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8810625"/>
            <a:ext cx="3581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2653"/>
                </a:solidFill>
              </a:defRPr>
            </a:pPr>
            <a:r>
              <a:rPr sz="1350" b="1">
                <a:solidFill>
                  <a:srgbClr val="082653"/>
                </a:solidFill>
              </a:rPr>
              <a:t>DECISION-READY FOUNDATION</a:t>
            </a:r>
          </a:p>
        </p:txBody>
      </p:sp>
      <p:sp>
        <p:nvSpPr>
          <p:cNvPr id="68" name="point-03-body">
            <a:extLst xmlns:a="http://schemas.openxmlformats.org/drawingml/2006/main">
              <a:ext uri="{FF2B5EF4-FFF2-40B4-BE49-F238E27FC236}">
                <a16:creationId xmlns:a16="http://schemas.microsoft.com/office/drawing/2014/main" id="{AEB3EDD5-D158-4FAB-B77D-9B944A4C1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9144000"/>
            <a:ext cx="3581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E2D42"/>
                </a:solidFill>
              </a:defRPr>
            </a:pPr>
            <a:r>
              <a:rPr sz="1275">
                <a:solidFill>
                  <a:srgbClr val="1E2D42"/>
                </a:solidFill>
              </a:rPr>
              <a:t>Ten reusable queries expose delays, courier performance, hub throughput, stuck shipments, POD, and revenue.</a:t>
            </a:r>
          </a:p>
        </p:txBody>
      </p:sp>
      <p:sp>
        <p:nvSpPr>
          <p:cNvPr id="69" name="slide-04-result-band">
            <a:extLst xmlns:a="http://schemas.openxmlformats.org/drawingml/2006/main">
              <a:ext uri="{FF2B5EF4-FFF2-40B4-BE49-F238E27FC236}">
                <a16:creationId xmlns:a16="http://schemas.microsoft.com/office/drawing/2014/main" id="{09AB40E8-3C23-4607-B601-B8082A752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0191750"/>
            <a:ext cx="41910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result-label">
            <a:extLst xmlns:a="http://schemas.openxmlformats.org/drawingml/2006/main">
              <a:ext uri="{FF2B5EF4-FFF2-40B4-BE49-F238E27FC236}">
                <a16:creationId xmlns:a16="http://schemas.microsoft.com/office/drawing/2014/main" id="{87AF803D-0DB3-4017-AACC-D0E834A1C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1034415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47B2A"/>
                </a:solidFill>
              </a:defRPr>
            </a:pPr>
            <a:r>
              <a:rPr sz="1125" b="1">
                <a:solidFill>
                  <a:srgbClr val="F47B2A"/>
                </a:solidFill>
              </a:rPr>
              <a:t>RESULT</a:t>
            </a:r>
          </a:p>
        </p:txBody>
      </p:sp>
      <p:sp>
        <p:nvSpPr>
          <p:cNvPr id="71" name="result-copy">
            <a:extLst xmlns:a="http://schemas.openxmlformats.org/drawingml/2006/main">
              <a:ext uri="{FF2B5EF4-FFF2-40B4-BE49-F238E27FC236}">
                <a16:creationId xmlns:a16="http://schemas.microsoft.com/office/drawing/2014/main" id="{8BE80024-A204-4F0E-A25F-8425A8CB3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10648950"/>
            <a:ext cx="3657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A trusted SQL foundation for operational monitoring and Power BI.</a:t>
            </a:r>
          </a:p>
        </p:txBody>
      </p:sp>
      <p:sp>
        <p:nvSpPr>
          <p:cNvPr id="72" name="slide-04-footer-left">
            <a:extLst xmlns:a="http://schemas.openxmlformats.org/drawingml/2006/main">
              <a:ext uri="{FF2B5EF4-FFF2-40B4-BE49-F238E27FC236}">
                <a16:creationId xmlns:a16="http://schemas.microsoft.com/office/drawing/2014/main" id="{E39C872F-8A8B-406E-938B-5DB6E09E7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2682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82653"/>
                </a:solidFill>
              </a:defRPr>
            </a:pPr>
            <a:r>
              <a:rPr sz="1200" b="1">
                <a:solidFill>
                  <a:srgbClr val="082653"/>
                </a:solidFill>
              </a:rPr>
              <a:t>TRANSPORTATION &amp; LOGISTICS ANALYTICS</a:t>
            </a:r>
          </a:p>
        </p:txBody>
      </p:sp>
      <p:sp>
        <p:nvSpPr>
          <p:cNvPr id="73" name="slide-04-footer-right">
            <a:extLst xmlns:a="http://schemas.openxmlformats.org/drawingml/2006/main">
              <a:ext uri="{FF2B5EF4-FFF2-40B4-BE49-F238E27FC236}">
                <a16:creationId xmlns:a16="http://schemas.microsoft.com/office/drawing/2014/main" id="{8E6FC9E1-BFA0-4578-832A-545260017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2268200"/>
            <a:ext cx="3886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718096"/>
                </a:solidFill>
              </a:defRPr>
            </a:pPr>
            <a:r>
              <a:rPr sz="1200">
                <a:solidFill>
                  <a:srgbClr val="718096"/>
                </a:solidFill>
              </a:rPr>
              <a:t>MOHAMED TAREK  |  DATA ANALYST</a:t>
            </a:r>
          </a:p>
        </p:txBody>
      </p:sp>
    </p:spTree>
    <p:extLst>
      <p:ext uri="{BB962C8B-B14F-4D97-AF65-F5344CB8AC3E}">
        <p14:creationId xmlns:p14="http://schemas.microsoft.com/office/powerpoint/2010/main" val="72726289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slide-05-top-accent">
            <a:extLst xmlns:a="http://schemas.openxmlformats.org/drawingml/2006/main">
              <a:ext uri="{FF2B5EF4-FFF2-40B4-BE49-F238E27FC236}">
                <a16:creationId xmlns:a16="http://schemas.microsoft.com/office/drawing/2014/main" id="{B0F77FD5-865D-4D8B-ACD1-D5C3BF16E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76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05-eyebrow">
            <a:extLst xmlns:a="http://schemas.openxmlformats.org/drawingml/2006/main">
              <a:ext uri="{FF2B5EF4-FFF2-40B4-BE49-F238E27FC236}">
                <a16:creationId xmlns:a16="http://schemas.microsoft.com/office/drawing/2014/main" id="{A15EF46F-927A-486B-AFBC-D4482306E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554A3"/>
                </a:solidFill>
              </a:defRPr>
            </a:pPr>
            <a:r>
              <a:rPr sz="1500" b="1">
                <a:solidFill>
                  <a:srgbClr val="1554A3"/>
                </a:solidFill>
              </a:rPr>
              <a:t>POWER BI DASHBOARD</a:t>
            </a:r>
          </a:p>
        </p:txBody>
      </p:sp>
      <p:sp>
        <p:nvSpPr>
          <p:cNvPr id="3" name="slide-05-number">
            <a:extLst xmlns:a="http://schemas.openxmlformats.org/drawingml/2006/main">
              <a:ext uri="{FF2B5EF4-FFF2-40B4-BE49-F238E27FC236}">
                <a16:creationId xmlns:a16="http://schemas.microsoft.com/office/drawing/2014/main" id="{FE415FCF-8F73-48AC-BC0B-ABD15653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942975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718096"/>
                </a:solidFill>
              </a:defRPr>
            </a:pPr>
            <a:r>
              <a:rPr sz="1350" b="1">
                <a:solidFill>
                  <a:srgbClr val="718096"/>
                </a:solidFill>
              </a:rPr>
              <a:t>05 / 08</a:t>
            </a:r>
          </a:p>
        </p:txBody>
      </p:sp>
      <p:sp>
        <p:nvSpPr>
          <p:cNvPr id="4" name="slide-05-title">
            <a:extLst xmlns:a="http://schemas.openxmlformats.org/drawingml/2006/main">
              <a:ext uri="{FF2B5EF4-FFF2-40B4-BE49-F238E27FC236}">
                <a16:creationId xmlns:a16="http://schemas.microsoft.com/office/drawing/2014/main" id="{65DF9415-5B34-4A65-B336-81F5A2CD8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8915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75" b="1">
                <a:solidFill>
                  <a:srgbClr val="082653"/>
                </a:solidFill>
              </a:defRPr>
            </a:pPr>
            <a:r>
              <a:rPr sz="3375" b="1">
                <a:solidFill>
                  <a:srgbClr val="082653"/>
                </a:solidFill>
              </a:rPr>
              <a:t>ONE DASHBOARD. THREE</a:t>
            </a:r>
          </a:p>
          <a:p xmlns:a="http://schemas.openxmlformats.org/drawingml/2006/main">
            <a:pPr>
              <a:defRPr sz="3375" b="1">
                <a:solidFill>
                  <a:srgbClr val="082653"/>
                </a:solidFill>
              </a:defRPr>
            </a:pPr>
            <a:r>
              <a:rPr sz="3375" b="1">
                <a:solidFill>
                  <a:srgbClr val="082653"/>
                </a:solidFill>
              </a:rPr>
              <a:t>OPERATIONAL VIEWS.</a:t>
            </a:r>
          </a:p>
        </p:txBody>
      </p:sp>
      <p:sp>
        <p:nvSpPr>
          <p:cNvPr id="5" name="slide-05-subtitle">
            <a:extLst xmlns:a="http://schemas.openxmlformats.org/drawingml/2006/main">
              <a:ext uri="{FF2B5EF4-FFF2-40B4-BE49-F238E27FC236}">
                <a16:creationId xmlns:a16="http://schemas.microsoft.com/office/drawing/2014/main" id="{9E153AEC-4FCC-438D-868A-C8D3EBD06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876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E2D42"/>
                </a:solidFill>
              </a:defRPr>
            </a:pPr>
            <a:r>
              <a:rPr sz="1575">
                <a:solidFill>
                  <a:srgbClr val="1E2D42"/>
                </a:solidFill>
              </a:rPr>
              <a:t>Interactive pages move from the overall delay problem to the supplier, customer, vehicle, and GPS drivers behind it.</a:t>
            </a:r>
          </a:p>
        </p:txBody>
      </p:sp>
      <p:sp>
        <p:nvSpPr>
          <p:cNvPr id="6" name="delay-dashboard-frame">
            <a:extLst xmlns:a="http://schemas.openxmlformats.org/drawingml/2006/main">
              <a:ext uri="{FF2B5EF4-FFF2-40B4-BE49-F238E27FC236}">
                <a16:creationId xmlns:a16="http://schemas.microsoft.com/office/drawing/2014/main" id="{C4445605-7C49-4EF8-9929-9BA8C24B6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05200"/>
            <a:ext cx="8915400" cy="4953000"/>
          </a:xfrm>
          <a:prstGeom xmlns:a="http://schemas.openxmlformats.org/drawingml/2006/main" prst="roundRect">
            <a:avLst>
              <a:gd name="adj" fmla="val 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6253349bea4973"/>
          <a:stretch xmlns:a="http://schemas.openxmlformats.org/drawingml/2006/main"/>
        </p:blipFill>
        <p:spPr>
          <a:xfrm xmlns:a="http://schemas.openxmlformats.org/drawingml/2006/main">
            <a:off x="800100" y="3619500"/>
            <a:ext cx="8686800" cy="4886325"/>
          </a:xfrm>
          <a:prstGeom xmlns:a="http://schemas.openxmlformats.org/drawingml/2006/main" prst="rect">
            <a:avLst/>
          </a:prstGeom>
        </p:spPr>
      </p:pic>
      <p:sp>
        <p:nvSpPr>
          <p:cNvPr id="8" name="delay-dashboard-label-bg">
            <a:extLst xmlns:a="http://schemas.openxmlformats.org/drawingml/2006/main">
              <a:ext uri="{FF2B5EF4-FFF2-40B4-BE49-F238E27FC236}">
                <a16:creationId xmlns:a16="http://schemas.microsoft.com/office/drawing/2014/main" id="{802CC5E9-55D4-4298-A8B7-47FE5AEAA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33800"/>
            <a:ext cx="316230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delay-dashboard-label">
            <a:extLst xmlns:a="http://schemas.openxmlformats.org/drawingml/2006/main">
              <a:ext uri="{FF2B5EF4-FFF2-40B4-BE49-F238E27FC236}">
                <a16:creationId xmlns:a16="http://schemas.microsoft.com/office/drawing/2014/main" id="{E2A06521-4C0B-45CF-8BEF-FEBF9791C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76675"/>
            <a:ext cx="2781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01  DELAY ANALYSIS</a:t>
            </a:r>
          </a:p>
        </p:txBody>
      </p:sp>
      <p:sp>
        <p:nvSpPr>
          <p:cNvPr id="10" name="supplier-dashboard-frame">
            <a:extLst xmlns:a="http://schemas.openxmlformats.org/drawingml/2006/main">
              <a:ext uri="{FF2B5EF4-FFF2-40B4-BE49-F238E27FC236}">
                <a16:creationId xmlns:a16="http://schemas.microsoft.com/office/drawing/2014/main" id="{9D083712-D3D0-453F-927B-E770D1962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43950"/>
            <a:ext cx="4305300" cy="2419350"/>
          </a:xfrm>
          <a:prstGeom xmlns:a="http://schemas.openxmlformats.org/drawingml/2006/main" prst="roundRect">
            <a:avLst>
              <a:gd name="adj" fmla="val 31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b8b64c19354166"/>
          <a:stretch xmlns:a="http://schemas.openxmlformats.org/drawingml/2006/main"/>
        </p:blipFill>
        <p:spPr>
          <a:xfrm xmlns:a="http://schemas.openxmlformats.org/drawingml/2006/main">
            <a:off x="762000" y="8820150"/>
            <a:ext cx="4152900" cy="2333625"/>
          </a:xfrm>
          <a:prstGeom xmlns:a="http://schemas.openxmlformats.org/drawingml/2006/main" prst="rect">
            <a:avLst/>
          </a:prstGeom>
        </p:spPr>
      </p:pic>
      <p:sp>
        <p:nvSpPr>
          <p:cNvPr id="12" name="supplier-label-bg">
            <a:extLst xmlns:a="http://schemas.openxmlformats.org/drawingml/2006/main">
              <a:ext uri="{FF2B5EF4-FFF2-40B4-BE49-F238E27FC236}">
                <a16:creationId xmlns:a16="http://schemas.microsoft.com/office/drawing/2014/main" id="{6F9D94C1-BB87-428F-845C-318910749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896350"/>
            <a:ext cx="2324100" cy="4000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supplier-label">
            <a:extLst xmlns:a="http://schemas.openxmlformats.org/drawingml/2006/main">
              <a:ext uri="{FF2B5EF4-FFF2-40B4-BE49-F238E27FC236}">
                <a16:creationId xmlns:a16="http://schemas.microsoft.com/office/drawing/2014/main" id="{68E76B1C-C952-4ED5-91C7-FE687B414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9010650"/>
            <a:ext cx="2076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02  SUPPLIERS &amp; CUSTOMERS</a:t>
            </a:r>
          </a:p>
        </p:txBody>
      </p:sp>
      <p:sp>
        <p:nvSpPr>
          <p:cNvPr id="14" name="fleet-dashboard-frame">
            <a:extLst xmlns:a="http://schemas.openxmlformats.org/drawingml/2006/main">
              <a:ext uri="{FF2B5EF4-FFF2-40B4-BE49-F238E27FC236}">
                <a16:creationId xmlns:a16="http://schemas.microsoft.com/office/drawing/2014/main" id="{AC61CC1E-4726-4642-BDBE-7072E65FB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8743950"/>
            <a:ext cx="4305300" cy="2419350"/>
          </a:xfrm>
          <a:prstGeom xmlns:a="http://schemas.openxmlformats.org/drawingml/2006/main" prst="roundRect">
            <a:avLst>
              <a:gd name="adj" fmla="val 31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29b0dbe6fd4703"/>
          <a:stretch xmlns:a="http://schemas.openxmlformats.org/drawingml/2006/main"/>
        </p:blipFill>
        <p:spPr>
          <a:xfrm xmlns:a="http://schemas.openxmlformats.org/drawingml/2006/main">
            <a:off x="5372100" y="8820150"/>
            <a:ext cx="4152900" cy="2333625"/>
          </a:xfrm>
          <a:prstGeom xmlns:a="http://schemas.openxmlformats.org/drawingml/2006/main" prst="rect">
            <a:avLst/>
          </a:prstGeom>
        </p:spPr>
      </p:pic>
      <p:sp>
        <p:nvSpPr>
          <p:cNvPr id="16" name="fleet-label-bg">
            <a:extLst xmlns:a="http://schemas.openxmlformats.org/drawingml/2006/main">
              <a:ext uri="{FF2B5EF4-FFF2-40B4-BE49-F238E27FC236}">
                <a16:creationId xmlns:a16="http://schemas.microsoft.com/office/drawing/2014/main" id="{DB3BC748-E47A-49FA-989A-7B19D3945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8896350"/>
            <a:ext cx="1866900" cy="4000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5B3B9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fleet-label">
            <a:extLst xmlns:a="http://schemas.openxmlformats.org/drawingml/2006/main">
              <a:ext uri="{FF2B5EF4-FFF2-40B4-BE49-F238E27FC236}">
                <a16:creationId xmlns:a16="http://schemas.microsoft.com/office/drawing/2014/main" id="{44B989A7-D431-43A8-9F58-373B43B93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9010650"/>
            <a:ext cx="1600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03  FLEET &amp; GPS</a:t>
            </a:r>
          </a:p>
        </p:txBody>
      </p:sp>
      <p:sp>
        <p:nvSpPr>
          <p:cNvPr id="18" name="slide-05-summary-band">
            <a:extLst xmlns:a="http://schemas.openxmlformats.org/drawingml/2006/main">
              <a:ext uri="{FF2B5EF4-FFF2-40B4-BE49-F238E27FC236}">
                <a16:creationId xmlns:a16="http://schemas.microsoft.com/office/drawing/2014/main" id="{5564BAD7-54AA-436A-82D0-6894369D6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468100"/>
            <a:ext cx="89154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slide-05-summary-label">
            <a:extLst xmlns:a="http://schemas.openxmlformats.org/drawingml/2006/main">
              <a:ext uri="{FF2B5EF4-FFF2-40B4-BE49-F238E27FC236}">
                <a16:creationId xmlns:a16="http://schemas.microsoft.com/office/drawing/2014/main" id="{32D2D07D-72FB-48DA-B05A-BFA70C2EA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16395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FROM SQL MODEL TO INTERACTIVE MONITORING</a:t>
            </a:r>
          </a:p>
        </p:txBody>
      </p:sp>
      <p:sp>
        <p:nvSpPr>
          <p:cNvPr id="20" name="slide-05-summary-stats">
            <a:extLst xmlns:a="http://schemas.openxmlformats.org/drawingml/2006/main">
              <a:ext uri="{FF2B5EF4-FFF2-40B4-BE49-F238E27FC236}">
                <a16:creationId xmlns:a16="http://schemas.microsoft.com/office/drawing/2014/main" id="{C6914B1A-2F3C-458F-8CC5-F2DD37F0E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116395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47B2A"/>
                </a:solidFill>
              </a:defRPr>
            </a:pPr>
            <a:r>
              <a:rPr sz="975" b="1">
                <a:solidFill>
                  <a:srgbClr val="F47B2A"/>
                </a:solidFill>
              </a:rPr>
              <a:t>6,773 SHIPMENTS  ·  32 FEATURES  ·  MAR 2019–SEP 2020</a:t>
            </a:r>
          </a:p>
        </p:txBody>
      </p:sp>
      <p:sp>
        <p:nvSpPr>
          <p:cNvPr id="21" name="slide-05-footer-left">
            <a:extLst xmlns:a="http://schemas.openxmlformats.org/drawingml/2006/main">
              <a:ext uri="{FF2B5EF4-FFF2-40B4-BE49-F238E27FC236}">
                <a16:creationId xmlns:a16="http://schemas.microsoft.com/office/drawing/2014/main" id="{5A3A5778-FE3C-420E-8A77-AE4D3118F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2682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82653"/>
                </a:solidFill>
              </a:defRPr>
            </a:pPr>
            <a:r>
              <a:rPr sz="1200" b="1">
                <a:solidFill>
                  <a:srgbClr val="082653"/>
                </a:solidFill>
              </a:rPr>
              <a:t>TRANSPORTATION &amp; LOGISTICS ANALYTICS</a:t>
            </a:r>
          </a:p>
        </p:txBody>
      </p:sp>
      <p:sp>
        <p:nvSpPr>
          <p:cNvPr id="22" name="slide-05-footer-right">
            <a:extLst xmlns:a="http://schemas.openxmlformats.org/drawingml/2006/main">
              <a:ext uri="{FF2B5EF4-FFF2-40B4-BE49-F238E27FC236}">
                <a16:creationId xmlns:a16="http://schemas.microsoft.com/office/drawing/2014/main" id="{A33EB5DD-5DE7-4240-A9C9-FE4478DA3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2268200"/>
            <a:ext cx="3886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718096"/>
                </a:solidFill>
              </a:defRPr>
            </a:pPr>
            <a:r>
              <a:rPr sz="1200">
                <a:solidFill>
                  <a:srgbClr val="718096"/>
                </a:solidFill>
              </a:rPr>
              <a:t>MOHAMED TAREK  |  DATA ANALYST</a:t>
            </a:r>
          </a:p>
        </p:txBody>
      </p:sp>
    </p:spTree>
    <p:extLst>
      <p:ext uri="{BB962C8B-B14F-4D97-AF65-F5344CB8AC3E}">
        <p14:creationId xmlns:p14="http://schemas.microsoft.com/office/powerpoint/2010/main" val="74241541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1" name="slide-06-top-accent">
            <a:extLst xmlns:a="http://schemas.openxmlformats.org/drawingml/2006/main">
              <a:ext uri="{FF2B5EF4-FFF2-40B4-BE49-F238E27FC236}">
                <a16:creationId xmlns:a16="http://schemas.microsoft.com/office/drawing/2014/main" id="{66E470DA-73BC-4652-8657-E474B9E0D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76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06-eyebrow">
            <a:extLst xmlns:a="http://schemas.openxmlformats.org/drawingml/2006/main">
              <a:ext uri="{FF2B5EF4-FFF2-40B4-BE49-F238E27FC236}">
                <a16:creationId xmlns:a16="http://schemas.microsoft.com/office/drawing/2014/main" id="{66F527D1-8C67-4171-9DE7-C252D6AED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554A3"/>
                </a:solidFill>
              </a:defRPr>
            </a:pPr>
            <a:r>
              <a:rPr sz="1500" b="1">
                <a:solidFill>
                  <a:srgbClr val="1554A3"/>
                </a:solidFill>
              </a:rPr>
              <a:t>KEY INSIGHTS</a:t>
            </a:r>
          </a:p>
        </p:txBody>
      </p:sp>
      <p:sp>
        <p:nvSpPr>
          <p:cNvPr id="3" name="slide-06-number">
            <a:extLst xmlns:a="http://schemas.openxmlformats.org/drawingml/2006/main">
              <a:ext uri="{FF2B5EF4-FFF2-40B4-BE49-F238E27FC236}">
                <a16:creationId xmlns:a16="http://schemas.microsoft.com/office/drawing/2014/main" id="{D1DAF640-3BF4-43B7-BB63-1DF8E8A4D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942975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718096"/>
                </a:solidFill>
              </a:defRPr>
            </a:pPr>
            <a:r>
              <a:rPr sz="1350" b="1">
                <a:solidFill>
                  <a:srgbClr val="718096"/>
                </a:solidFill>
              </a:rPr>
              <a:t>06 / 08</a:t>
            </a:r>
          </a:p>
        </p:txBody>
      </p:sp>
      <p:sp>
        <p:nvSpPr>
          <p:cNvPr id="4" name="slide-06-title">
            <a:extLst xmlns:a="http://schemas.openxmlformats.org/drawingml/2006/main">
              <a:ext uri="{FF2B5EF4-FFF2-40B4-BE49-F238E27FC236}">
                <a16:creationId xmlns:a16="http://schemas.microsoft.com/office/drawing/2014/main" id="{9EAF6F45-3DFF-4332-A2FE-32F2D49C7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8915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082653"/>
                </a:solidFill>
              </a:defRPr>
            </a:pPr>
            <a:r>
              <a:rPr sz="3225" b="1">
                <a:solidFill>
                  <a:srgbClr val="082653"/>
                </a:solidFill>
              </a:rPr>
              <a:t>THE DELAY PROBLEM HAS</a:t>
            </a:r>
          </a:p>
          <a:p xmlns:a="http://schemas.openxmlformats.org/drawingml/2006/main">
            <a:pPr>
              <a:defRPr sz="3225" b="1">
                <a:solidFill>
                  <a:srgbClr val="082653"/>
                </a:solidFill>
              </a:defRPr>
            </a:pPr>
            <a:r>
              <a:rPr sz="3225" b="1">
                <a:solidFill>
                  <a:srgbClr val="082653"/>
                </a:solidFill>
              </a:rPr>
              <a:t>CLEAR OPERATIONAL DRIVERS</a:t>
            </a:r>
          </a:p>
        </p:txBody>
      </p:sp>
      <p:sp>
        <p:nvSpPr>
          <p:cNvPr id="5" name="slide-06-subtitle">
            <a:extLst xmlns:a="http://schemas.openxmlformats.org/drawingml/2006/main">
              <a:ext uri="{FF2B5EF4-FFF2-40B4-BE49-F238E27FC236}">
                <a16:creationId xmlns:a16="http://schemas.microsoft.com/office/drawing/2014/main" id="{E76B65B3-13E2-445B-A8C7-2A5E74B44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E2D42"/>
                </a:solidFill>
              </a:defRPr>
            </a:pPr>
            <a:r>
              <a:rPr sz="1575">
                <a:solidFill>
                  <a:srgbClr val="1E2D42"/>
                </a:solidFill>
              </a:rPr>
              <a:t>The risk is concentrated across time, distance, tracking quality, vehicle type, and partner performance.</a:t>
            </a:r>
          </a:p>
        </p:txBody>
      </p:sp>
      <p:sp>
        <p:nvSpPr>
          <p:cNvPr id="6" name="crisis-band">
            <a:extLst xmlns:a="http://schemas.openxmlformats.org/drawingml/2006/main">
              <a:ext uri="{FF2B5EF4-FFF2-40B4-BE49-F238E27FC236}">
                <a16:creationId xmlns:a16="http://schemas.microsoft.com/office/drawing/2014/main" id="{419372BB-DA75-4DA5-851C-178D73EFC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89154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D20A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crisis-label">
            <a:extLst xmlns:a="http://schemas.openxmlformats.org/drawingml/2006/main">
              <a:ext uri="{FF2B5EF4-FFF2-40B4-BE49-F238E27FC236}">
                <a16:creationId xmlns:a16="http://schemas.microsoft.com/office/drawing/2014/main" id="{4A7CF106-9BBE-4A9D-BA6B-86543CE34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957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CRISIS PERIOD</a:t>
            </a:r>
          </a:p>
        </p:txBody>
      </p:sp>
      <p:sp>
        <p:nvSpPr>
          <p:cNvPr id="8" name="crisis-value">
            <a:extLst xmlns:a="http://schemas.openxmlformats.org/drawingml/2006/main">
              <a:ext uri="{FF2B5EF4-FFF2-40B4-BE49-F238E27FC236}">
                <a16:creationId xmlns:a16="http://schemas.microsoft.com/office/drawing/2014/main" id="{5E0F3F90-C770-4F7F-9016-0913C391A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81450"/>
            <a:ext cx="285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96–100%</a:t>
            </a:r>
          </a:p>
        </p:txBody>
      </p:sp>
      <p:sp>
        <p:nvSpPr>
          <p:cNvPr id="9" name="crisis-copy">
            <a:extLst xmlns:a="http://schemas.openxmlformats.org/drawingml/2006/main">
              <a:ext uri="{FF2B5EF4-FFF2-40B4-BE49-F238E27FC236}">
                <a16:creationId xmlns:a16="http://schemas.microsoft.com/office/drawing/2014/main" id="{BDBAD825-D642-47DE-8070-CCC6B1841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810000"/>
            <a:ext cx="3905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delay rate sustained across the dashboard crisis period</a:t>
            </a:r>
          </a:p>
        </p:txBody>
      </p:sp>
      <p:sp>
        <p:nvSpPr>
          <p:cNvPr id="10" name="crisis-period">
            <a:extLst xmlns:a="http://schemas.openxmlformats.org/drawingml/2006/main">
              <a:ext uri="{FF2B5EF4-FFF2-40B4-BE49-F238E27FC236}">
                <a16:creationId xmlns:a16="http://schemas.microsoft.com/office/drawing/2014/main" id="{359B430A-3A03-4468-804D-2CEEEAB22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000500"/>
            <a:ext cx="1581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FFE7E8"/>
                </a:solidFill>
              </a:defRPr>
            </a:pPr>
            <a:r>
              <a:rPr sz="1200" b="1">
                <a:solidFill>
                  <a:srgbClr val="FFE7E8"/>
                </a:solidFill>
              </a:rPr>
              <a:t>JUL 2019 – MAY 2020</a:t>
            </a:r>
          </a:p>
        </p:txBody>
      </p:sp>
      <p:sp>
        <p:nvSpPr>
          <p:cNvPr id="11" name="distance-card">
            <a:extLst xmlns:a="http://schemas.openxmlformats.org/drawingml/2006/main">
              <a:ext uri="{FF2B5EF4-FFF2-40B4-BE49-F238E27FC236}">
                <a16:creationId xmlns:a16="http://schemas.microsoft.com/office/drawing/2014/main" id="{116F17E7-8715-4A2F-9E28-A452429D5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0"/>
            <a:ext cx="430530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12" name="distance-title">
            <a:extLst xmlns:a="http://schemas.openxmlformats.org/drawingml/2006/main">
              <a:ext uri="{FF2B5EF4-FFF2-40B4-BE49-F238E27FC236}">
                <a16:creationId xmlns:a16="http://schemas.microsoft.com/office/drawing/2014/main" id="{6CA784C7-D96A-409D-AA12-F85843C8E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530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2653"/>
                </a:solidFill>
              </a:defRPr>
            </a:pPr>
            <a:r>
              <a:rPr sz="1350" b="1">
                <a:solidFill>
                  <a:srgbClr val="082653"/>
                </a:solidFill>
              </a:rPr>
              <a:t>01  DISTANCE RISK</a:t>
            </a:r>
          </a:p>
        </p:txBody>
      </p:sp>
      <p:sp>
        <p:nvSpPr>
          <p:cNvPr id="13" name="distance-copy">
            <a:extLst xmlns:a="http://schemas.openxmlformats.org/drawingml/2006/main">
              <a:ext uri="{FF2B5EF4-FFF2-40B4-BE49-F238E27FC236}">
                <a16:creationId xmlns:a16="http://schemas.microsoft.com/office/drawing/2014/main" id="{1B96A6EA-7410-4A55-A87A-F08CD18CF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5785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E2D42"/>
                </a:solidFill>
              </a:defRPr>
            </a:pPr>
            <a:r>
              <a:rPr sz="1200">
                <a:solidFill>
                  <a:srgbClr val="1E2D42"/>
                </a:solidFill>
              </a:rPr>
              <a:t>Very long and short routes show the highest delay rates.</a:t>
            </a:r>
          </a:p>
        </p:txBody>
      </p:sp>
      <p:sp>
        <p:nvSpPr>
          <p:cNvPr id="14" name="distance-label-0">
            <a:extLst xmlns:a="http://schemas.openxmlformats.org/drawingml/2006/main">
              <a:ext uri="{FF2B5EF4-FFF2-40B4-BE49-F238E27FC236}">
                <a16:creationId xmlns:a16="http://schemas.microsoft.com/office/drawing/2014/main" id="{1CB436DB-B375-4157-BF53-8E1881F66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21030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18096"/>
                </a:solidFill>
              </a:defRPr>
            </a:pPr>
            <a:r>
              <a:rPr sz="900" b="1">
                <a:solidFill>
                  <a:srgbClr val="718096"/>
                </a:solidFill>
              </a:rPr>
              <a:t>VERY LONG</a:t>
            </a:r>
          </a:p>
        </p:txBody>
      </p:sp>
      <p:sp>
        <p:nvSpPr>
          <p:cNvPr id="15" name="distance-track-0">
            <a:extLst xmlns:a="http://schemas.openxmlformats.org/drawingml/2006/main">
              <a:ext uri="{FF2B5EF4-FFF2-40B4-BE49-F238E27FC236}">
                <a16:creationId xmlns:a16="http://schemas.microsoft.com/office/drawing/2014/main" id="{EE6ACC8C-5083-4024-803A-1BBA1482E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191250"/>
            <a:ext cx="2343150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distance-bar-0">
            <a:extLst xmlns:a="http://schemas.openxmlformats.org/drawingml/2006/main">
              <a:ext uri="{FF2B5EF4-FFF2-40B4-BE49-F238E27FC236}">
                <a16:creationId xmlns:a16="http://schemas.microsoft.com/office/drawing/2014/main" id="{AF049854-CF0E-4005-974A-2BC32BDBB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191250"/>
            <a:ext cx="1899826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D20A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distance-value-0">
            <a:extLst xmlns:a="http://schemas.openxmlformats.org/drawingml/2006/main">
              <a:ext uri="{FF2B5EF4-FFF2-40B4-BE49-F238E27FC236}">
                <a16:creationId xmlns:a16="http://schemas.microsoft.com/office/drawing/2014/main" id="{F9DE646A-1F67-4F31-849D-FE1FDC80A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62007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81.08%</a:t>
            </a:r>
          </a:p>
        </p:txBody>
      </p:sp>
      <p:sp>
        <p:nvSpPr>
          <p:cNvPr id="18" name="distance-label-1">
            <a:extLst xmlns:a="http://schemas.openxmlformats.org/drawingml/2006/main">
              <a:ext uri="{FF2B5EF4-FFF2-40B4-BE49-F238E27FC236}">
                <a16:creationId xmlns:a16="http://schemas.microsoft.com/office/drawing/2014/main" id="{A93C8F26-6CA9-4CC3-9543-CC8F5387F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3415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18096"/>
                </a:solidFill>
              </a:defRPr>
            </a:pPr>
            <a:r>
              <a:rPr sz="900" b="1">
                <a:solidFill>
                  <a:srgbClr val="718096"/>
                </a:solidFill>
              </a:rPr>
              <a:t>SHORT</a:t>
            </a:r>
          </a:p>
        </p:txBody>
      </p:sp>
      <p:sp>
        <p:nvSpPr>
          <p:cNvPr id="19" name="distance-track-1">
            <a:extLst xmlns:a="http://schemas.openxmlformats.org/drawingml/2006/main">
              <a:ext uri="{FF2B5EF4-FFF2-40B4-BE49-F238E27FC236}">
                <a16:creationId xmlns:a16="http://schemas.microsoft.com/office/drawing/2014/main" id="{002DEF72-8589-4077-A4BD-8A543A70C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515100"/>
            <a:ext cx="2343150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distance-bar-1">
            <a:extLst xmlns:a="http://schemas.openxmlformats.org/drawingml/2006/main">
              <a:ext uri="{FF2B5EF4-FFF2-40B4-BE49-F238E27FC236}">
                <a16:creationId xmlns:a16="http://schemas.microsoft.com/office/drawing/2014/main" id="{91D4C5D4-5657-40CC-9CA3-0BEB2FD9D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515100"/>
            <a:ext cx="1712374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distance-value-1">
            <a:extLst xmlns:a="http://schemas.openxmlformats.org/drawingml/2006/main">
              <a:ext uri="{FF2B5EF4-FFF2-40B4-BE49-F238E27FC236}">
                <a16:creationId xmlns:a16="http://schemas.microsoft.com/office/drawing/2014/main" id="{76EE9318-73E7-4366-AF66-8183138FE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652462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73.08%</a:t>
            </a:r>
          </a:p>
        </p:txBody>
      </p:sp>
      <p:sp>
        <p:nvSpPr>
          <p:cNvPr id="22" name="distance-label-2">
            <a:extLst xmlns:a="http://schemas.openxmlformats.org/drawingml/2006/main">
              <a:ext uri="{FF2B5EF4-FFF2-40B4-BE49-F238E27FC236}">
                <a16:creationId xmlns:a16="http://schemas.microsoft.com/office/drawing/2014/main" id="{F6AA9444-52FF-448D-9FD0-0C00C4BD7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18096"/>
                </a:solidFill>
              </a:defRPr>
            </a:pPr>
            <a:r>
              <a:rPr sz="900" b="1">
                <a:solidFill>
                  <a:srgbClr val="718096"/>
                </a:solidFill>
              </a:rPr>
              <a:t>LONG</a:t>
            </a:r>
          </a:p>
        </p:txBody>
      </p:sp>
      <p:sp>
        <p:nvSpPr>
          <p:cNvPr id="23" name="distance-track-2">
            <a:extLst xmlns:a="http://schemas.openxmlformats.org/drawingml/2006/main">
              <a:ext uri="{FF2B5EF4-FFF2-40B4-BE49-F238E27FC236}">
                <a16:creationId xmlns:a16="http://schemas.microsoft.com/office/drawing/2014/main" id="{F137F97A-B7D7-4912-9C58-F661D927B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838950"/>
            <a:ext cx="2343150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distance-bar-2">
            <a:extLst xmlns:a="http://schemas.openxmlformats.org/drawingml/2006/main">
              <a:ext uri="{FF2B5EF4-FFF2-40B4-BE49-F238E27FC236}">
                <a16:creationId xmlns:a16="http://schemas.microsoft.com/office/drawing/2014/main" id="{4CED1335-4454-41F2-A18E-A679C7DB8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838950"/>
            <a:ext cx="1226873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5A2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distance-value-2">
            <a:extLst xmlns:a="http://schemas.openxmlformats.org/drawingml/2006/main">
              <a:ext uri="{FF2B5EF4-FFF2-40B4-BE49-F238E27FC236}">
                <a16:creationId xmlns:a16="http://schemas.microsoft.com/office/drawing/2014/main" id="{0F125BD0-C43E-4816-9B06-319530093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68484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52.36%</a:t>
            </a:r>
          </a:p>
        </p:txBody>
      </p:sp>
      <p:sp>
        <p:nvSpPr>
          <p:cNvPr id="26" name="distance-label-3">
            <a:extLst xmlns:a="http://schemas.openxmlformats.org/drawingml/2006/main">
              <a:ext uri="{FF2B5EF4-FFF2-40B4-BE49-F238E27FC236}">
                <a16:creationId xmlns:a16="http://schemas.microsoft.com/office/drawing/2014/main" id="{38645A66-A064-4525-9747-B9ADDF7B8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18185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18096"/>
                </a:solidFill>
              </a:defRPr>
            </a:pPr>
            <a:r>
              <a:rPr sz="900" b="1">
                <a:solidFill>
                  <a:srgbClr val="718096"/>
                </a:solidFill>
              </a:rPr>
              <a:t>MEDIUM</a:t>
            </a:r>
          </a:p>
        </p:txBody>
      </p:sp>
      <p:sp>
        <p:nvSpPr>
          <p:cNvPr id="27" name="distance-track-3">
            <a:extLst xmlns:a="http://schemas.openxmlformats.org/drawingml/2006/main">
              <a:ext uri="{FF2B5EF4-FFF2-40B4-BE49-F238E27FC236}">
                <a16:creationId xmlns:a16="http://schemas.microsoft.com/office/drawing/2014/main" id="{1C9CA9D3-A58E-4A58-B49C-88929A885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7162800"/>
            <a:ext cx="2343150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distance-bar-3">
            <a:extLst xmlns:a="http://schemas.openxmlformats.org/drawingml/2006/main">
              <a:ext uri="{FF2B5EF4-FFF2-40B4-BE49-F238E27FC236}">
                <a16:creationId xmlns:a16="http://schemas.microsoft.com/office/drawing/2014/main" id="{28434C94-029E-44DE-9659-C1FF7DAD7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7162800"/>
            <a:ext cx="1010366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distance-value-3">
            <a:extLst xmlns:a="http://schemas.openxmlformats.org/drawingml/2006/main">
              <a:ext uri="{FF2B5EF4-FFF2-40B4-BE49-F238E27FC236}">
                <a16:creationId xmlns:a16="http://schemas.microsoft.com/office/drawing/2014/main" id="{C50DEFBB-4190-4AB7-8554-4F9482FB3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717232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43.12%</a:t>
            </a:r>
          </a:p>
        </p:txBody>
      </p:sp>
      <p:sp>
        <p:nvSpPr>
          <p:cNvPr id="30" name="gps-card">
            <a:extLst xmlns:a="http://schemas.openxmlformats.org/drawingml/2006/main">
              <a:ext uri="{FF2B5EF4-FFF2-40B4-BE49-F238E27FC236}">
                <a16:creationId xmlns:a16="http://schemas.microsoft.com/office/drawing/2014/main" id="{ED2AA1BD-7052-4069-9B33-3C300AAF4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5143500"/>
            <a:ext cx="430530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31" name="gps-title">
            <a:extLst xmlns:a="http://schemas.openxmlformats.org/drawingml/2006/main">
              <a:ext uri="{FF2B5EF4-FFF2-40B4-BE49-F238E27FC236}">
                <a16:creationId xmlns:a16="http://schemas.microsoft.com/office/drawing/2014/main" id="{951383B3-626C-457A-AB67-DD21373A5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3530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2653"/>
                </a:solidFill>
              </a:defRPr>
            </a:pPr>
            <a:r>
              <a:rPr sz="1350" b="1">
                <a:solidFill>
                  <a:srgbClr val="082653"/>
                </a:solidFill>
              </a:rPr>
              <a:t>02  GPS PROVIDER GAP</a:t>
            </a:r>
          </a:p>
        </p:txBody>
      </p:sp>
      <p:sp>
        <p:nvSpPr>
          <p:cNvPr id="32" name="gps-copy">
            <a:extLst xmlns:a="http://schemas.openxmlformats.org/drawingml/2006/main">
              <a:ext uri="{FF2B5EF4-FFF2-40B4-BE49-F238E27FC236}">
                <a16:creationId xmlns:a16="http://schemas.microsoft.com/office/drawing/2014/main" id="{1D518442-354C-4274-8439-4FEF30000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65785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E2D42"/>
                </a:solidFill>
              </a:defRPr>
            </a:pPr>
            <a:r>
              <a:rPr sz="1200">
                <a:solidFill>
                  <a:srgbClr val="1E2D42"/>
                </a:solidFill>
              </a:rPr>
              <a:t>Tracking-provider performance varies dramatically.</a:t>
            </a:r>
          </a:p>
        </p:txBody>
      </p:sp>
      <p:sp>
        <p:nvSpPr>
          <p:cNvPr id="33" name="gps-label-0">
            <a:extLst xmlns:a="http://schemas.openxmlformats.org/drawingml/2006/main">
              <a:ext uri="{FF2B5EF4-FFF2-40B4-BE49-F238E27FC236}">
                <a16:creationId xmlns:a16="http://schemas.microsoft.com/office/drawing/2014/main" id="{E36DC33B-CDED-4E18-80C0-6AB512BC0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621030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18096"/>
                </a:solidFill>
              </a:defRPr>
            </a:pPr>
            <a:r>
              <a:rPr sz="900" b="1">
                <a:solidFill>
                  <a:srgbClr val="718096"/>
                </a:solidFill>
              </a:rPr>
              <a:t>MANUAL</a:t>
            </a:r>
          </a:p>
        </p:txBody>
      </p:sp>
      <p:sp>
        <p:nvSpPr>
          <p:cNvPr id="34" name="gps-track-0">
            <a:extLst xmlns:a="http://schemas.openxmlformats.org/drawingml/2006/main">
              <a:ext uri="{FF2B5EF4-FFF2-40B4-BE49-F238E27FC236}">
                <a16:creationId xmlns:a16="http://schemas.microsoft.com/office/drawing/2014/main" id="{16BFA52E-3159-4452-A7D3-BF26A1236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6191250"/>
            <a:ext cx="2343150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gps-bar-0">
            <a:extLst xmlns:a="http://schemas.openxmlformats.org/drawingml/2006/main">
              <a:ext uri="{FF2B5EF4-FFF2-40B4-BE49-F238E27FC236}">
                <a16:creationId xmlns:a16="http://schemas.microsoft.com/office/drawing/2014/main" id="{69AEA46E-3535-4F2A-850E-3A34D63B0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6191250"/>
            <a:ext cx="2319719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D20A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gps-value-0">
            <a:extLst xmlns:a="http://schemas.openxmlformats.org/drawingml/2006/main">
              <a:ext uri="{FF2B5EF4-FFF2-40B4-BE49-F238E27FC236}">
                <a16:creationId xmlns:a16="http://schemas.microsoft.com/office/drawing/2014/main" id="{151A387C-1116-4B9E-8C04-42FBC9DE9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6200775"/>
            <a:ext cx="514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99%</a:t>
            </a:r>
          </a:p>
        </p:txBody>
      </p:sp>
      <p:sp>
        <p:nvSpPr>
          <p:cNvPr id="37" name="gps-label-1">
            <a:extLst xmlns:a="http://schemas.openxmlformats.org/drawingml/2006/main">
              <a:ext uri="{FF2B5EF4-FFF2-40B4-BE49-F238E27FC236}">
                <a16:creationId xmlns:a16="http://schemas.microsoft.com/office/drawing/2014/main" id="{554588E2-2D3B-48BC-8FC1-76296CB70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653415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18096"/>
                </a:solidFill>
              </a:defRPr>
            </a:pPr>
            <a:r>
              <a:rPr sz="900" b="1">
                <a:solidFill>
                  <a:srgbClr val="718096"/>
                </a:solidFill>
              </a:rPr>
              <a:t>CONSENT</a:t>
            </a:r>
          </a:p>
        </p:txBody>
      </p:sp>
      <p:sp>
        <p:nvSpPr>
          <p:cNvPr id="38" name="gps-track-1">
            <a:extLst xmlns:a="http://schemas.openxmlformats.org/drawingml/2006/main">
              <a:ext uri="{FF2B5EF4-FFF2-40B4-BE49-F238E27FC236}">
                <a16:creationId xmlns:a16="http://schemas.microsoft.com/office/drawing/2014/main" id="{C76D1000-7651-401D-BFB0-C9B10E7FD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6515100"/>
            <a:ext cx="2343150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gps-bar-1">
            <a:extLst xmlns:a="http://schemas.openxmlformats.org/drawingml/2006/main">
              <a:ext uri="{FF2B5EF4-FFF2-40B4-BE49-F238E27FC236}">
                <a16:creationId xmlns:a16="http://schemas.microsoft.com/office/drawing/2014/main" id="{B86AB4EC-D9DA-4910-B214-BA0963999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6515100"/>
            <a:ext cx="2038541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D20A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gps-value-1">
            <a:extLst xmlns:a="http://schemas.openxmlformats.org/drawingml/2006/main">
              <a:ext uri="{FF2B5EF4-FFF2-40B4-BE49-F238E27FC236}">
                <a16:creationId xmlns:a16="http://schemas.microsoft.com/office/drawing/2014/main" id="{68D62C05-5DC0-42E1-B693-AE8378988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6524625"/>
            <a:ext cx="514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87%</a:t>
            </a:r>
          </a:p>
        </p:txBody>
      </p:sp>
      <p:sp>
        <p:nvSpPr>
          <p:cNvPr id="41" name="gps-label-2">
            <a:extLst xmlns:a="http://schemas.openxmlformats.org/drawingml/2006/main">
              <a:ext uri="{FF2B5EF4-FFF2-40B4-BE49-F238E27FC236}">
                <a16:creationId xmlns:a16="http://schemas.microsoft.com/office/drawing/2014/main" id="{0C8721E4-F433-4C48-93C8-910D26EA0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685800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18096"/>
                </a:solidFill>
              </a:defRPr>
            </a:pPr>
            <a:r>
              <a:rPr sz="900" b="1">
                <a:solidFill>
                  <a:srgbClr val="718096"/>
                </a:solidFill>
              </a:rPr>
              <a:t>EKTA</a:t>
            </a:r>
          </a:p>
        </p:txBody>
      </p:sp>
      <p:sp>
        <p:nvSpPr>
          <p:cNvPr id="42" name="gps-track-2">
            <a:extLst xmlns:a="http://schemas.openxmlformats.org/drawingml/2006/main">
              <a:ext uri="{FF2B5EF4-FFF2-40B4-BE49-F238E27FC236}">
                <a16:creationId xmlns:a16="http://schemas.microsoft.com/office/drawing/2014/main" id="{8378E505-2EAD-4546-9515-AB4476B88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6838950"/>
            <a:ext cx="2343150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gps-bar-2">
            <a:extLst xmlns:a="http://schemas.openxmlformats.org/drawingml/2006/main">
              <a:ext uri="{FF2B5EF4-FFF2-40B4-BE49-F238E27FC236}">
                <a16:creationId xmlns:a16="http://schemas.microsoft.com/office/drawing/2014/main" id="{79C32838-C17D-4C41-A53E-81E45E5F0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6838950"/>
            <a:ext cx="1663637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gps-value-2">
            <a:extLst xmlns:a="http://schemas.openxmlformats.org/drawingml/2006/main">
              <a:ext uri="{FF2B5EF4-FFF2-40B4-BE49-F238E27FC236}">
                <a16:creationId xmlns:a16="http://schemas.microsoft.com/office/drawing/2014/main" id="{FACB64A1-A521-4418-8D38-D5CD8975B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6848475"/>
            <a:ext cx="514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71%</a:t>
            </a:r>
          </a:p>
        </p:txBody>
      </p:sp>
      <p:sp>
        <p:nvSpPr>
          <p:cNvPr id="45" name="gps-label-3">
            <a:extLst xmlns:a="http://schemas.openxmlformats.org/drawingml/2006/main">
              <a:ext uri="{FF2B5EF4-FFF2-40B4-BE49-F238E27FC236}">
                <a16:creationId xmlns:a16="http://schemas.microsoft.com/office/drawing/2014/main" id="{7DF950AB-E30E-4C76-AB4F-0A38501DA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718185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18096"/>
                </a:solidFill>
              </a:defRPr>
            </a:pPr>
            <a:r>
              <a:rPr sz="900" b="1">
                <a:solidFill>
                  <a:srgbClr val="718096"/>
                </a:solidFill>
              </a:rPr>
              <a:t>VAMOSYS</a:t>
            </a:r>
          </a:p>
        </p:txBody>
      </p:sp>
      <p:sp>
        <p:nvSpPr>
          <p:cNvPr id="46" name="gps-track-3">
            <a:extLst xmlns:a="http://schemas.openxmlformats.org/drawingml/2006/main">
              <a:ext uri="{FF2B5EF4-FFF2-40B4-BE49-F238E27FC236}">
                <a16:creationId xmlns:a16="http://schemas.microsoft.com/office/drawing/2014/main" id="{8CC5AF95-2890-4521-A8F2-2156E61B7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7162800"/>
            <a:ext cx="2343150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gps-bar-3">
            <a:extLst xmlns:a="http://schemas.openxmlformats.org/drawingml/2006/main">
              <a:ext uri="{FF2B5EF4-FFF2-40B4-BE49-F238E27FC236}">
                <a16:creationId xmlns:a16="http://schemas.microsoft.com/office/drawing/2014/main" id="{CB9A5961-EEF0-41E7-BF6C-068A622C7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7162800"/>
            <a:ext cx="281178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gps-value-3">
            <a:extLst xmlns:a="http://schemas.openxmlformats.org/drawingml/2006/main">
              <a:ext uri="{FF2B5EF4-FFF2-40B4-BE49-F238E27FC236}">
                <a16:creationId xmlns:a16="http://schemas.microsoft.com/office/drawing/2014/main" id="{A0A0711E-FA27-471E-B238-17E105958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7172325"/>
            <a:ext cx="514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12%</a:t>
            </a:r>
          </a:p>
        </p:txBody>
      </p:sp>
      <p:sp>
        <p:nvSpPr>
          <p:cNvPr id="49" name="vehicle-card">
            <a:extLst xmlns:a="http://schemas.openxmlformats.org/drawingml/2006/main">
              <a:ext uri="{FF2B5EF4-FFF2-40B4-BE49-F238E27FC236}">
                <a16:creationId xmlns:a16="http://schemas.microsoft.com/office/drawing/2014/main" id="{7A5A5986-D64A-489C-9B28-012B6409A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62900"/>
            <a:ext cx="4305300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50" name="vehicle-title">
            <a:extLst xmlns:a="http://schemas.openxmlformats.org/drawingml/2006/main">
              <a:ext uri="{FF2B5EF4-FFF2-40B4-BE49-F238E27FC236}">
                <a16:creationId xmlns:a16="http://schemas.microsoft.com/office/drawing/2014/main" id="{8F26A4CD-5AED-4EC1-AA9B-A78047725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172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2653"/>
                </a:solidFill>
              </a:defRPr>
            </a:pPr>
            <a:r>
              <a:rPr sz="1350" b="1">
                <a:solidFill>
                  <a:srgbClr val="082653"/>
                </a:solidFill>
              </a:rPr>
              <a:t>03  VEHICLE PRESSURE</a:t>
            </a:r>
          </a:p>
        </p:txBody>
      </p:sp>
      <p:sp>
        <p:nvSpPr>
          <p:cNvPr id="51" name="vehicle-value-a">
            <a:extLst xmlns:a="http://schemas.openxmlformats.org/drawingml/2006/main">
              <a:ext uri="{FF2B5EF4-FFF2-40B4-BE49-F238E27FC236}">
                <a16:creationId xmlns:a16="http://schemas.microsoft.com/office/drawing/2014/main" id="{27C1999F-2480-4A77-82A8-CCE739EF0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62965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D20A16"/>
                </a:solidFill>
              </a:defRPr>
            </a:pPr>
            <a:r>
              <a:rPr sz="2850" b="1">
                <a:solidFill>
                  <a:srgbClr val="D20A16"/>
                </a:solidFill>
              </a:rPr>
              <a:t>81.53%</a:t>
            </a:r>
          </a:p>
        </p:txBody>
      </p:sp>
      <p:sp>
        <p:nvSpPr>
          <p:cNvPr id="52" name="vehicle-label-a">
            <a:extLst xmlns:a="http://schemas.openxmlformats.org/drawingml/2006/main">
              <a:ext uri="{FF2B5EF4-FFF2-40B4-BE49-F238E27FC236}">
                <a16:creationId xmlns:a16="http://schemas.microsoft.com/office/drawing/2014/main" id="{8212F041-4A35-4416-BA88-2960E2D15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249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718096"/>
                </a:solidFill>
              </a:defRPr>
            </a:pPr>
            <a:r>
              <a:rPr sz="975" b="1">
                <a:solidFill>
                  <a:srgbClr val="718096"/>
                </a:solidFill>
              </a:rPr>
              <a:t>32 FT SINGLE-AXLE 7MT</a:t>
            </a:r>
          </a:p>
        </p:txBody>
      </p:sp>
      <p:sp>
        <p:nvSpPr>
          <p:cNvPr id="53" name="vehicle-value-b">
            <a:extLst xmlns:a="http://schemas.openxmlformats.org/drawingml/2006/main">
              <a:ext uri="{FF2B5EF4-FFF2-40B4-BE49-F238E27FC236}">
                <a16:creationId xmlns:a16="http://schemas.microsoft.com/office/drawing/2014/main" id="{E7667820-5FC6-4A7B-A7D5-C6974F875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862965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47B2A"/>
                </a:solidFill>
              </a:defRPr>
            </a:pPr>
            <a:r>
              <a:rPr sz="2850" b="1">
                <a:solidFill>
                  <a:srgbClr val="F47B2A"/>
                </a:solidFill>
              </a:rPr>
              <a:t>80.81%</a:t>
            </a:r>
          </a:p>
        </p:txBody>
      </p:sp>
      <p:sp>
        <p:nvSpPr>
          <p:cNvPr id="54" name="vehicle-label-b">
            <a:extLst xmlns:a="http://schemas.openxmlformats.org/drawingml/2006/main">
              <a:ext uri="{FF2B5EF4-FFF2-40B4-BE49-F238E27FC236}">
                <a16:creationId xmlns:a16="http://schemas.microsoft.com/office/drawing/2014/main" id="{8E5C59BB-B2D4-4647-912F-C9A357823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91249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718096"/>
                </a:solidFill>
              </a:defRPr>
            </a:pPr>
            <a:r>
              <a:rPr sz="975" b="1">
                <a:solidFill>
                  <a:srgbClr val="718096"/>
                </a:solidFill>
              </a:rPr>
              <a:t>40 FT 3XL TRAILER 35MT</a:t>
            </a:r>
          </a:p>
        </p:txBody>
      </p:sp>
      <p:sp>
        <p:nvSpPr>
          <p:cNvPr id="55" name="vehicle-volume-strip">
            <a:extLst xmlns:a="http://schemas.openxmlformats.org/drawingml/2006/main">
              <a:ext uri="{FF2B5EF4-FFF2-40B4-BE49-F238E27FC236}">
                <a16:creationId xmlns:a16="http://schemas.microsoft.com/office/drawing/2014/main" id="{99311ADD-275F-4376-AC75-6B41806B6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563100"/>
            <a:ext cx="36957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EF4FC"/>
          </a:solidFill>
          <a:ln xmlns:a="http://schemas.openxmlformats.org/drawingml/2006/main" w="9525">
            <a:solidFill>
              <a:srgbClr val="2F80ED"/>
            </a:solidFill>
            <a:prstDash val="solid"/>
          </a:ln>
        </p:spPr>
      </p:sp>
      <p:sp>
        <p:nvSpPr>
          <p:cNvPr id="56" name="vehicle-volume">
            <a:extLst xmlns:a="http://schemas.openxmlformats.org/drawingml/2006/main">
              <a:ext uri="{FF2B5EF4-FFF2-40B4-BE49-F238E27FC236}">
                <a16:creationId xmlns:a16="http://schemas.microsoft.com/office/drawing/2014/main" id="{F43ED691-29FC-45B7-9ACB-BAF747C72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9696450"/>
            <a:ext cx="3390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554A3"/>
                </a:solidFill>
              </a:defRPr>
            </a:pPr>
            <a:r>
              <a:rPr sz="975" b="1">
                <a:solidFill>
                  <a:srgbClr val="1554A3"/>
                </a:solidFill>
              </a:rPr>
              <a:t>2,559 trips on the highest-volume 40 FT 3XL trailer</a:t>
            </a:r>
          </a:p>
        </p:txBody>
      </p:sp>
      <p:sp>
        <p:nvSpPr>
          <p:cNvPr id="57" name="partner-card">
            <a:extLst xmlns:a="http://schemas.openxmlformats.org/drawingml/2006/main">
              <a:ext uri="{FF2B5EF4-FFF2-40B4-BE49-F238E27FC236}">
                <a16:creationId xmlns:a16="http://schemas.microsoft.com/office/drawing/2014/main" id="{4A9099E9-4ACC-499F-9F98-5C468CBAF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7962900"/>
            <a:ext cx="4305300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58" name="partner-title">
            <a:extLst xmlns:a="http://schemas.openxmlformats.org/drawingml/2006/main">
              <a:ext uri="{FF2B5EF4-FFF2-40B4-BE49-F238E27FC236}">
                <a16:creationId xmlns:a16="http://schemas.microsoft.com/office/drawing/2014/main" id="{5772C580-416C-4FD1-B244-D99B8617F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8172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2653"/>
                </a:solidFill>
              </a:defRPr>
            </a:pPr>
            <a:r>
              <a:rPr sz="1350" b="1">
                <a:solidFill>
                  <a:srgbClr val="082653"/>
                </a:solidFill>
              </a:rPr>
              <a:t>04  PARTNER HOTSPOTS</a:t>
            </a:r>
          </a:p>
        </p:txBody>
      </p:sp>
      <p:sp>
        <p:nvSpPr>
          <p:cNvPr id="59" name="supplier-risk-label">
            <a:extLst xmlns:a="http://schemas.openxmlformats.org/drawingml/2006/main">
              <a:ext uri="{FF2B5EF4-FFF2-40B4-BE49-F238E27FC236}">
                <a16:creationId xmlns:a16="http://schemas.microsoft.com/office/drawing/2014/main" id="{83E943C8-0B00-425D-8664-88CA93AFA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866775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718096"/>
                </a:solidFill>
              </a:defRPr>
            </a:pPr>
            <a:r>
              <a:rPr sz="975" b="1">
                <a:solidFill>
                  <a:srgbClr val="718096"/>
                </a:solidFill>
              </a:rPr>
              <a:t>SUPPLIER</a:t>
            </a:r>
          </a:p>
        </p:txBody>
      </p:sp>
      <p:sp>
        <p:nvSpPr>
          <p:cNvPr id="60" name="supplier-risk-value">
            <a:extLst xmlns:a="http://schemas.openxmlformats.org/drawingml/2006/main">
              <a:ext uri="{FF2B5EF4-FFF2-40B4-BE49-F238E27FC236}">
                <a16:creationId xmlns:a16="http://schemas.microsoft.com/office/drawing/2014/main" id="{97B7B0A6-E34D-47D7-99B9-C935284D6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8896350"/>
            <a:ext cx="152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D20A16"/>
                </a:solidFill>
              </a:defRPr>
            </a:pPr>
            <a:r>
              <a:rPr sz="2700" b="1">
                <a:solidFill>
                  <a:srgbClr val="D20A16"/>
                </a:solidFill>
              </a:rPr>
              <a:t>95.38%</a:t>
            </a:r>
          </a:p>
        </p:txBody>
      </p:sp>
      <p:sp>
        <p:nvSpPr>
          <p:cNvPr id="61" name="supplier-risk-name">
            <a:extLst xmlns:a="http://schemas.openxmlformats.org/drawingml/2006/main">
              <a:ext uri="{FF2B5EF4-FFF2-40B4-BE49-F238E27FC236}">
                <a16:creationId xmlns:a16="http://schemas.microsoft.com/office/drawing/2014/main" id="{23D0D583-4C15-4992-9C80-0C60B9524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9334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2D42"/>
                </a:solidFill>
              </a:defRPr>
            </a:pPr>
            <a:r>
              <a:rPr sz="1050" b="1">
                <a:solidFill>
                  <a:srgbClr val="1E2D42"/>
                </a:solidFill>
              </a:rPr>
              <a:t>K. Ramachandran</a:t>
            </a:r>
          </a:p>
        </p:txBody>
      </p:sp>
      <p:sp>
        <p:nvSpPr>
          <p:cNvPr id="62" name="customer-risk-label">
            <a:extLst xmlns:a="http://schemas.openxmlformats.org/drawingml/2006/main">
              <a:ext uri="{FF2B5EF4-FFF2-40B4-BE49-F238E27FC236}">
                <a16:creationId xmlns:a16="http://schemas.microsoft.com/office/drawing/2014/main" id="{B0F866A5-0BEC-4830-A513-D00E61D06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866775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718096"/>
                </a:solidFill>
              </a:defRPr>
            </a:pPr>
            <a:r>
              <a:rPr sz="975" b="1">
                <a:solidFill>
                  <a:srgbClr val="718096"/>
                </a:solidFill>
              </a:rPr>
              <a:t>CUSTOMER</a:t>
            </a:r>
          </a:p>
        </p:txBody>
      </p:sp>
      <p:sp>
        <p:nvSpPr>
          <p:cNvPr id="63" name="customer-risk-value">
            <a:extLst xmlns:a="http://schemas.openxmlformats.org/drawingml/2006/main">
              <a:ext uri="{FF2B5EF4-FFF2-40B4-BE49-F238E27FC236}">
                <a16:creationId xmlns:a16="http://schemas.microsoft.com/office/drawing/2014/main" id="{01110B34-5CCA-44F5-AA3E-5E37CC9E2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8896350"/>
            <a:ext cx="152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47B2A"/>
                </a:solidFill>
              </a:defRPr>
            </a:pPr>
            <a:r>
              <a:rPr sz="2700" b="1">
                <a:solidFill>
                  <a:srgbClr val="F47B2A"/>
                </a:solidFill>
              </a:rPr>
              <a:t>73.35%</a:t>
            </a:r>
          </a:p>
        </p:txBody>
      </p:sp>
      <p:sp>
        <p:nvSpPr>
          <p:cNvPr id="64" name="customer-risk-name">
            <a:extLst xmlns:a="http://schemas.openxmlformats.org/drawingml/2006/main">
              <a:ext uri="{FF2B5EF4-FFF2-40B4-BE49-F238E27FC236}">
                <a16:creationId xmlns:a16="http://schemas.microsoft.com/office/drawing/2014/main" id="{584067ED-46D5-456B-AC01-8DD566DC2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93345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2D42"/>
                </a:solidFill>
              </a:defRPr>
            </a:pPr>
            <a:r>
              <a:rPr sz="1050" b="1">
                <a:solidFill>
                  <a:srgbClr val="1E2D42"/>
                </a:solidFill>
              </a:rPr>
              <a:t>Ford India</a:t>
            </a:r>
          </a:p>
        </p:txBody>
      </p:sp>
      <p:sp>
        <p:nvSpPr>
          <p:cNvPr id="65" name="partner-note">
            <a:extLst xmlns:a="http://schemas.openxmlformats.org/drawingml/2006/main">
              <a:ext uri="{FF2B5EF4-FFF2-40B4-BE49-F238E27FC236}">
                <a16:creationId xmlns:a16="http://schemas.microsoft.com/office/drawing/2014/main" id="{4646382A-8606-420D-8B15-B815F9832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9734550"/>
            <a:ext cx="371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E2D42"/>
                </a:solidFill>
              </a:defRPr>
            </a:pPr>
            <a:r>
              <a:rPr sz="1050">
                <a:solidFill>
                  <a:srgbClr val="1E2D42"/>
                </a:solidFill>
              </a:rPr>
              <a:t>Delay risk is concentrated, not evenly distributed across partners.</a:t>
            </a:r>
          </a:p>
        </p:txBody>
      </p:sp>
      <p:sp>
        <p:nvSpPr>
          <p:cNvPr id="66" name="slide-06-takeaway-band">
            <a:extLst xmlns:a="http://schemas.openxmlformats.org/drawingml/2006/main">
              <a:ext uri="{FF2B5EF4-FFF2-40B4-BE49-F238E27FC236}">
                <a16:creationId xmlns:a16="http://schemas.microsoft.com/office/drawing/2014/main" id="{70F447D9-D031-416D-AE0A-5D3B9293E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534650"/>
            <a:ext cx="891540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takeaway-label">
            <a:extLst xmlns:a="http://schemas.openxmlformats.org/drawingml/2006/main">
              <a:ext uri="{FF2B5EF4-FFF2-40B4-BE49-F238E27FC236}">
                <a16:creationId xmlns:a16="http://schemas.microsoft.com/office/drawing/2014/main" id="{A9276FA6-AF5A-4397-ABAB-F4670E0A0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68705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47B2A"/>
                </a:solidFill>
              </a:defRPr>
            </a:pPr>
            <a:r>
              <a:rPr sz="1125" b="1">
                <a:solidFill>
                  <a:srgbClr val="F47B2A"/>
                </a:solidFill>
              </a:rPr>
              <a:t>TAKEAWAY</a:t>
            </a:r>
          </a:p>
        </p:txBody>
      </p:sp>
      <p:sp>
        <p:nvSpPr>
          <p:cNvPr id="68" name="takeaway-copy">
            <a:extLst xmlns:a="http://schemas.openxmlformats.org/drawingml/2006/main">
              <a:ext uri="{FF2B5EF4-FFF2-40B4-BE49-F238E27FC236}">
                <a16:creationId xmlns:a16="http://schemas.microsoft.com/office/drawing/2014/main" id="{2184E773-3276-4D50-8621-EDD3ADBF4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953750"/>
            <a:ext cx="819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A single blanket fix will not work—the response must target routes, tracking providers, vehicle types, and high-risk partners.</a:t>
            </a:r>
          </a:p>
        </p:txBody>
      </p:sp>
      <p:sp>
        <p:nvSpPr>
          <p:cNvPr id="69" name="slide-06-footer-left">
            <a:extLst xmlns:a="http://schemas.openxmlformats.org/drawingml/2006/main">
              <a:ext uri="{FF2B5EF4-FFF2-40B4-BE49-F238E27FC236}">
                <a16:creationId xmlns:a16="http://schemas.microsoft.com/office/drawing/2014/main" id="{22D6F0D2-6E4E-40FA-966C-7241940D9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2682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82653"/>
                </a:solidFill>
              </a:defRPr>
            </a:pPr>
            <a:r>
              <a:rPr sz="1200" b="1">
                <a:solidFill>
                  <a:srgbClr val="082653"/>
                </a:solidFill>
              </a:rPr>
              <a:t>TRANSPORTATION &amp; LOGISTICS ANALYTICS</a:t>
            </a:r>
          </a:p>
        </p:txBody>
      </p:sp>
      <p:sp>
        <p:nvSpPr>
          <p:cNvPr id="70" name="slide-06-footer-right">
            <a:extLst xmlns:a="http://schemas.openxmlformats.org/drawingml/2006/main">
              <a:ext uri="{FF2B5EF4-FFF2-40B4-BE49-F238E27FC236}">
                <a16:creationId xmlns:a16="http://schemas.microsoft.com/office/drawing/2014/main" id="{491E6151-89CD-4072-AA43-D3FC363A9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2268200"/>
            <a:ext cx="3886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718096"/>
                </a:solidFill>
              </a:defRPr>
            </a:pPr>
            <a:r>
              <a:rPr sz="1200">
                <a:solidFill>
                  <a:srgbClr val="718096"/>
                </a:solidFill>
              </a:rPr>
              <a:t>MOHAMED TAREK  |  DATA ANALYST</a:t>
            </a:r>
          </a:p>
        </p:txBody>
      </p:sp>
    </p:spTree>
    <p:extLst>
      <p:ext uri="{BB962C8B-B14F-4D97-AF65-F5344CB8AC3E}">
        <p14:creationId xmlns:p14="http://schemas.microsoft.com/office/powerpoint/2010/main" val="99698956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5" name="slide-07-top-accent">
            <a:extLst xmlns:a="http://schemas.openxmlformats.org/drawingml/2006/main">
              <a:ext uri="{FF2B5EF4-FFF2-40B4-BE49-F238E27FC236}">
                <a16:creationId xmlns:a16="http://schemas.microsoft.com/office/drawing/2014/main" id="{1CEF6553-2FD7-4F6D-83AF-E9CC8927C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76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07-eyebrow">
            <a:extLst xmlns:a="http://schemas.openxmlformats.org/drawingml/2006/main">
              <a:ext uri="{FF2B5EF4-FFF2-40B4-BE49-F238E27FC236}">
                <a16:creationId xmlns:a16="http://schemas.microsoft.com/office/drawing/2014/main" id="{7BF53D10-E4B4-4623-BCA6-5D32E867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554A3"/>
                </a:solidFill>
              </a:defRPr>
            </a:pPr>
            <a:r>
              <a:rPr sz="1500" b="1">
                <a:solidFill>
                  <a:srgbClr val="1554A3"/>
                </a:solidFill>
              </a:rPr>
              <a:t>BUSINESS RECOMMENDATIONS</a:t>
            </a:r>
          </a:p>
        </p:txBody>
      </p:sp>
      <p:sp>
        <p:nvSpPr>
          <p:cNvPr id="3" name="slide-07-number">
            <a:extLst xmlns:a="http://schemas.openxmlformats.org/drawingml/2006/main">
              <a:ext uri="{FF2B5EF4-FFF2-40B4-BE49-F238E27FC236}">
                <a16:creationId xmlns:a16="http://schemas.microsoft.com/office/drawing/2014/main" id="{929DB932-1AA6-467D-B086-2AF221421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942975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718096"/>
                </a:solidFill>
              </a:defRPr>
            </a:pPr>
            <a:r>
              <a:rPr sz="1350" b="1">
                <a:solidFill>
                  <a:srgbClr val="718096"/>
                </a:solidFill>
              </a:rPr>
              <a:t>07 / 08</a:t>
            </a:r>
          </a:p>
        </p:txBody>
      </p:sp>
      <p:sp>
        <p:nvSpPr>
          <p:cNvPr id="4" name="slide-07-title">
            <a:extLst xmlns:a="http://schemas.openxmlformats.org/drawingml/2006/main">
              <a:ext uri="{FF2B5EF4-FFF2-40B4-BE49-F238E27FC236}">
                <a16:creationId xmlns:a16="http://schemas.microsoft.com/office/drawing/2014/main" id="{8CB23BE6-45E6-4CD5-A050-B90911B22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8915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75" b="1">
                <a:solidFill>
                  <a:srgbClr val="082653"/>
                </a:solidFill>
              </a:defRPr>
            </a:pPr>
            <a:r>
              <a:rPr sz="3375" b="1">
                <a:solidFill>
                  <a:srgbClr val="082653"/>
                </a:solidFill>
              </a:rPr>
              <a:t>TURN INSIGHTS INTO</a:t>
            </a:r>
          </a:p>
          <a:p xmlns:a="http://schemas.openxmlformats.org/drawingml/2006/main">
            <a:pPr>
              <a:defRPr sz="3375" b="1">
                <a:solidFill>
                  <a:srgbClr val="082653"/>
                </a:solidFill>
              </a:defRPr>
            </a:pPr>
            <a:r>
              <a:rPr sz="3375" b="1">
                <a:solidFill>
                  <a:srgbClr val="082653"/>
                </a:solidFill>
              </a:rPr>
              <a:t>AN OPERATING PLAN</a:t>
            </a:r>
          </a:p>
        </p:txBody>
      </p:sp>
      <p:sp>
        <p:nvSpPr>
          <p:cNvPr id="5" name="slide-07-subtitle">
            <a:extLst xmlns:a="http://schemas.openxmlformats.org/drawingml/2006/main">
              <a:ext uri="{FF2B5EF4-FFF2-40B4-BE49-F238E27FC236}">
                <a16:creationId xmlns:a16="http://schemas.microsoft.com/office/drawing/2014/main" id="{7D9C3E9C-A556-4EBC-B9A4-28134F65C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E2D42"/>
                </a:solidFill>
              </a:defRPr>
            </a:pPr>
            <a:r>
              <a:rPr sz="1575">
                <a:solidFill>
                  <a:srgbClr val="1E2D42"/>
                </a:solidFill>
              </a:rPr>
              <a:t>Each action targets a bottleneck exposed by the EDA, SQL analysis, and Power BI dashboard.</a:t>
            </a:r>
          </a:p>
        </p:txBody>
      </p:sp>
      <p:sp>
        <p:nvSpPr>
          <p:cNvPr id="6" name="actions-label">
            <a:extLst xmlns:a="http://schemas.openxmlformats.org/drawingml/2006/main">
              <a:ext uri="{FF2B5EF4-FFF2-40B4-BE49-F238E27FC236}">
                <a16:creationId xmlns:a16="http://schemas.microsoft.com/office/drawing/2014/main" id="{63687CAB-5A92-4AD9-A378-9F9759C67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554A3"/>
                </a:solidFill>
              </a:defRPr>
            </a:pPr>
            <a:r>
              <a:rPr sz="1200" b="1">
                <a:solidFill>
                  <a:srgbClr val="1554A3"/>
                </a:solidFill>
              </a:rPr>
              <a:t>PRIORITY ACTIONS</a:t>
            </a:r>
          </a:p>
        </p:txBody>
      </p:sp>
      <p:sp>
        <p:nvSpPr>
          <p:cNvPr id="7" name="recommendation-0">
            <a:extLst xmlns:a="http://schemas.openxmlformats.org/drawingml/2006/main">
              <a:ext uri="{FF2B5EF4-FFF2-40B4-BE49-F238E27FC236}">
                <a16:creationId xmlns:a16="http://schemas.microsoft.com/office/drawing/2014/main" id="{250BCA4B-BE2C-4633-AC3D-AC08D13BA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565785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8" name="recommendation-0-accent">
            <a:extLst xmlns:a="http://schemas.openxmlformats.org/drawingml/2006/main">
              <a:ext uri="{FF2B5EF4-FFF2-40B4-BE49-F238E27FC236}">
                <a16:creationId xmlns:a16="http://schemas.microsoft.com/office/drawing/2014/main" id="{E1B9C964-65E2-4BC9-845F-9DE6D3235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952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0A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recommendation-0-number-bg">
            <a:extLst xmlns:a="http://schemas.openxmlformats.org/drawingml/2006/main">
              <a:ext uri="{FF2B5EF4-FFF2-40B4-BE49-F238E27FC236}">
                <a16:creationId xmlns:a16="http://schemas.microsoft.com/office/drawing/2014/main" id="{09B9C897-1F09-432D-BC56-D9C26B09F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957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20A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recommendation-0-number">
            <a:extLst xmlns:a="http://schemas.openxmlformats.org/drawingml/2006/main">
              <a:ext uri="{FF2B5EF4-FFF2-40B4-BE49-F238E27FC236}">
                <a16:creationId xmlns:a16="http://schemas.microsoft.com/office/drawing/2014/main" id="{C937B7E2-F7DF-41C7-81B3-88C6ECE90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195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1" name="recommendation-0-title">
            <a:extLst xmlns:a="http://schemas.openxmlformats.org/drawingml/2006/main">
              <a:ext uri="{FF2B5EF4-FFF2-40B4-BE49-F238E27FC236}">
                <a16:creationId xmlns:a16="http://schemas.microsoft.com/office/drawing/2014/main" id="{A48C8A74-8F1A-4A24-842A-7AC86423D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07670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82653"/>
                </a:solidFill>
              </a:defRPr>
            </a:pPr>
            <a:r>
              <a:rPr sz="1425" b="1">
                <a:solidFill>
                  <a:srgbClr val="082653"/>
                </a:solidFill>
              </a:rPr>
              <a:t>CONTROL HIGH-RISK ROUTES</a:t>
            </a:r>
          </a:p>
        </p:txBody>
      </p:sp>
      <p:sp>
        <p:nvSpPr>
          <p:cNvPr id="12" name="recommendation-0-evidence">
            <a:extLst xmlns:a="http://schemas.openxmlformats.org/drawingml/2006/main">
              <a:ext uri="{FF2B5EF4-FFF2-40B4-BE49-F238E27FC236}">
                <a16:creationId xmlns:a16="http://schemas.microsoft.com/office/drawing/2014/main" id="{AA47D0BC-833B-4DB7-BF05-7DC5CEA3D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4005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20A16"/>
                </a:solidFill>
              </a:defRPr>
            </a:pPr>
            <a:r>
              <a:rPr sz="1050" b="1">
                <a:solidFill>
                  <a:srgbClr val="D20A16"/>
                </a:solidFill>
              </a:rPr>
              <a:t>81.08% very long  ·  73.08% short</a:t>
            </a:r>
          </a:p>
        </p:txBody>
      </p:sp>
      <p:sp>
        <p:nvSpPr>
          <p:cNvPr id="13" name="recommendation-0-action">
            <a:extLst xmlns:a="http://schemas.openxmlformats.org/drawingml/2006/main">
              <a:ext uri="{FF2B5EF4-FFF2-40B4-BE49-F238E27FC236}">
                <a16:creationId xmlns:a16="http://schemas.microsoft.com/office/drawing/2014/main" id="{4BC5D534-8CE7-4C75-876A-11DCA391D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724400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E2D42"/>
                </a:solidFill>
              </a:defRPr>
            </a:pPr>
            <a:r>
              <a:rPr sz="1125">
                <a:solidFill>
                  <a:srgbClr val="1E2D42"/>
                </a:solidFill>
              </a:rPr>
              <a:t>Create route-specific service rules, capacity plans, and exception alerts instead of one operating standard for every distance band.</a:t>
            </a:r>
          </a:p>
        </p:txBody>
      </p:sp>
      <p:sp>
        <p:nvSpPr>
          <p:cNvPr id="14" name="recommendation-1">
            <a:extLst xmlns:a="http://schemas.openxmlformats.org/drawingml/2006/main">
              <a:ext uri="{FF2B5EF4-FFF2-40B4-BE49-F238E27FC236}">
                <a16:creationId xmlns:a16="http://schemas.microsoft.com/office/drawing/2014/main" id="{1CF7763D-1C2C-49E3-B5AF-6A9354CB0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0225"/>
            <a:ext cx="565785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15" name="recommendation-1-accent">
            <a:extLst xmlns:a="http://schemas.openxmlformats.org/drawingml/2006/main">
              <a:ext uri="{FF2B5EF4-FFF2-40B4-BE49-F238E27FC236}">
                <a16:creationId xmlns:a16="http://schemas.microsoft.com/office/drawing/2014/main" id="{B5024E52-2C5F-49F7-A93C-F15E9AEE6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0225"/>
            <a:ext cx="952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recommendation-1-number-bg">
            <a:extLst xmlns:a="http://schemas.openxmlformats.org/drawingml/2006/main">
              <a:ext uri="{FF2B5EF4-FFF2-40B4-BE49-F238E27FC236}">
                <a16:creationId xmlns:a16="http://schemas.microsoft.com/office/drawing/2014/main" id="{042B5561-BF97-45EC-963C-23522D36D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8197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recommendation-1-number">
            <a:extLst xmlns:a="http://schemas.openxmlformats.org/drawingml/2006/main">
              <a:ext uri="{FF2B5EF4-FFF2-40B4-BE49-F238E27FC236}">
                <a16:creationId xmlns:a16="http://schemas.microsoft.com/office/drawing/2014/main" id="{B9258648-D086-4A92-A1FF-519960133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9436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8" name="recommendation-1-title">
            <a:extLst xmlns:a="http://schemas.openxmlformats.org/drawingml/2006/main">
              <a:ext uri="{FF2B5EF4-FFF2-40B4-BE49-F238E27FC236}">
                <a16:creationId xmlns:a16="http://schemas.microsoft.com/office/drawing/2014/main" id="{B0D619CD-19E4-4E3D-998C-DE3FE955A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8007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82653"/>
                </a:solidFill>
              </a:defRPr>
            </a:pPr>
            <a:r>
              <a:rPr sz="1425" b="1">
                <a:solidFill>
                  <a:srgbClr val="082653"/>
                </a:solidFill>
              </a:rPr>
              <a:t>STANDARDIZE GPS DATA</a:t>
            </a:r>
          </a:p>
        </p:txBody>
      </p:sp>
      <p:sp>
        <p:nvSpPr>
          <p:cNvPr id="19" name="recommendation-1-evidence">
            <a:extLst xmlns:a="http://schemas.openxmlformats.org/drawingml/2006/main">
              <a:ext uri="{FF2B5EF4-FFF2-40B4-BE49-F238E27FC236}">
                <a16:creationId xmlns:a16="http://schemas.microsoft.com/office/drawing/2014/main" id="{A9CA55D8-9523-4F7E-AB0E-F40871547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6124575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47B2A"/>
                </a:solidFill>
              </a:defRPr>
            </a:pPr>
            <a:r>
              <a:rPr sz="1050" b="1">
                <a:solidFill>
                  <a:srgbClr val="F47B2A"/>
                </a:solidFill>
              </a:rPr>
              <a:t>MANUAL 99%  ·  CONSENT TRACK 87%</a:t>
            </a:r>
          </a:p>
        </p:txBody>
      </p:sp>
      <p:sp>
        <p:nvSpPr>
          <p:cNvPr id="20" name="recommendation-1-action">
            <a:extLst xmlns:a="http://schemas.openxmlformats.org/drawingml/2006/main">
              <a:ext uri="{FF2B5EF4-FFF2-40B4-BE49-F238E27FC236}">
                <a16:creationId xmlns:a16="http://schemas.microsoft.com/office/drawing/2014/main" id="{C9FFF460-144B-400F-9E8E-A1A68D265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644842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E2D42"/>
                </a:solidFill>
              </a:defRPr>
            </a:pPr>
            <a:r>
              <a:rPr sz="1125">
                <a:solidFill>
                  <a:srgbClr val="1E2D42"/>
                </a:solidFill>
              </a:rPr>
              <a:t>Reduce manual tracking, standardize provider names, and monitor GPS completeness and provider-level delay performance.</a:t>
            </a:r>
          </a:p>
        </p:txBody>
      </p:sp>
      <p:sp>
        <p:nvSpPr>
          <p:cNvPr id="21" name="recommendation-2">
            <a:extLst xmlns:a="http://schemas.openxmlformats.org/drawingml/2006/main">
              <a:ext uri="{FF2B5EF4-FFF2-40B4-BE49-F238E27FC236}">
                <a16:creationId xmlns:a16="http://schemas.microsoft.com/office/drawing/2014/main" id="{6DA6013D-3E55-4323-9A03-1955DF631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334250"/>
            <a:ext cx="565785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22" name="recommendation-2-accent">
            <a:extLst xmlns:a="http://schemas.openxmlformats.org/drawingml/2006/main">
              <a:ext uri="{FF2B5EF4-FFF2-40B4-BE49-F238E27FC236}">
                <a16:creationId xmlns:a16="http://schemas.microsoft.com/office/drawing/2014/main" id="{393F5564-2665-48F1-A6C7-8B0529F65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334250"/>
            <a:ext cx="952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54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recommendation-2-number-bg">
            <a:extLst xmlns:a="http://schemas.openxmlformats.org/drawingml/2006/main">
              <a:ext uri="{FF2B5EF4-FFF2-40B4-BE49-F238E27FC236}">
                <a16:creationId xmlns:a16="http://schemas.microsoft.com/office/drawing/2014/main" id="{01676BD5-F567-4909-AE16-0A0E7E66E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75438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4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recommendation-2-number">
            <a:extLst xmlns:a="http://schemas.openxmlformats.org/drawingml/2006/main">
              <a:ext uri="{FF2B5EF4-FFF2-40B4-BE49-F238E27FC236}">
                <a16:creationId xmlns:a16="http://schemas.microsoft.com/office/drawing/2014/main" id="{0C2BF703-FCFB-4EA7-B228-0D14A2677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76676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5" name="recommendation-2-title">
            <a:extLst xmlns:a="http://schemas.openxmlformats.org/drawingml/2006/main">
              <a:ext uri="{FF2B5EF4-FFF2-40B4-BE49-F238E27FC236}">
                <a16:creationId xmlns:a16="http://schemas.microsoft.com/office/drawing/2014/main" id="{102A4235-34C1-429A-9029-F8E10D98F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752475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82653"/>
                </a:solidFill>
              </a:defRPr>
            </a:pPr>
            <a:r>
              <a:rPr sz="1425" b="1">
                <a:solidFill>
                  <a:srgbClr val="082653"/>
                </a:solidFill>
              </a:rPr>
              <a:t>INTERVENE BY VEHICLE TYPE</a:t>
            </a:r>
          </a:p>
        </p:txBody>
      </p:sp>
      <p:sp>
        <p:nvSpPr>
          <p:cNvPr id="26" name="recommendation-2-evidence">
            <a:extLst xmlns:a="http://schemas.openxmlformats.org/drawingml/2006/main">
              <a:ext uri="{FF2B5EF4-FFF2-40B4-BE49-F238E27FC236}">
                <a16:creationId xmlns:a16="http://schemas.microsoft.com/office/drawing/2014/main" id="{F64DD66E-9BE9-4416-8929-834039D5E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78486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54A3"/>
                </a:solidFill>
              </a:defRPr>
            </a:pPr>
            <a:r>
              <a:rPr sz="1050" b="1">
                <a:solidFill>
                  <a:srgbClr val="1554A3"/>
                </a:solidFill>
              </a:rPr>
              <a:t>81.53% single-axle  ·  80.81% 3XL trailer</a:t>
            </a:r>
          </a:p>
        </p:txBody>
      </p:sp>
      <p:sp>
        <p:nvSpPr>
          <p:cNvPr id="27" name="recommendation-2-action">
            <a:extLst xmlns:a="http://schemas.openxmlformats.org/drawingml/2006/main">
              <a:ext uri="{FF2B5EF4-FFF2-40B4-BE49-F238E27FC236}">
                <a16:creationId xmlns:a16="http://schemas.microsoft.com/office/drawing/2014/main" id="{141CD8B5-4775-4E8C-B672-20E714592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8172450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E2D42"/>
                </a:solidFill>
              </a:defRPr>
            </a:pPr>
            <a:r>
              <a:rPr sz="1125">
                <a:solidFill>
                  <a:srgbClr val="1E2D42"/>
                </a:solidFill>
              </a:rPr>
              <a:t>Audit dispatch, maintenance, load planning, and route assignment for the vehicle types carrying the highest delay exposure.</a:t>
            </a:r>
          </a:p>
        </p:txBody>
      </p:sp>
      <p:sp>
        <p:nvSpPr>
          <p:cNvPr id="28" name="recommendation-3">
            <a:extLst xmlns:a="http://schemas.openxmlformats.org/drawingml/2006/main">
              <a:ext uri="{FF2B5EF4-FFF2-40B4-BE49-F238E27FC236}">
                <a16:creationId xmlns:a16="http://schemas.microsoft.com/office/drawing/2014/main" id="{F8531E8A-ABA7-4E3F-92C8-AF57CD3B0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058275"/>
            <a:ext cx="565785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29" name="recommendation-3-accent">
            <a:extLst xmlns:a="http://schemas.openxmlformats.org/drawingml/2006/main">
              <a:ext uri="{FF2B5EF4-FFF2-40B4-BE49-F238E27FC236}">
                <a16:creationId xmlns:a16="http://schemas.microsoft.com/office/drawing/2014/main" id="{55FE3F61-B73E-41DC-A9BB-E6F9FA5A6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058275"/>
            <a:ext cx="952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recommendation-3-number-bg">
            <a:extLst xmlns:a="http://schemas.openxmlformats.org/drawingml/2006/main">
              <a:ext uri="{FF2B5EF4-FFF2-40B4-BE49-F238E27FC236}">
                <a16:creationId xmlns:a16="http://schemas.microsoft.com/office/drawing/2014/main" id="{3DFF492D-80EF-42D0-B64B-50158A643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92678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recommendation-3-number">
            <a:extLst xmlns:a="http://schemas.openxmlformats.org/drawingml/2006/main">
              <a:ext uri="{FF2B5EF4-FFF2-40B4-BE49-F238E27FC236}">
                <a16:creationId xmlns:a16="http://schemas.microsoft.com/office/drawing/2014/main" id="{A080C2CF-1CEA-4D8F-9509-6E60ADDAA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93916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32" name="recommendation-3-title">
            <a:extLst xmlns:a="http://schemas.openxmlformats.org/drawingml/2006/main">
              <a:ext uri="{FF2B5EF4-FFF2-40B4-BE49-F238E27FC236}">
                <a16:creationId xmlns:a16="http://schemas.microsoft.com/office/drawing/2014/main" id="{BF90CC32-A211-4DF2-9C8C-81CB748D0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924877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82653"/>
                </a:solidFill>
              </a:defRPr>
            </a:pPr>
            <a:r>
              <a:rPr sz="1425" b="1">
                <a:solidFill>
                  <a:srgbClr val="082653"/>
                </a:solidFill>
              </a:rPr>
              <a:t>ENFORCE PARTNER ACCOUNTABILITY</a:t>
            </a:r>
          </a:p>
        </p:txBody>
      </p:sp>
      <p:sp>
        <p:nvSpPr>
          <p:cNvPr id="33" name="recommendation-3-evidence">
            <a:extLst xmlns:a="http://schemas.openxmlformats.org/drawingml/2006/main">
              <a:ext uri="{FF2B5EF4-FFF2-40B4-BE49-F238E27FC236}">
                <a16:creationId xmlns:a16="http://schemas.microsoft.com/office/drawing/2014/main" id="{127B91EE-7847-4A60-8409-BA05729AA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9572625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3F6B2A"/>
                </a:solidFill>
              </a:defRPr>
            </a:pPr>
            <a:r>
              <a:rPr sz="1050" b="1">
                <a:solidFill>
                  <a:srgbClr val="3F6B2A"/>
                </a:solidFill>
              </a:rPr>
              <a:t>95.38% supplier  ·  73.35% customer</a:t>
            </a:r>
          </a:p>
        </p:txBody>
      </p:sp>
      <p:sp>
        <p:nvSpPr>
          <p:cNvPr id="34" name="recommendation-3-action">
            <a:extLst xmlns:a="http://schemas.openxmlformats.org/drawingml/2006/main">
              <a:ext uri="{FF2B5EF4-FFF2-40B4-BE49-F238E27FC236}">
                <a16:creationId xmlns:a16="http://schemas.microsoft.com/office/drawing/2014/main" id="{8A8A3E1A-EC3F-4DEA-9B4F-B81AB213D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98964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E2D42"/>
                </a:solidFill>
              </a:defRPr>
            </a:pPr>
            <a:r>
              <a:rPr sz="1125">
                <a:solidFill>
                  <a:srgbClr val="1E2D42"/>
                </a:solidFill>
              </a:rPr>
              <a:t>Run root-cause reviews with high-risk partners, define service-level ownership, and resolve the 737 unknown-supplier records.</a:t>
            </a:r>
          </a:p>
        </p:txBody>
      </p:sp>
      <p:sp>
        <p:nvSpPr>
          <p:cNvPr id="35" name="control-loop-panel">
            <a:extLst xmlns:a="http://schemas.openxmlformats.org/drawingml/2006/main">
              <a:ext uri="{FF2B5EF4-FFF2-40B4-BE49-F238E27FC236}">
                <a16:creationId xmlns:a16="http://schemas.microsoft.com/office/drawing/2014/main" id="{58B5CB51-8034-4C93-8A71-960C1C2BD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486150"/>
            <a:ext cx="2914650" cy="4876800"/>
          </a:xfrm>
          <a:prstGeom xmlns:a="http://schemas.openxmlformats.org/drawingml/2006/main" prst="roundRect">
            <a:avLst>
              <a:gd name="adj" fmla="val 2614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control-loop-label">
            <a:extLst xmlns:a="http://schemas.openxmlformats.org/drawingml/2006/main">
              <a:ext uri="{FF2B5EF4-FFF2-40B4-BE49-F238E27FC236}">
                <a16:creationId xmlns:a16="http://schemas.microsoft.com/office/drawing/2014/main" id="{23F5B0F2-86ED-4946-A34E-3E163C865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73380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47B2A"/>
                </a:solidFill>
              </a:defRPr>
            </a:pPr>
            <a:r>
              <a:rPr sz="1125" b="1">
                <a:solidFill>
                  <a:srgbClr val="F47B2A"/>
                </a:solidFill>
              </a:rPr>
              <a:t>MANAGEMENT CONTROL LOOP</a:t>
            </a:r>
          </a:p>
        </p:txBody>
      </p:sp>
      <p:sp>
        <p:nvSpPr>
          <p:cNvPr id="37" name="loop-0-circle">
            <a:extLst xmlns:a="http://schemas.openxmlformats.org/drawingml/2006/main">
              <a:ext uri="{FF2B5EF4-FFF2-40B4-BE49-F238E27FC236}">
                <a16:creationId xmlns:a16="http://schemas.microsoft.com/office/drawing/2014/main" id="{1F8D970F-7776-4068-95AF-53FA00C12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2100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4A3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38" name="loop-0-number">
            <a:extLst xmlns:a="http://schemas.openxmlformats.org/drawingml/2006/main">
              <a:ext uri="{FF2B5EF4-FFF2-40B4-BE49-F238E27FC236}">
                <a16:creationId xmlns:a16="http://schemas.microsoft.com/office/drawing/2014/main" id="{C06C1F9E-9A34-43E9-AB42-40B7A343C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37197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39" name="loop-0-title">
            <a:extLst xmlns:a="http://schemas.openxmlformats.org/drawingml/2006/main">
              <a:ext uri="{FF2B5EF4-FFF2-40B4-BE49-F238E27FC236}">
                <a16:creationId xmlns:a16="http://schemas.microsoft.com/office/drawing/2014/main" id="{FFAB4074-4A20-440A-BCD3-C2C213BAA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2291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MONITOR</a:t>
            </a:r>
          </a:p>
        </p:txBody>
      </p:sp>
      <p:sp>
        <p:nvSpPr>
          <p:cNvPr id="40" name="loop-0-body">
            <a:extLst xmlns:a="http://schemas.openxmlformats.org/drawingml/2006/main">
              <a:ext uri="{FF2B5EF4-FFF2-40B4-BE49-F238E27FC236}">
                <a16:creationId xmlns:a16="http://schemas.microsoft.com/office/drawing/2014/main" id="{00097C4D-1E03-47B4-A17C-1A16CD0C4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5148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DDE8F8"/>
                </a:solidFill>
              </a:defRPr>
            </a:pPr>
            <a:r>
              <a:rPr sz="975">
                <a:solidFill>
                  <a:srgbClr val="DDE8F8"/>
                </a:solidFill>
              </a:rPr>
              <a:t>Power BI flags changes</a:t>
            </a:r>
          </a:p>
        </p:txBody>
      </p:sp>
      <p:sp>
        <p:nvSpPr>
          <p:cNvPr id="41" name="loop-0-line">
            <a:extLst xmlns:a="http://schemas.openxmlformats.org/drawingml/2006/main">
              <a:ext uri="{FF2B5EF4-FFF2-40B4-BE49-F238E27FC236}">
                <a16:creationId xmlns:a16="http://schemas.microsoft.com/office/drawing/2014/main" id="{C77A2D64-EF3D-42EF-AFD6-3499726BF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762500"/>
            <a:ext cx="285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8F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loop-1-circle">
            <a:extLst xmlns:a="http://schemas.openxmlformats.org/drawingml/2006/main">
              <a:ext uri="{FF2B5EF4-FFF2-40B4-BE49-F238E27FC236}">
                <a16:creationId xmlns:a16="http://schemas.microsoft.com/office/drawing/2014/main" id="{00F1E0FE-0E84-43F1-BFFF-D713963C7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1625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4A3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43" name="loop-1-number">
            <a:extLst xmlns:a="http://schemas.openxmlformats.org/drawingml/2006/main">
              <a:ext uri="{FF2B5EF4-FFF2-40B4-BE49-F238E27FC236}">
                <a16:creationId xmlns:a16="http://schemas.microsoft.com/office/drawing/2014/main" id="{13432CFE-9478-42F9-9A68-C023C2189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32447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44" name="loop-1-title">
            <a:extLst xmlns:a="http://schemas.openxmlformats.org/drawingml/2006/main">
              <a:ext uri="{FF2B5EF4-FFF2-40B4-BE49-F238E27FC236}">
                <a16:creationId xmlns:a16="http://schemas.microsoft.com/office/drawing/2014/main" id="{2AA660DE-3464-48A0-A435-D2A783FDB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51816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INVESTIGATE</a:t>
            </a:r>
          </a:p>
        </p:txBody>
      </p:sp>
      <p:sp>
        <p:nvSpPr>
          <p:cNvPr id="45" name="loop-1-body">
            <a:extLst xmlns:a="http://schemas.openxmlformats.org/drawingml/2006/main">
              <a:ext uri="{FF2B5EF4-FFF2-40B4-BE49-F238E27FC236}">
                <a16:creationId xmlns:a16="http://schemas.microsoft.com/office/drawing/2014/main" id="{95B6FA0C-3AEC-4FFD-9323-D7CD9CF32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54673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DDE8F8"/>
                </a:solidFill>
              </a:defRPr>
            </a:pPr>
            <a:r>
              <a:rPr sz="975">
                <a:solidFill>
                  <a:srgbClr val="DDE8F8"/>
                </a:solidFill>
              </a:rPr>
              <a:t>SQL traces the driver</a:t>
            </a:r>
          </a:p>
        </p:txBody>
      </p:sp>
      <p:sp>
        <p:nvSpPr>
          <p:cNvPr id="46" name="loop-1-line">
            <a:extLst xmlns:a="http://schemas.openxmlformats.org/drawingml/2006/main">
              <a:ext uri="{FF2B5EF4-FFF2-40B4-BE49-F238E27FC236}">
                <a16:creationId xmlns:a16="http://schemas.microsoft.com/office/drawing/2014/main" id="{CF915775-3338-47B4-AC8F-C8201EF2C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5715000"/>
            <a:ext cx="285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8F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loop-2-circle">
            <a:extLst xmlns:a="http://schemas.openxmlformats.org/drawingml/2006/main">
              <a:ext uri="{FF2B5EF4-FFF2-40B4-BE49-F238E27FC236}">
                <a16:creationId xmlns:a16="http://schemas.microsoft.com/office/drawing/2014/main" id="{5C51588F-BA6A-4567-9549-ADE43E371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61150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48" name="loop-2-number">
            <a:extLst xmlns:a="http://schemas.openxmlformats.org/drawingml/2006/main">
              <a:ext uri="{FF2B5EF4-FFF2-40B4-BE49-F238E27FC236}">
                <a16:creationId xmlns:a16="http://schemas.microsoft.com/office/drawing/2014/main" id="{2DFEF3DF-FBC3-42EA-A17B-88576C34F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627697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49" name="loop-2-title">
            <a:extLst xmlns:a="http://schemas.openxmlformats.org/drawingml/2006/main">
              <a:ext uri="{FF2B5EF4-FFF2-40B4-BE49-F238E27FC236}">
                <a16:creationId xmlns:a16="http://schemas.microsoft.com/office/drawing/2014/main" id="{A9236D14-AA1C-4D69-AC66-70E171BD1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61341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ACT</a:t>
            </a:r>
          </a:p>
        </p:txBody>
      </p:sp>
      <p:sp>
        <p:nvSpPr>
          <p:cNvPr id="50" name="loop-2-body">
            <a:extLst xmlns:a="http://schemas.openxmlformats.org/drawingml/2006/main">
              <a:ext uri="{FF2B5EF4-FFF2-40B4-BE49-F238E27FC236}">
                <a16:creationId xmlns:a16="http://schemas.microsoft.com/office/drawing/2014/main" id="{54877204-0556-4421-8190-B7C06EDA9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64198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DDE8F8"/>
                </a:solidFill>
              </a:defRPr>
            </a:pPr>
            <a:r>
              <a:rPr sz="975">
                <a:solidFill>
                  <a:srgbClr val="DDE8F8"/>
                </a:solidFill>
              </a:rPr>
              <a:t>Operations owns response</a:t>
            </a:r>
          </a:p>
        </p:txBody>
      </p:sp>
      <p:sp>
        <p:nvSpPr>
          <p:cNvPr id="51" name="loop-2-line">
            <a:extLst xmlns:a="http://schemas.openxmlformats.org/drawingml/2006/main">
              <a:ext uri="{FF2B5EF4-FFF2-40B4-BE49-F238E27FC236}">
                <a16:creationId xmlns:a16="http://schemas.microsoft.com/office/drawing/2014/main" id="{D12AA05E-D806-478D-AECB-27B95B385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667500"/>
            <a:ext cx="285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8F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loop-3-circle">
            <a:extLst xmlns:a="http://schemas.openxmlformats.org/drawingml/2006/main">
              <a:ext uri="{FF2B5EF4-FFF2-40B4-BE49-F238E27FC236}">
                <a16:creationId xmlns:a16="http://schemas.microsoft.com/office/drawing/2014/main" id="{C8DC6925-CA88-4B59-BACE-D483AA31F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70675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4A3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53" name="loop-3-number">
            <a:extLst xmlns:a="http://schemas.openxmlformats.org/drawingml/2006/main">
              <a:ext uri="{FF2B5EF4-FFF2-40B4-BE49-F238E27FC236}">
                <a16:creationId xmlns:a16="http://schemas.microsoft.com/office/drawing/2014/main" id="{9AD14D21-7487-43D3-96D2-1B39E2ACF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722947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54" name="loop-3-title">
            <a:extLst xmlns:a="http://schemas.openxmlformats.org/drawingml/2006/main">
              <a:ext uri="{FF2B5EF4-FFF2-40B4-BE49-F238E27FC236}">
                <a16:creationId xmlns:a16="http://schemas.microsoft.com/office/drawing/2014/main" id="{FAB6A0C1-031F-4664-9030-2753C2AD9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70866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REVIEW</a:t>
            </a:r>
          </a:p>
        </p:txBody>
      </p:sp>
      <p:sp>
        <p:nvSpPr>
          <p:cNvPr id="55" name="loop-3-body">
            <a:extLst xmlns:a="http://schemas.openxmlformats.org/drawingml/2006/main">
              <a:ext uri="{FF2B5EF4-FFF2-40B4-BE49-F238E27FC236}">
                <a16:creationId xmlns:a16="http://schemas.microsoft.com/office/drawing/2014/main" id="{B10A57FB-0650-46DD-9265-ED8DD1BA8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73723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DDE8F8"/>
                </a:solidFill>
              </a:defRPr>
            </a:pPr>
            <a:r>
              <a:rPr sz="975">
                <a:solidFill>
                  <a:srgbClr val="DDE8F8"/>
                </a:solidFill>
              </a:rPr>
              <a:t>KPIs confirm movement</a:t>
            </a:r>
          </a:p>
        </p:txBody>
      </p:sp>
      <p:sp>
        <p:nvSpPr>
          <p:cNvPr id="56" name="success-panel">
            <a:extLst xmlns:a="http://schemas.openxmlformats.org/drawingml/2006/main">
              <a:ext uri="{FF2B5EF4-FFF2-40B4-BE49-F238E27FC236}">
                <a16:creationId xmlns:a16="http://schemas.microsoft.com/office/drawing/2014/main" id="{B405756E-98F9-4163-B960-F9D39B7A5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8610600"/>
            <a:ext cx="2914650" cy="217170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57" name="success-title">
            <a:extLst xmlns:a="http://schemas.openxmlformats.org/drawingml/2006/main">
              <a:ext uri="{FF2B5EF4-FFF2-40B4-BE49-F238E27FC236}">
                <a16:creationId xmlns:a16="http://schemas.microsoft.com/office/drawing/2014/main" id="{5798BF4E-9CA6-489A-8DD3-1B2ABA2E5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8839200"/>
            <a:ext cx="2419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2653"/>
                </a:solidFill>
              </a:defRPr>
            </a:pPr>
            <a:r>
              <a:rPr sz="1200" b="1">
                <a:solidFill>
                  <a:srgbClr val="082653"/>
                </a:solidFill>
              </a:rPr>
              <a:t>WHAT SUCCESS LOOKS LIKE</a:t>
            </a:r>
          </a:p>
        </p:txBody>
      </p:sp>
      <p:sp>
        <p:nvSpPr>
          <p:cNvPr id="58" name="success-0-check">
            <a:extLst xmlns:a="http://schemas.openxmlformats.org/drawingml/2006/main">
              <a:ext uri="{FF2B5EF4-FFF2-40B4-BE49-F238E27FC236}">
                <a16:creationId xmlns:a16="http://schemas.microsoft.com/office/drawing/2014/main" id="{6E63CB54-6859-47E6-A24E-F0EDF2A46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928687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success-0-mark">
            <a:extLst xmlns:a="http://schemas.openxmlformats.org/drawingml/2006/main">
              <a:ext uri="{FF2B5EF4-FFF2-40B4-BE49-F238E27FC236}">
                <a16:creationId xmlns:a16="http://schemas.microsoft.com/office/drawing/2014/main" id="{E4418CC9-F4A1-46C9-9F9D-42A50D687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9296400"/>
            <a:ext cx="19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60" name="success-0-text">
            <a:extLst xmlns:a="http://schemas.openxmlformats.org/drawingml/2006/main">
              <a:ext uri="{FF2B5EF4-FFF2-40B4-BE49-F238E27FC236}">
                <a16:creationId xmlns:a16="http://schemas.microsoft.com/office/drawing/2014/main" id="{2675818C-1BF5-46E8-9341-AD8404C55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927735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E2D42"/>
                </a:solidFill>
              </a:defRPr>
            </a:pPr>
            <a:r>
              <a:rPr sz="1050">
                <a:solidFill>
                  <a:srgbClr val="1E2D42"/>
                </a:solidFill>
              </a:rPr>
              <a:t>Lower delay rate</a:t>
            </a:r>
          </a:p>
        </p:txBody>
      </p:sp>
      <p:sp>
        <p:nvSpPr>
          <p:cNvPr id="61" name="success-1-check">
            <a:extLst xmlns:a="http://schemas.openxmlformats.org/drawingml/2006/main">
              <a:ext uri="{FF2B5EF4-FFF2-40B4-BE49-F238E27FC236}">
                <a16:creationId xmlns:a16="http://schemas.microsoft.com/office/drawing/2014/main" id="{0B8610B3-0452-4FC0-8697-66D96E941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964882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success-1-mark">
            <a:extLst xmlns:a="http://schemas.openxmlformats.org/drawingml/2006/main">
              <a:ext uri="{FF2B5EF4-FFF2-40B4-BE49-F238E27FC236}">
                <a16:creationId xmlns:a16="http://schemas.microsoft.com/office/drawing/2014/main" id="{C31A1CC7-7FE0-428C-AFBD-0CE46EBF0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9658350"/>
            <a:ext cx="19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63" name="success-1-text">
            <a:extLst xmlns:a="http://schemas.openxmlformats.org/drawingml/2006/main">
              <a:ext uri="{FF2B5EF4-FFF2-40B4-BE49-F238E27FC236}">
                <a16:creationId xmlns:a16="http://schemas.microsoft.com/office/drawing/2014/main" id="{6E4B0BB3-3B22-4247-B6C7-93C6BDBF8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963930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E2D42"/>
                </a:solidFill>
              </a:defRPr>
            </a:pPr>
            <a:r>
              <a:rPr sz="1050">
                <a:solidFill>
                  <a:srgbClr val="1E2D42"/>
                </a:solidFill>
              </a:rPr>
              <a:t>Higher on-time rate</a:t>
            </a:r>
          </a:p>
        </p:txBody>
      </p:sp>
      <p:sp>
        <p:nvSpPr>
          <p:cNvPr id="64" name="success-2-check">
            <a:extLst xmlns:a="http://schemas.openxmlformats.org/drawingml/2006/main">
              <a:ext uri="{FF2B5EF4-FFF2-40B4-BE49-F238E27FC236}">
                <a16:creationId xmlns:a16="http://schemas.microsoft.com/office/drawing/2014/main" id="{96DDEDAE-A064-475D-B45D-C36BA05BA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001077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success-2-mark">
            <a:extLst xmlns:a="http://schemas.openxmlformats.org/drawingml/2006/main">
              <a:ext uri="{FF2B5EF4-FFF2-40B4-BE49-F238E27FC236}">
                <a16:creationId xmlns:a16="http://schemas.microsoft.com/office/drawing/2014/main" id="{65BCF268-B9E7-4B36-BBB2-C5277D856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0020300"/>
            <a:ext cx="19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66" name="success-2-text">
            <a:extLst xmlns:a="http://schemas.openxmlformats.org/drawingml/2006/main">
              <a:ext uri="{FF2B5EF4-FFF2-40B4-BE49-F238E27FC236}">
                <a16:creationId xmlns:a16="http://schemas.microsoft.com/office/drawing/2014/main" id="{D0C58A53-F7EA-4DB0-A273-AC6032F4E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000125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E2D42"/>
                </a:solidFill>
              </a:defRPr>
            </a:pPr>
            <a:r>
              <a:rPr sz="1050">
                <a:solidFill>
                  <a:srgbClr val="1E2D42"/>
                </a:solidFill>
              </a:rPr>
              <a:t>Cleaner GPS and supplier data</a:t>
            </a:r>
          </a:p>
        </p:txBody>
      </p:sp>
      <p:sp>
        <p:nvSpPr>
          <p:cNvPr id="67" name="success-3-check">
            <a:extLst xmlns:a="http://schemas.openxmlformats.org/drawingml/2006/main">
              <a:ext uri="{FF2B5EF4-FFF2-40B4-BE49-F238E27FC236}">
                <a16:creationId xmlns:a16="http://schemas.microsoft.com/office/drawing/2014/main" id="{3311E776-E012-4FA3-8B79-76364AE46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037272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success-3-mark">
            <a:extLst xmlns:a="http://schemas.openxmlformats.org/drawingml/2006/main">
              <a:ext uri="{FF2B5EF4-FFF2-40B4-BE49-F238E27FC236}">
                <a16:creationId xmlns:a16="http://schemas.microsoft.com/office/drawing/2014/main" id="{36372EF8-3965-4E2D-AA03-B2AC4B502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0382250"/>
            <a:ext cx="19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69" name="success-3-text">
            <a:extLst xmlns:a="http://schemas.openxmlformats.org/drawingml/2006/main">
              <a:ext uri="{FF2B5EF4-FFF2-40B4-BE49-F238E27FC236}">
                <a16:creationId xmlns:a16="http://schemas.microsoft.com/office/drawing/2014/main" id="{9FDC6E9A-0DA2-40C0-865B-BC770E48F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036320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E2D42"/>
                </a:solidFill>
              </a:defRPr>
            </a:pPr>
            <a:r>
              <a:rPr sz="1050">
                <a:solidFill>
                  <a:srgbClr val="1E2D42"/>
                </a:solidFill>
              </a:rPr>
              <a:t>Fewer failed or stuck shipments</a:t>
            </a:r>
          </a:p>
        </p:txBody>
      </p:sp>
      <p:sp>
        <p:nvSpPr>
          <p:cNvPr id="70" name="slide-07-principle-band">
            <a:extLst xmlns:a="http://schemas.openxmlformats.org/drawingml/2006/main">
              <a:ext uri="{FF2B5EF4-FFF2-40B4-BE49-F238E27FC236}">
                <a16:creationId xmlns:a16="http://schemas.microsoft.com/office/drawing/2014/main" id="{3A3FAA7A-46C8-41E6-A3EE-CDDD88AA9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10900"/>
            <a:ext cx="89154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2FD"/>
          </a:solidFill>
          <a:ln xmlns:a="http://schemas.openxmlformats.org/drawingml/2006/main" w="9525">
            <a:solidFill>
              <a:srgbClr val="2F80ED"/>
            </a:solidFill>
            <a:prstDash val="solid"/>
          </a:ln>
        </p:spPr>
      </p:sp>
      <p:sp>
        <p:nvSpPr>
          <p:cNvPr id="71" name="principle-label">
            <a:extLst xmlns:a="http://schemas.openxmlformats.org/drawingml/2006/main">
              <a:ext uri="{FF2B5EF4-FFF2-40B4-BE49-F238E27FC236}">
                <a16:creationId xmlns:a16="http://schemas.microsoft.com/office/drawing/2014/main" id="{247BA1BF-6AEE-4204-A966-6FEBF2465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118235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54A3"/>
                </a:solidFill>
              </a:defRPr>
            </a:pPr>
            <a:r>
              <a:rPr sz="1050" b="1">
                <a:solidFill>
                  <a:srgbClr val="1554A3"/>
                </a:solidFill>
              </a:rPr>
              <a:t>OPERATING PRINCIPLE</a:t>
            </a:r>
          </a:p>
        </p:txBody>
      </p:sp>
      <p:sp>
        <p:nvSpPr>
          <p:cNvPr id="72" name="principle-copy">
            <a:extLst xmlns:a="http://schemas.openxmlformats.org/drawingml/2006/main">
              <a:ext uri="{FF2B5EF4-FFF2-40B4-BE49-F238E27FC236}">
                <a16:creationId xmlns:a16="http://schemas.microsoft.com/office/drawing/2014/main" id="{01852C43-37A9-4A7C-8127-E048B7DCE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1163300"/>
            <a:ext cx="638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82653"/>
                </a:solidFill>
              </a:defRPr>
            </a:pPr>
            <a:r>
              <a:rPr sz="1275" b="1">
                <a:solidFill>
                  <a:srgbClr val="082653"/>
                </a:solidFill>
              </a:rPr>
              <a:t>Use the dashboard as a recurring management system, not a one-time report.</a:t>
            </a:r>
          </a:p>
        </p:txBody>
      </p:sp>
      <p:sp>
        <p:nvSpPr>
          <p:cNvPr id="73" name="slide-07-footer-left">
            <a:extLst xmlns:a="http://schemas.openxmlformats.org/drawingml/2006/main">
              <a:ext uri="{FF2B5EF4-FFF2-40B4-BE49-F238E27FC236}">
                <a16:creationId xmlns:a16="http://schemas.microsoft.com/office/drawing/2014/main" id="{C3ED5406-40C4-4AD6-B952-038795B04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2682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82653"/>
                </a:solidFill>
              </a:defRPr>
            </a:pPr>
            <a:r>
              <a:rPr sz="1200" b="1">
                <a:solidFill>
                  <a:srgbClr val="082653"/>
                </a:solidFill>
              </a:rPr>
              <a:t>TRANSPORTATION &amp; LOGISTICS ANALYTICS</a:t>
            </a:r>
          </a:p>
        </p:txBody>
      </p:sp>
      <p:sp>
        <p:nvSpPr>
          <p:cNvPr id="74" name="slide-07-footer-right">
            <a:extLst xmlns:a="http://schemas.openxmlformats.org/drawingml/2006/main">
              <a:ext uri="{FF2B5EF4-FFF2-40B4-BE49-F238E27FC236}">
                <a16:creationId xmlns:a16="http://schemas.microsoft.com/office/drawing/2014/main" id="{62E35873-B2CB-434B-B1CA-3575EB46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2268200"/>
            <a:ext cx="3886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718096"/>
                </a:solidFill>
              </a:defRPr>
            </a:pPr>
            <a:r>
              <a:rPr sz="1200">
                <a:solidFill>
                  <a:srgbClr val="718096"/>
                </a:solidFill>
              </a:rPr>
              <a:t>MOHAMED TAREK  |  DATA ANALYST</a:t>
            </a:r>
          </a:p>
        </p:txBody>
      </p:sp>
    </p:spTree>
    <p:extLst>
      <p:ext uri="{BB962C8B-B14F-4D97-AF65-F5344CB8AC3E}">
        <p14:creationId xmlns:p14="http://schemas.microsoft.com/office/powerpoint/2010/main" val="118989840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5" name="slide-08-top-accent">
            <a:extLst xmlns:a="http://schemas.openxmlformats.org/drawingml/2006/main">
              <a:ext uri="{FF2B5EF4-FFF2-40B4-BE49-F238E27FC236}">
                <a16:creationId xmlns:a16="http://schemas.microsoft.com/office/drawing/2014/main" id="{CD86C486-1C79-4CDE-8C4F-3E659627B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76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08-eyebrow">
            <a:extLst xmlns:a="http://schemas.openxmlformats.org/drawingml/2006/main">
              <a:ext uri="{FF2B5EF4-FFF2-40B4-BE49-F238E27FC236}">
                <a16:creationId xmlns:a16="http://schemas.microsoft.com/office/drawing/2014/main" id="{E8805C66-90D4-4195-9436-9AAA4E5EA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554A3"/>
                </a:solidFill>
              </a:defRPr>
            </a:pPr>
            <a:r>
              <a:rPr sz="1500" b="1">
                <a:solidFill>
                  <a:srgbClr val="1554A3"/>
                </a:solidFill>
              </a:rPr>
              <a:t>PROJECT REPOSITORY</a:t>
            </a:r>
          </a:p>
        </p:txBody>
      </p:sp>
      <p:sp>
        <p:nvSpPr>
          <p:cNvPr id="3" name="slide-08-number">
            <a:extLst xmlns:a="http://schemas.openxmlformats.org/drawingml/2006/main">
              <a:ext uri="{FF2B5EF4-FFF2-40B4-BE49-F238E27FC236}">
                <a16:creationId xmlns:a16="http://schemas.microsoft.com/office/drawing/2014/main" id="{CBDBAF06-8A77-4C4D-A250-296C66982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942975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718096"/>
                </a:solidFill>
              </a:defRPr>
            </a:pPr>
            <a:r>
              <a:rPr sz="1350" b="1">
                <a:solidFill>
                  <a:srgbClr val="718096"/>
                </a:solidFill>
              </a:rPr>
              <a:t>08 / 08</a:t>
            </a:r>
          </a:p>
        </p:txBody>
      </p:sp>
      <p:sp>
        <p:nvSpPr>
          <p:cNvPr id="4" name="slide-08-title">
            <a:extLst xmlns:a="http://schemas.openxmlformats.org/drawingml/2006/main">
              <a:ext uri="{FF2B5EF4-FFF2-40B4-BE49-F238E27FC236}">
                <a16:creationId xmlns:a16="http://schemas.microsoft.com/office/drawing/2014/main" id="{FFAC0768-E132-426E-ABFC-9652B643F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8915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525" b="1">
                <a:solidFill>
                  <a:srgbClr val="082653"/>
                </a:solidFill>
              </a:defRPr>
            </a:pPr>
            <a:r>
              <a:rPr sz="3525" b="1">
                <a:solidFill>
                  <a:srgbClr val="082653"/>
                </a:solidFill>
              </a:rPr>
              <a:t>EXPLORE THE FULL</a:t>
            </a:r>
          </a:p>
          <a:p xmlns:a="http://schemas.openxmlformats.org/drawingml/2006/main">
            <a:pPr>
              <a:defRPr sz="3525" b="1">
                <a:solidFill>
                  <a:srgbClr val="082653"/>
                </a:solidFill>
              </a:defRPr>
            </a:pPr>
            <a:r>
              <a:rPr sz="3525" b="1">
                <a:solidFill>
                  <a:srgbClr val="082653"/>
                </a:solidFill>
              </a:rPr>
              <a:t>END-TO-END PROJECT</a:t>
            </a:r>
          </a:p>
        </p:txBody>
      </p:sp>
      <p:sp>
        <p:nvSpPr>
          <p:cNvPr id="5" name="slide-08-subtitle">
            <a:extLst xmlns:a="http://schemas.openxmlformats.org/drawingml/2006/main">
              <a:ext uri="{FF2B5EF4-FFF2-40B4-BE49-F238E27FC236}">
                <a16:creationId xmlns:a16="http://schemas.microsoft.com/office/drawing/2014/main" id="{1910B1D9-01C8-458F-8092-49CA2256E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E2D42"/>
                </a:solidFill>
              </a:defRPr>
            </a:pPr>
            <a:r>
              <a:rPr sz="1575">
                <a:solidFill>
                  <a:srgbClr val="1E2D42"/>
                </a:solidFill>
              </a:rPr>
              <a:t>From raw logistics data to business recommendations, the complete analytical workflow is structured for GitHub.</a:t>
            </a:r>
          </a:p>
        </p:txBody>
      </p:sp>
      <p:sp>
        <p:nvSpPr>
          <p:cNvPr id="6" name="repository-hero">
            <a:extLst xmlns:a="http://schemas.openxmlformats.org/drawingml/2006/main">
              <a:ext uri="{FF2B5EF4-FFF2-40B4-BE49-F238E27FC236}">
                <a16:creationId xmlns:a16="http://schemas.microsoft.com/office/drawing/2014/main" id="{D32CD2DC-F9F6-4B4A-A67E-23CB349E0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8915400" cy="3467100"/>
          </a:xfrm>
          <a:prstGeom xmlns:a="http://schemas.openxmlformats.org/drawingml/2006/main" prst="roundRect">
            <a:avLst>
              <a:gd name="adj" fmla="val 2198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epository-icon-bg">
            <a:extLst xmlns:a="http://schemas.openxmlformats.org/drawingml/2006/main">
              <a:ext uri="{FF2B5EF4-FFF2-40B4-BE49-F238E27FC236}">
                <a16:creationId xmlns:a16="http://schemas.microsoft.com/office/drawing/2014/main" id="{1C02E192-FFE4-4284-BF1B-38D3F20A0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962400"/>
            <a:ext cx="1638300" cy="1638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25">
            <a:solidFill>
              <a:srgbClr val="2F80ED"/>
            </a:solidFill>
            <a:prstDash val="solid"/>
          </a:ln>
        </p:spPr>
      </p:sp>
      <p:sp>
        <p:nvSpPr>
          <p:cNvPr id="8" name="repository-icon">
            <a:extLst xmlns:a="http://schemas.openxmlformats.org/drawingml/2006/main">
              <a:ext uri="{FF2B5EF4-FFF2-40B4-BE49-F238E27FC236}">
                <a16:creationId xmlns:a16="http://schemas.microsoft.com/office/drawing/2014/main" id="{F3FED91B-0610-4A6F-AEBE-824E2FFF1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00550"/>
            <a:ext cx="1638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082653"/>
                </a:solidFill>
              </a:defRPr>
            </a:pPr>
            <a:r>
              <a:rPr sz="3600" b="1">
                <a:solidFill>
                  <a:srgbClr val="082653"/>
                </a:solidFill>
              </a:rPr>
              <a:t>&lt;/&gt;</a:t>
            </a:r>
          </a:p>
        </p:txBody>
      </p:sp>
      <p:sp>
        <p:nvSpPr>
          <p:cNvPr id="9" name="repository-platform">
            <a:extLst xmlns:a="http://schemas.openxmlformats.org/drawingml/2006/main">
              <a:ext uri="{FF2B5EF4-FFF2-40B4-BE49-F238E27FC236}">
                <a16:creationId xmlns:a16="http://schemas.microsoft.com/office/drawing/2014/main" id="{F47A3714-4BAE-4237-A3FB-C0DF45E31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1638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554A3"/>
                </a:solidFill>
              </a:defRPr>
            </a:pPr>
            <a:r>
              <a:rPr sz="1200" b="1">
                <a:solidFill>
                  <a:srgbClr val="1554A3"/>
                </a:solidFill>
              </a:rPr>
              <a:t>GITHUB</a:t>
            </a:r>
          </a:p>
        </p:txBody>
      </p:sp>
      <p:sp>
        <p:nvSpPr>
          <p:cNvPr id="10" name="repository-owner">
            <a:extLst xmlns:a="http://schemas.openxmlformats.org/drawingml/2006/main">
              <a:ext uri="{FF2B5EF4-FFF2-40B4-BE49-F238E27FC236}">
                <a16:creationId xmlns:a16="http://schemas.microsoft.com/office/drawing/2014/main" id="{1D3D4CF0-2F8C-4035-9869-A15DF92B4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8862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9FB9DF"/>
                </a:solidFill>
              </a:defRPr>
            </a:pPr>
            <a:r>
              <a:rPr sz="1200" b="1">
                <a:solidFill>
                  <a:srgbClr val="9FB9DF"/>
                </a:solidFill>
              </a:rPr>
              <a:t>MOHAMEDTAREK00212  /</a:t>
            </a:r>
          </a:p>
        </p:txBody>
      </p:sp>
      <p:sp>
        <p:nvSpPr>
          <p:cNvPr id="11" name="repository-name">
            <a:extLst xmlns:a="http://schemas.openxmlformats.org/drawingml/2006/main">
              <a:ext uri="{FF2B5EF4-FFF2-40B4-BE49-F238E27FC236}">
                <a16:creationId xmlns:a16="http://schemas.microsoft.com/office/drawing/2014/main" id="{AEF5E06B-BE15-4B98-A7D1-5C8B8BF07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210050"/>
            <a:ext cx="590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Transportation-Logistics</a:t>
            </a:r>
          </a:p>
        </p:txBody>
      </p:sp>
      <p:sp>
        <p:nvSpPr>
          <p:cNvPr id="12" name="repository-description">
            <a:extLst xmlns:a="http://schemas.openxmlformats.org/drawingml/2006/main">
              <a:ext uri="{FF2B5EF4-FFF2-40B4-BE49-F238E27FC236}">
                <a16:creationId xmlns:a16="http://schemas.microsoft.com/office/drawing/2014/main" id="{AE9F80AB-9A3D-4063-B460-FEDE06589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819650"/>
            <a:ext cx="581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DE8F8"/>
                </a:solidFill>
              </a:defRPr>
            </a:pPr>
            <a:r>
              <a:rPr sz="1500">
                <a:solidFill>
                  <a:srgbClr val="DDE8F8"/>
                </a:solidFill>
              </a:rPr>
              <a:t>Transportation &amp; Logistics Analytics</a:t>
            </a:r>
          </a:p>
          <a:p xmlns:a="http://schemas.openxmlformats.org/drawingml/2006/main">
            <a:pPr>
              <a:defRPr sz="1500">
                <a:solidFill>
                  <a:srgbClr val="DDE8F8"/>
                </a:solidFill>
              </a:defRPr>
            </a:pPr>
            <a:r>
              <a:rPr sz="1500">
                <a:solidFill>
                  <a:srgbClr val="DDE8F8"/>
                </a:solidFill>
              </a:rPr>
              <a:t>End-to-End Data Analytics and BI Case Study</a:t>
            </a:r>
          </a:p>
        </p:txBody>
      </p:sp>
      <p:sp>
        <p:nvSpPr>
          <p:cNvPr id="13" name="repository-link-bg">
            <a:extLst xmlns:a="http://schemas.openxmlformats.org/drawingml/2006/main">
              <a:ext uri="{FF2B5EF4-FFF2-40B4-BE49-F238E27FC236}">
                <a16:creationId xmlns:a16="http://schemas.microsoft.com/office/drawing/2014/main" id="{E17E0AF1-A615-4E0B-B6DF-A348AF21E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5791200"/>
            <a:ext cx="58102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repository-link-label">
            <a:extLst xmlns:a="http://schemas.openxmlformats.org/drawingml/2006/main">
              <a:ext uri="{FF2B5EF4-FFF2-40B4-BE49-F238E27FC236}">
                <a16:creationId xmlns:a16="http://schemas.microsoft.com/office/drawing/2014/main" id="{4110B434-1385-4313-949A-B36C7DFD5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9055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VIEW THE PROJECT</a:t>
            </a:r>
          </a:p>
        </p:txBody>
      </p:sp>
      <p:sp>
        <p:nvSpPr>
          <p:cNvPr id="15" name="repository-link">
            <a:extLst xmlns:a="http://schemas.openxmlformats.org/drawingml/2006/main">
              <a:ext uri="{FF2B5EF4-FFF2-40B4-BE49-F238E27FC236}">
                <a16:creationId xmlns:a16="http://schemas.microsoft.com/office/drawing/2014/main" id="{323E9B88-A50C-4ECC-9C4F-34138EE3D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6172200"/>
            <a:ext cx="5391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github.com/Mohamedtarek00212/Transportation-Logistics</a:t>
            </a:r>
          </a:p>
        </p:txBody>
      </p:sp>
      <p:sp>
        <p:nvSpPr>
          <p:cNvPr id="16" name="scope-label">
            <a:extLst xmlns:a="http://schemas.openxmlformats.org/drawingml/2006/main">
              <a:ext uri="{FF2B5EF4-FFF2-40B4-BE49-F238E27FC236}">
                <a16:creationId xmlns:a16="http://schemas.microsoft.com/office/drawing/2014/main" id="{FEF00BB5-8EB7-479B-A656-6A204DF73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334250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554A3"/>
                </a:solidFill>
              </a:defRPr>
            </a:pPr>
            <a:r>
              <a:rPr sz="1275" b="1">
                <a:solidFill>
                  <a:srgbClr val="1554A3"/>
                </a:solidFill>
              </a:rPr>
              <a:t>END-TO-END PROJECT SCOPE</a:t>
            </a:r>
          </a:p>
        </p:txBody>
      </p:sp>
      <p:sp>
        <p:nvSpPr>
          <p:cNvPr id="17" name="scope-0">
            <a:extLst xmlns:a="http://schemas.openxmlformats.org/drawingml/2006/main">
              <a:ext uri="{FF2B5EF4-FFF2-40B4-BE49-F238E27FC236}">
                <a16:creationId xmlns:a16="http://schemas.microsoft.com/office/drawing/2014/main" id="{A0E0E9B0-D6B7-479B-8C5D-0C0E56DC5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18" name="scope-0-number-bg">
            <a:extLst xmlns:a="http://schemas.openxmlformats.org/drawingml/2006/main">
              <a:ext uri="{FF2B5EF4-FFF2-40B4-BE49-F238E27FC236}">
                <a16:creationId xmlns:a16="http://schemas.microsoft.com/office/drawing/2014/main" id="{88C5A176-2389-4ECB-9AF6-33D888F0C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819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4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scope-0-number">
            <a:extLst xmlns:a="http://schemas.openxmlformats.org/drawingml/2006/main">
              <a:ext uri="{FF2B5EF4-FFF2-40B4-BE49-F238E27FC236}">
                <a16:creationId xmlns:a16="http://schemas.microsoft.com/office/drawing/2014/main" id="{70500882-26D1-4ABF-9687-D126FDEE9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808672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20" name="scope-0-title">
            <a:extLst xmlns:a="http://schemas.openxmlformats.org/drawingml/2006/main">
              <a:ext uri="{FF2B5EF4-FFF2-40B4-BE49-F238E27FC236}">
                <a16:creationId xmlns:a16="http://schemas.microsoft.com/office/drawing/2014/main" id="{75D38CBE-3F6D-404A-8168-F1B15D04F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7981950"/>
            <a:ext cx="194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82653"/>
                </a:solidFill>
              </a:defRPr>
            </a:pPr>
            <a:r>
              <a:rPr sz="1125" b="1">
                <a:solidFill>
                  <a:srgbClr val="082653"/>
                </a:solidFill>
              </a:rPr>
              <a:t>CLEANED DATASET</a:t>
            </a:r>
          </a:p>
        </p:txBody>
      </p:sp>
      <p:sp>
        <p:nvSpPr>
          <p:cNvPr id="21" name="scope-0-body">
            <a:extLst xmlns:a="http://schemas.openxmlformats.org/drawingml/2006/main">
              <a:ext uri="{FF2B5EF4-FFF2-40B4-BE49-F238E27FC236}">
                <a16:creationId xmlns:a16="http://schemas.microsoft.com/office/drawing/2014/main" id="{4D46E18A-C8F0-43C3-86BA-576495DA8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8286750"/>
            <a:ext cx="1943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E2D42"/>
                </a:solidFill>
              </a:defRPr>
            </a:pPr>
            <a:r>
              <a:rPr sz="975">
                <a:solidFill>
                  <a:srgbClr val="1E2D42"/>
                </a:solidFill>
              </a:rPr>
              <a:t>Validated analysis-ready records</a:t>
            </a:r>
          </a:p>
        </p:txBody>
      </p:sp>
      <p:sp>
        <p:nvSpPr>
          <p:cNvPr id="22" name="scope-1">
            <a:extLst xmlns:a="http://schemas.openxmlformats.org/drawingml/2006/main">
              <a:ext uri="{FF2B5EF4-FFF2-40B4-BE49-F238E27FC236}">
                <a16:creationId xmlns:a16="http://schemas.microsoft.com/office/drawing/2014/main" id="{AD38CE6D-274F-4223-8C59-D3E15FB12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78105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23" name="scope-1-number-bg">
            <a:extLst xmlns:a="http://schemas.openxmlformats.org/drawingml/2006/main">
              <a:ext uri="{FF2B5EF4-FFF2-40B4-BE49-F238E27FC236}">
                <a16:creationId xmlns:a16="http://schemas.microsoft.com/office/drawing/2014/main" id="{2FDA80B8-D7C5-41E2-AB5F-940848230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79819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scope-1-number">
            <a:extLst xmlns:a="http://schemas.openxmlformats.org/drawingml/2006/main">
              <a:ext uri="{FF2B5EF4-FFF2-40B4-BE49-F238E27FC236}">
                <a16:creationId xmlns:a16="http://schemas.microsoft.com/office/drawing/2014/main" id="{6AA42EE7-9961-460E-AC40-8FF5944FD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808672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25" name="scope-1-title">
            <a:extLst xmlns:a="http://schemas.openxmlformats.org/drawingml/2006/main">
              <a:ext uri="{FF2B5EF4-FFF2-40B4-BE49-F238E27FC236}">
                <a16:creationId xmlns:a16="http://schemas.microsoft.com/office/drawing/2014/main" id="{6D7A3D25-B824-44EB-8376-3635FA505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7981950"/>
            <a:ext cx="194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82653"/>
                </a:solidFill>
              </a:defRPr>
            </a:pPr>
            <a:r>
              <a:rPr sz="1125" b="1">
                <a:solidFill>
                  <a:srgbClr val="082653"/>
                </a:solidFill>
              </a:rPr>
              <a:t>EDA NOTEBOOK</a:t>
            </a:r>
          </a:p>
        </p:txBody>
      </p:sp>
      <p:sp>
        <p:nvSpPr>
          <p:cNvPr id="26" name="scope-1-body">
            <a:extLst xmlns:a="http://schemas.openxmlformats.org/drawingml/2006/main">
              <a:ext uri="{FF2B5EF4-FFF2-40B4-BE49-F238E27FC236}">
                <a16:creationId xmlns:a16="http://schemas.microsoft.com/office/drawing/2014/main" id="{58331E46-7E63-4E86-9359-478B19D1B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8286750"/>
            <a:ext cx="1943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E2D42"/>
                </a:solidFill>
              </a:defRPr>
            </a:pPr>
            <a:r>
              <a:rPr sz="975">
                <a:solidFill>
                  <a:srgbClr val="1E2D42"/>
                </a:solidFill>
              </a:rPr>
              <a:t>Cleaning, exploration, and findings</a:t>
            </a:r>
          </a:p>
        </p:txBody>
      </p:sp>
      <p:sp>
        <p:nvSpPr>
          <p:cNvPr id="27" name="scope-2">
            <a:extLst xmlns:a="http://schemas.openxmlformats.org/drawingml/2006/main">
              <a:ext uri="{FF2B5EF4-FFF2-40B4-BE49-F238E27FC236}">
                <a16:creationId xmlns:a16="http://schemas.microsoft.com/office/drawing/2014/main" id="{5F477310-458F-4DDE-A15D-FF0F8A7F2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78105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28" name="scope-2-number-bg">
            <a:extLst xmlns:a="http://schemas.openxmlformats.org/drawingml/2006/main">
              <a:ext uri="{FF2B5EF4-FFF2-40B4-BE49-F238E27FC236}">
                <a16:creationId xmlns:a16="http://schemas.microsoft.com/office/drawing/2014/main" id="{7B223986-02BB-4F32-81FA-098B49A19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79819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scope-2-number">
            <a:extLst xmlns:a="http://schemas.openxmlformats.org/drawingml/2006/main">
              <a:ext uri="{FF2B5EF4-FFF2-40B4-BE49-F238E27FC236}">
                <a16:creationId xmlns:a16="http://schemas.microsoft.com/office/drawing/2014/main" id="{B80BE88F-96D4-4F2A-8594-E784FC1DF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808672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30" name="scope-2-title">
            <a:extLst xmlns:a="http://schemas.openxmlformats.org/drawingml/2006/main">
              <a:ext uri="{FF2B5EF4-FFF2-40B4-BE49-F238E27FC236}">
                <a16:creationId xmlns:a16="http://schemas.microsoft.com/office/drawing/2014/main" id="{6F3F1379-3946-4D4D-93B6-80BE0AB0C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7981950"/>
            <a:ext cx="194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82653"/>
                </a:solidFill>
              </a:defRPr>
            </a:pPr>
            <a:r>
              <a:rPr sz="1125" b="1">
                <a:solidFill>
                  <a:srgbClr val="082653"/>
                </a:solidFill>
              </a:rPr>
              <a:t>SQL DATABASE</a:t>
            </a:r>
          </a:p>
        </p:txBody>
      </p:sp>
      <p:sp>
        <p:nvSpPr>
          <p:cNvPr id="31" name="scope-2-body">
            <a:extLst xmlns:a="http://schemas.openxmlformats.org/drawingml/2006/main">
              <a:ext uri="{FF2B5EF4-FFF2-40B4-BE49-F238E27FC236}">
                <a16:creationId xmlns:a16="http://schemas.microsoft.com/office/drawing/2014/main" id="{F2FA1046-0BED-402D-8777-F871B269E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8286750"/>
            <a:ext cx="1943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E2D42"/>
                </a:solidFill>
              </a:defRPr>
            </a:pPr>
            <a:r>
              <a:rPr sz="975">
                <a:solidFill>
                  <a:srgbClr val="1E2D42"/>
                </a:solidFill>
              </a:rPr>
              <a:t>ERD, 13 tables, and 10 queries</a:t>
            </a:r>
          </a:p>
        </p:txBody>
      </p:sp>
      <p:sp>
        <p:nvSpPr>
          <p:cNvPr id="32" name="scope-3">
            <a:extLst xmlns:a="http://schemas.openxmlformats.org/drawingml/2006/main">
              <a:ext uri="{FF2B5EF4-FFF2-40B4-BE49-F238E27FC236}">
                <a16:creationId xmlns:a16="http://schemas.microsoft.com/office/drawing/2014/main" id="{EB05484F-0AD1-4EF1-AE0B-539891629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0678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33" name="scope-3-number-bg">
            <a:extLst xmlns:a="http://schemas.openxmlformats.org/drawingml/2006/main">
              <a:ext uri="{FF2B5EF4-FFF2-40B4-BE49-F238E27FC236}">
                <a16:creationId xmlns:a16="http://schemas.microsoft.com/office/drawing/2014/main" id="{3BDD01AE-592D-4D43-AA40-851C81690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92392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3B9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scope-3-number">
            <a:extLst xmlns:a="http://schemas.openxmlformats.org/drawingml/2006/main">
              <a:ext uri="{FF2B5EF4-FFF2-40B4-BE49-F238E27FC236}">
                <a16:creationId xmlns:a16="http://schemas.microsoft.com/office/drawing/2014/main" id="{A5ECE47A-BD2D-47E0-B102-A4CA4B872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934402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35" name="scope-3-title">
            <a:extLst xmlns:a="http://schemas.openxmlformats.org/drawingml/2006/main">
              <a:ext uri="{FF2B5EF4-FFF2-40B4-BE49-F238E27FC236}">
                <a16:creationId xmlns:a16="http://schemas.microsoft.com/office/drawing/2014/main" id="{B053BCA1-B041-4E66-8013-A2B11BD1B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9239250"/>
            <a:ext cx="194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82653"/>
                </a:solidFill>
              </a:defRPr>
            </a:pPr>
            <a:r>
              <a:rPr sz="1125" b="1">
                <a:solidFill>
                  <a:srgbClr val="082653"/>
                </a:solidFill>
              </a:rPr>
              <a:t>QUERY OUTPUTS</a:t>
            </a:r>
          </a:p>
        </p:txBody>
      </p:sp>
      <p:sp>
        <p:nvSpPr>
          <p:cNvPr id="36" name="scope-3-body">
            <a:extLst xmlns:a="http://schemas.openxmlformats.org/drawingml/2006/main">
              <a:ext uri="{FF2B5EF4-FFF2-40B4-BE49-F238E27FC236}">
                <a16:creationId xmlns:a16="http://schemas.microsoft.com/office/drawing/2014/main" id="{E8643B1D-E514-49BF-8051-0796DF626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9544050"/>
            <a:ext cx="1943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E2D42"/>
                </a:solidFill>
              </a:defRPr>
            </a:pPr>
            <a:r>
              <a:rPr sz="975">
                <a:solidFill>
                  <a:srgbClr val="1E2D42"/>
                </a:solidFill>
              </a:rPr>
              <a:t>Evidence from analytical SQL</a:t>
            </a:r>
          </a:p>
        </p:txBody>
      </p:sp>
      <p:sp>
        <p:nvSpPr>
          <p:cNvPr id="37" name="scope-4">
            <a:extLst xmlns:a="http://schemas.openxmlformats.org/drawingml/2006/main">
              <a:ext uri="{FF2B5EF4-FFF2-40B4-BE49-F238E27FC236}">
                <a16:creationId xmlns:a16="http://schemas.microsoft.com/office/drawing/2014/main" id="{DA242DF1-DCA0-47C7-B083-F3CA1B093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90678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38" name="scope-4-number-bg">
            <a:extLst xmlns:a="http://schemas.openxmlformats.org/drawingml/2006/main">
              <a:ext uri="{FF2B5EF4-FFF2-40B4-BE49-F238E27FC236}">
                <a16:creationId xmlns:a16="http://schemas.microsoft.com/office/drawing/2014/main" id="{BAA91D51-9396-44C6-9D03-62993529A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92392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scope-4-number">
            <a:extLst xmlns:a="http://schemas.openxmlformats.org/drawingml/2006/main">
              <a:ext uri="{FF2B5EF4-FFF2-40B4-BE49-F238E27FC236}">
                <a16:creationId xmlns:a16="http://schemas.microsoft.com/office/drawing/2014/main" id="{69D86B42-2A39-4774-8102-E1486A6E5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934402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40" name="scope-4-title">
            <a:extLst xmlns:a="http://schemas.openxmlformats.org/drawingml/2006/main">
              <a:ext uri="{FF2B5EF4-FFF2-40B4-BE49-F238E27FC236}">
                <a16:creationId xmlns:a16="http://schemas.microsoft.com/office/drawing/2014/main" id="{58F76390-62A9-4FE1-B954-16E0E5A38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9239250"/>
            <a:ext cx="194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82653"/>
                </a:solidFill>
              </a:defRPr>
            </a:pPr>
            <a:r>
              <a:rPr sz="1125" b="1">
                <a:solidFill>
                  <a:srgbClr val="082653"/>
                </a:solidFill>
              </a:rPr>
              <a:t>POWER BI</a:t>
            </a:r>
          </a:p>
        </p:txBody>
      </p:sp>
      <p:sp>
        <p:nvSpPr>
          <p:cNvPr id="41" name="scope-4-body">
            <a:extLst xmlns:a="http://schemas.openxmlformats.org/drawingml/2006/main">
              <a:ext uri="{FF2B5EF4-FFF2-40B4-BE49-F238E27FC236}">
                <a16:creationId xmlns:a16="http://schemas.microsoft.com/office/drawing/2014/main" id="{1DC69142-034C-4654-91D9-A5ACA248F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9544050"/>
            <a:ext cx="1943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E2D42"/>
                </a:solidFill>
              </a:defRPr>
            </a:pPr>
            <a:r>
              <a:rPr sz="975">
                <a:solidFill>
                  <a:srgbClr val="1E2D42"/>
                </a:solidFill>
              </a:rPr>
              <a:t>Three interactive dashboard views</a:t>
            </a:r>
          </a:p>
        </p:txBody>
      </p:sp>
      <p:sp>
        <p:nvSpPr>
          <p:cNvPr id="42" name="scope-5">
            <a:extLst xmlns:a="http://schemas.openxmlformats.org/drawingml/2006/main">
              <a:ext uri="{FF2B5EF4-FFF2-40B4-BE49-F238E27FC236}">
                <a16:creationId xmlns:a16="http://schemas.microsoft.com/office/drawing/2014/main" id="{6321CC2C-4252-4D11-B244-4943812A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90678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43" name="scope-5-number-bg">
            <a:extLst xmlns:a="http://schemas.openxmlformats.org/drawingml/2006/main">
              <a:ext uri="{FF2B5EF4-FFF2-40B4-BE49-F238E27FC236}">
                <a16:creationId xmlns:a16="http://schemas.microsoft.com/office/drawing/2014/main" id="{2A424B60-4E0C-4DA0-A46E-1162B3781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92392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20A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scope-5-number">
            <a:extLst xmlns:a="http://schemas.openxmlformats.org/drawingml/2006/main">
              <a:ext uri="{FF2B5EF4-FFF2-40B4-BE49-F238E27FC236}">
                <a16:creationId xmlns:a16="http://schemas.microsoft.com/office/drawing/2014/main" id="{B5D2DBE4-61E6-41B8-A06E-BDE7F6D4E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934402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45" name="scope-5-title">
            <a:extLst xmlns:a="http://schemas.openxmlformats.org/drawingml/2006/main">
              <a:ext uri="{FF2B5EF4-FFF2-40B4-BE49-F238E27FC236}">
                <a16:creationId xmlns:a16="http://schemas.microsoft.com/office/drawing/2014/main" id="{E8C01AAD-2D80-48B2-8845-574E5C3AF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9239250"/>
            <a:ext cx="194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82653"/>
                </a:solidFill>
              </a:defRPr>
            </a:pPr>
            <a:r>
              <a:rPr sz="1125" b="1">
                <a:solidFill>
                  <a:srgbClr val="082653"/>
                </a:solidFill>
              </a:rPr>
              <a:t>REPORT &amp; STORY</a:t>
            </a:r>
          </a:p>
        </p:txBody>
      </p:sp>
      <p:sp>
        <p:nvSpPr>
          <p:cNvPr id="46" name="scope-5-body">
            <a:extLst xmlns:a="http://schemas.openxmlformats.org/drawingml/2006/main">
              <a:ext uri="{FF2B5EF4-FFF2-40B4-BE49-F238E27FC236}">
                <a16:creationId xmlns:a16="http://schemas.microsoft.com/office/drawing/2014/main" id="{EB25CA4A-CDAE-4DEC-BB0C-3FB90E07D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9544050"/>
            <a:ext cx="1943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E2D42"/>
                </a:solidFill>
              </a:defRPr>
            </a:pPr>
            <a:r>
              <a:rPr sz="975">
                <a:solidFill>
                  <a:srgbClr val="1E2D42"/>
                </a:solidFill>
              </a:rPr>
              <a:t>Arabic report and business narrative</a:t>
            </a:r>
          </a:p>
        </p:txBody>
      </p:sp>
      <p:sp>
        <p:nvSpPr>
          <p:cNvPr id="47" name="project-pipeline">
            <a:extLst xmlns:a="http://schemas.openxmlformats.org/drawingml/2006/main">
              <a:ext uri="{FF2B5EF4-FFF2-40B4-BE49-F238E27FC236}">
                <a16:creationId xmlns:a16="http://schemas.microsoft.com/office/drawing/2014/main" id="{BDAA1920-B597-4F94-BA62-8C3006426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0"/>
            <a:ext cx="89154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2FD"/>
          </a:solidFill>
          <a:ln xmlns:a="http://schemas.openxmlformats.org/drawingml/2006/main" w="9525">
            <a:solidFill>
              <a:srgbClr val="2F80ED"/>
            </a:solidFill>
            <a:prstDash val="solid"/>
          </a:ln>
        </p:spPr>
      </p:sp>
      <p:sp>
        <p:nvSpPr>
          <p:cNvPr id="48" name="pipeline-label">
            <a:extLst xmlns:a="http://schemas.openxmlformats.org/drawingml/2006/main">
              <a:ext uri="{FF2B5EF4-FFF2-40B4-BE49-F238E27FC236}">
                <a16:creationId xmlns:a16="http://schemas.microsoft.com/office/drawing/2014/main" id="{30BECC17-CB82-43A7-B264-685CCBD57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6489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54A3"/>
                </a:solidFill>
              </a:defRPr>
            </a:pPr>
            <a:r>
              <a:rPr sz="1050" b="1">
                <a:solidFill>
                  <a:srgbClr val="1554A3"/>
                </a:solidFill>
              </a:rPr>
              <a:t>PROJECT JOURNEY</a:t>
            </a:r>
          </a:p>
        </p:txBody>
      </p:sp>
      <p:sp>
        <p:nvSpPr>
          <p:cNvPr id="49" name="pipeline-step-0">
            <a:extLst xmlns:a="http://schemas.openxmlformats.org/drawingml/2006/main">
              <a:ext uri="{FF2B5EF4-FFF2-40B4-BE49-F238E27FC236}">
                <a16:creationId xmlns:a16="http://schemas.microsoft.com/office/drawing/2014/main" id="{8D54AB91-DD33-4506-B2BC-19A149E6E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972800"/>
            <a:ext cx="125730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pipeline-step-0-text">
            <a:extLst xmlns:a="http://schemas.openxmlformats.org/drawingml/2006/main">
              <a:ext uri="{FF2B5EF4-FFF2-40B4-BE49-F238E27FC236}">
                <a16:creationId xmlns:a16="http://schemas.microsoft.com/office/drawing/2014/main" id="{FC8B8F26-95D1-4519-88FB-53F986570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1068050"/>
            <a:ext cx="1104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51" name="pipeline-arrow-0">
            <a:extLst xmlns:a="http://schemas.openxmlformats.org/drawingml/2006/main">
              <a:ext uri="{FF2B5EF4-FFF2-40B4-BE49-F238E27FC236}">
                <a16:creationId xmlns:a16="http://schemas.microsoft.com/office/drawing/2014/main" id="{0298E0B0-E0DA-4F35-84B5-1A42481C6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102042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54A3"/>
                </a:solidFill>
              </a:defRPr>
            </a:pPr>
            <a:r>
              <a:rPr sz="1650" b="1">
                <a:solidFill>
                  <a:srgbClr val="1554A3"/>
                </a:solidFill>
              </a:rPr>
              <a:t>&gt;</a:t>
            </a:r>
          </a:p>
        </p:txBody>
      </p:sp>
      <p:sp>
        <p:nvSpPr>
          <p:cNvPr id="52" name="pipeline-step-1">
            <a:extLst xmlns:a="http://schemas.openxmlformats.org/drawingml/2006/main">
              <a:ext uri="{FF2B5EF4-FFF2-40B4-BE49-F238E27FC236}">
                <a16:creationId xmlns:a16="http://schemas.microsoft.com/office/drawing/2014/main" id="{5DD79A35-845E-428E-92AA-5A9296C6F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0972800"/>
            <a:ext cx="125730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pipeline-step-1-text">
            <a:extLst xmlns:a="http://schemas.openxmlformats.org/drawingml/2006/main">
              <a:ext uri="{FF2B5EF4-FFF2-40B4-BE49-F238E27FC236}">
                <a16:creationId xmlns:a16="http://schemas.microsoft.com/office/drawing/2014/main" id="{F4F965E9-757D-410D-A87D-9ACBBEB06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1068050"/>
            <a:ext cx="1104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EDA</a:t>
            </a:r>
          </a:p>
        </p:txBody>
      </p:sp>
      <p:sp>
        <p:nvSpPr>
          <p:cNvPr id="54" name="pipeline-arrow-1">
            <a:extLst xmlns:a="http://schemas.openxmlformats.org/drawingml/2006/main">
              <a:ext uri="{FF2B5EF4-FFF2-40B4-BE49-F238E27FC236}">
                <a16:creationId xmlns:a16="http://schemas.microsoft.com/office/drawing/2014/main" id="{37D24A98-2E5F-482A-9216-7D4734D0B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102042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54A3"/>
                </a:solidFill>
              </a:defRPr>
            </a:pPr>
            <a:r>
              <a:rPr sz="1650" b="1">
                <a:solidFill>
                  <a:srgbClr val="1554A3"/>
                </a:solidFill>
              </a:rPr>
              <a:t>&gt;</a:t>
            </a:r>
          </a:p>
        </p:txBody>
      </p:sp>
      <p:sp>
        <p:nvSpPr>
          <p:cNvPr id="55" name="pipeline-step-2">
            <a:extLst xmlns:a="http://schemas.openxmlformats.org/drawingml/2006/main">
              <a:ext uri="{FF2B5EF4-FFF2-40B4-BE49-F238E27FC236}">
                <a16:creationId xmlns:a16="http://schemas.microsoft.com/office/drawing/2014/main" id="{1C3537D8-A008-4BAD-8B56-742A91D07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0972800"/>
            <a:ext cx="125730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pipeline-step-2-text">
            <a:extLst xmlns:a="http://schemas.openxmlformats.org/drawingml/2006/main">
              <a:ext uri="{FF2B5EF4-FFF2-40B4-BE49-F238E27FC236}">
                <a16:creationId xmlns:a16="http://schemas.microsoft.com/office/drawing/2014/main" id="{CA526F70-024E-4A4E-89D7-5CFF2E743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1068050"/>
            <a:ext cx="1104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SQL</a:t>
            </a:r>
          </a:p>
        </p:txBody>
      </p:sp>
      <p:sp>
        <p:nvSpPr>
          <p:cNvPr id="57" name="pipeline-arrow-2">
            <a:extLst xmlns:a="http://schemas.openxmlformats.org/drawingml/2006/main">
              <a:ext uri="{FF2B5EF4-FFF2-40B4-BE49-F238E27FC236}">
                <a16:creationId xmlns:a16="http://schemas.microsoft.com/office/drawing/2014/main" id="{637EB526-A625-4052-B87D-9E27A7A00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102042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54A3"/>
                </a:solidFill>
              </a:defRPr>
            </a:pPr>
            <a:r>
              <a:rPr sz="1650" b="1">
                <a:solidFill>
                  <a:srgbClr val="1554A3"/>
                </a:solidFill>
              </a:rPr>
              <a:t>&gt;</a:t>
            </a:r>
          </a:p>
        </p:txBody>
      </p:sp>
      <p:sp>
        <p:nvSpPr>
          <p:cNvPr id="58" name="pipeline-step-3">
            <a:extLst xmlns:a="http://schemas.openxmlformats.org/drawingml/2006/main">
              <a:ext uri="{FF2B5EF4-FFF2-40B4-BE49-F238E27FC236}">
                <a16:creationId xmlns:a16="http://schemas.microsoft.com/office/drawing/2014/main" id="{FA2F0B55-4837-4EC5-BA33-88AD25FCE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0972800"/>
            <a:ext cx="125730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pipeline-step-3-text">
            <a:extLst xmlns:a="http://schemas.openxmlformats.org/drawingml/2006/main">
              <a:ext uri="{FF2B5EF4-FFF2-40B4-BE49-F238E27FC236}">
                <a16:creationId xmlns:a16="http://schemas.microsoft.com/office/drawing/2014/main" id="{B47ED2FC-7CC2-432D-AB43-A670AE6BB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1068050"/>
            <a:ext cx="1104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POWER BI</a:t>
            </a:r>
          </a:p>
        </p:txBody>
      </p:sp>
      <p:sp>
        <p:nvSpPr>
          <p:cNvPr id="60" name="pipeline-arrow-3">
            <a:extLst xmlns:a="http://schemas.openxmlformats.org/drawingml/2006/main">
              <a:ext uri="{FF2B5EF4-FFF2-40B4-BE49-F238E27FC236}">
                <a16:creationId xmlns:a16="http://schemas.microsoft.com/office/drawing/2014/main" id="{43A32495-538D-4D81-BFF6-0BEA9F387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102042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54A3"/>
                </a:solidFill>
              </a:defRPr>
            </a:pPr>
            <a:r>
              <a:rPr sz="1650" b="1">
                <a:solidFill>
                  <a:srgbClr val="1554A3"/>
                </a:solidFill>
              </a:rPr>
              <a:t>&gt;</a:t>
            </a:r>
          </a:p>
        </p:txBody>
      </p:sp>
      <p:sp>
        <p:nvSpPr>
          <p:cNvPr id="61" name="pipeline-step-4">
            <a:extLst xmlns:a="http://schemas.openxmlformats.org/drawingml/2006/main">
              <a:ext uri="{FF2B5EF4-FFF2-40B4-BE49-F238E27FC236}">
                <a16:creationId xmlns:a16="http://schemas.microsoft.com/office/drawing/2014/main" id="{1A39D6D7-51DC-4B68-8F6B-EA52F3FD0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0972800"/>
            <a:ext cx="125730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pipeline-step-4-text">
            <a:extLst xmlns:a="http://schemas.openxmlformats.org/drawingml/2006/main">
              <a:ext uri="{FF2B5EF4-FFF2-40B4-BE49-F238E27FC236}">
                <a16:creationId xmlns:a16="http://schemas.microsoft.com/office/drawing/2014/main" id="{94045EDE-7C7C-49D2-AE9E-F039D62E7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1068050"/>
            <a:ext cx="1104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DECISIONS</a:t>
            </a:r>
          </a:p>
        </p:txBody>
      </p:sp>
      <p:sp>
        <p:nvSpPr>
          <p:cNvPr id="63" name="slide-08-footer-left">
            <a:extLst xmlns:a="http://schemas.openxmlformats.org/drawingml/2006/main">
              <a:ext uri="{FF2B5EF4-FFF2-40B4-BE49-F238E27FC236}">
                <a16:creationId xmlns:a16="http://schemas.microsoft.com/office/drawing/2014/main" id="{ACF66BC3-C206-40DF-86CF-90E87834C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2682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82653"/>
                </a:solidFill>
              </a:defRPr>
            </a:pPr>
            <a:r>
              <a:rPr sz="1200" b="1">
                <a:solidFill>
                  <a:srgbClr val="082653"/>
                </a:solidFill>
              </a:rPr>
              <a:t>TRANSPORTATION &amp; LOGISTICS ANALYTICS</a:t>
            </a:r>
          </a:p>
        </p:txBody>
      </p:sp>
      <p:sp>
        <p:nvSpPr>
          <p:cNvPr id="64" name="slide-08-footer-right">
            <a:extLst xmlns:a="http://schemas.openxmlformats.org/drawingml/2006/main">
              <a:ext uri="{FF2B5EF4-FFF2-40B4-BE49-F238E27FC236}">
                <a16:creationId xmlns:a16="http://schemas.microsoft.com/office/drawing/2014/main" id="{194E64C8-BEE3-4097-9FD9-38BC2D1A1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2268200"/>
            <a:ext cx="3886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718096"/>
                </a:solidFill>
              </a:defRPr>
            </a:pPr>
            <a:r>
              <a:rPr sz="1200">
                <a:solidFill>
                  <a:srgbClr val="718096"/>
                </a:solidFill>
              </a:rPr>
              <a:t>MOHAMED TAREK  |  DATA ANALYST</a:t>
            </a:r>
          </a:p>
        </p:txBody>
      </p:sp>
    </p:spTree>
    <p:extLst>
      <p:ext uri="{BB962C8B-B14F-4D97-AF65-F5344CB8AC3E}">
        <p14:creationId xmlns:p14="http://schemas.microsoft.com/office/powerpoint/2010/main" val="70087620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2026-08-31T10:55:39.3380000Z</dcterms:created>
  <dcterms:modified xsi:type="dcterms:W3CDTF">2026-08-31T10:55:39.3380000Z</dcterms:modified>
</coreProperties>
</file>