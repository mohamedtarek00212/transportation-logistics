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f259166a2004196" /><Relationship Type="http://schemas.openxmlformats.org/officeDocument/2006/relationships/extended-properties" Target="/docProps/app.xml" Id="Rbdbcd02d8f834384" /><Relationship Type="http://schemas.openxmlformats.org/officeDocument/2006/relationships/officeDocument" Target="/ppt/presentation.xml" Id="R8a1cb843773249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d017047bd84d1a"/>
  </p:sldMasterIdLst>
  <p:notesMasterIdLst>
    <p:notesMasterId xmlns:r="http://schemas.openxmlformats.org/officeDocument/2006/relationships" r:id="R418b7cd258c449a6"/>
  </p:notesMasterIdLst>
  <p:sldIdLst>
    <p:sldId xmlns:r="http://schemas.openxmlformats.org/officeDocument/2006/relationships" id="256" r:id="Rc23ef76919c748e0"/>
    <p:sldId xmlns:r="http://schemas.openxmlformats.org/officeDocument/2006/relationships" id="257" r:id="Rbae99ee60d894974"/>
    <p:sldId xmlns:r="http://schemas.openxmlformats.org/officeDocument/2006/relationships" id="258" r:id="R0ef39fc16907484c"/>
    <p:sldId xmlns:r="http://schemas.openxmlformats.org/officeDocument/2006/relationships" id="259" r:id="R416f53369b6c4b12"/>
    <p:sldId xmlns:r="http://schemas.openxmlformats.org/officeDocument/2006/relationships" id="260" r:id="Ra9909728fad74faa"/>
    <p:sldId xmlns:r="http://schemas.openxmlformats.org/officeDocument/2006/relationships" id="261" r:id="R8a2bc6308cab4571"/>
    <p:sldId xmlns:r="http://schemas.openxmlformats.org/officeDocument/2006/relationships" id="262" r:id="R9c07a5d0c1dd4e1b"/>
    <p:sldId xmlns:r="http://schemas.openxmlformats.org/officeDocument/2006/relationships" id="263" r:id="R9e1688bdc93e47e5"/>
  </p:sldIdLst>
  <p:sldSz cx="10287000" cy="128587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5b669d07824f91" /><Relationship Type="http://schemas.openxmlformats.org/officeDocument/2006/relationships/slideMaster" Target="/ppt/slideMasters/slideMaster1.xml" Id="R2ed017047bd84d1a" /><Relationship Type="http://schemas.openxmlformats.org/officeDocument/2006/relationships/notesMaster" Target="/ppt/notesMasters/notesMaster1.xml" Id="R418b7cd258c449a6" /><Relationship Type="http://schemas.openxmlformats.org/officeDocument/2006/relationships/presProps" Target="/ppt/presProps.xml" Id="Rde97a4ef99654c3f" /><Relationship Type="http://schemas.openxmlformats.org/officeDocument/2006/relationships/tableStyles" Target="/ppt/tableStyles.xml" Id="R1b53af2d89e5425a" /><Relationship Type="http://schemas.openxmlformats.org/officeDocument/2006/relationships/slide" Target="/ppt/slides/slide1.xml" Id="Rc23ef76919c748e0" /><Relationship Type="http://schemas.openxmlformats.org/officeDocument/2006/relationships/slide" Target="/ppt/slides/slide2.xml" Id="Rbae99ee60d894974" /><Relationship Type="http://schemas.openxmlformats.org/officeDocument/2006/relationships/slide" Target="/ppt/slides/slide3.xml" Id="R0ef39fc16907484c" /><Relationship Type="http://schemas.openxmlformats.org/officeDocument/2006/relationships/slide" Target="/ppt/slides/slide4.xml" Id="R416f53369b6c4b12" /><Relationship Type="http://schemas.openxmlformats.org/officeDocument/2006/relationships/slide" Target="/ppt/slides/slide5.xml" Id="Ra9909728fad74faa" /><Relationship Type="http://schemas.openxmlformats.org/officeDocument/2006/relationships/slide" Target="/ppt/slides/slide6.xml" Id="R8a2bc6308cab4571" /><Relationship Type="http://schemas.openxmlformats.org/officeDocument/2006/relationships/slide" Target="/ppt/slides/slide7.xml" Id="R9c07a5d0c1dd4e1b" /><Relationship Type="http://schemas.openxmlformats.org/officeDocument/2006/relationships/slide" Target="/ppt/slides/slide8.xml" Id="R9e1688bdc93e47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a9bb24ed6d245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0c27b63c4e476d" /><Relationship Type="http://schemas.openxmlformats.org/officeDocument/2006/relationships/notesMaster" Target="/ppt/notesMasters/notesMaster1.xml" Id="R741600e4572540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56640f5d9984bff" /><Relationship Type="http://schemas.openxmlformats.org/officeDocument/2006/relationships/notesMaster" Target="/ppt/notesMasters/notesMaster1.xml" Id="R9135324aaa1f4c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1758213add34d07" /><Relationship Type="http://schemas.openxmlformats.org/officeDocument/2006/relationships/notesMaster" Target="/ppt/notesMasters/notesMaster1.xml" Id="R989891be7cf14de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1e6c9ed497645bc" /><Relationship Type="http://schemas.openxmlformats.org/officeDocument/2006/relationships/notesMaster" Target="/ppt/notesMasters/notesMaster1.xml" Id="Rc5ee2571d8ff48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6bb020320ce4df6" /><Relationship Type="http://schemas.openxmlformats.org/officeDocument/2006/relationships/notesMaster" Target="/ppt/notesMasters/notesMaster1.xml" Id="Rd39a4519e52147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89afa30c8e4bab" /><Relationship Type="http://schemas.openxmlformats.org/officeDocument/2006/relationships/notesMaster" Target="/ppt/notesMasters/notesMaster1.xml" Id="Rf9f7b7cf2e414b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b81da76e63549c3" /><Relationship Type="http://schemas.openxmlformats.org/officeDocument/2006/relationships/notesMaster" Target="/ppt/notesMasters/notesMaster1.xml" Id="R30a165769d1e4ea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817fb5ae32d45f1" /><Relationship Type="http://schemas.openxmlformats.org/officeDocument/2006/relationships/notesMaster" Target="/ppt/notesMasters/notesMaster1.xml" Id="R5c4a1bad361947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BI dashboard image: Power BI/Screenshot 2026-08-31 111930.png</a:t>
            </a:r>
          </a:p>
          <a:p xmlns:a="http://schemas.openxmlformats.org/drawingml/2006/main">
            <a:r>
              <a:t>- Cleaned dataset: cleaned_transportation_logistics_data.xlsx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Logistics_EDA.ipynb: project scope, analytical dimensions, and business questions</a:t>
            </a:r>
          </a:p>
          <a:p xmlns:a="http://schemas.openxmlformats.org/drawingml/2006/main">
            <a:r>
              <a:t>- cleaned_transportation_logistics_data.xlsx: shipment, supplier, customer, vehicle, route, and GPS fields</a:t>
            </a:r>
          </a:p>
          <a:p xmlns:a="http://schemas.openxmlformats.org/drawingml/2006/main">
            <a:r>
              <a:t>- storytelling.txt: business-problem narrative</a:t>
            </a:r>
          </a:p>
          <a:p xmlns:a="http://schemas.openxmlformats.org/drawingml/2006/main">
            <a:r>
              <a:t>- AI-generated conceptual logistics bottleneck visual created for this case study; no factual claims are encoded in the image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cleaned_transportation_logistics_data.xlsx: 6,773 total records; 4,263 delayed; 2,510 on-time</a:t>
            </a:r>
          </a:p>
          <a:p xmlns:a="http://schemas.openxmlformats.org/drawingml/2006/main">
            <a:r>
              <a:t>- Logistics_EDA.ipynb: delivery-status definition and delay analysis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Project_ERD.html: complete 13-table entity relationship model and documented relationships</a:t>
            </a:r>
          </a:p>
          <a:p xmlns:a="http://schemas.openxmlformats.org/drawingml/2006/main">
            <a:r>
              <a:t>- SQL/SQL_Script_Final.sql: final SQL Server schema and Q1-Q10 analytical queries</a:t>
            </a:r>
          </a:p>
          <a:p xmlns:a="http://schemas.openxmlformats.org/drawingml/2006/main">
            <a:r>
              <a:t>- SQL/Tables/*.csv: source tables used by the relational database</a:t>
            </a:r>
          </a:p>
          <a:p xmlns:a="http://schemas.openxmlformats.org/drawingml/2006/main">
            <a:r>
              <a:t>- Note: TrackingEvents, DeliveryAttempts, Payments, and ProofOfDelivery are assumed/demo transactional data used to test the proposed database and query layer; they are separate from the historical EDA KPI dataset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Power BI/⏱️ Delay Analysis.png: Delay Analysis dashboard page</a:t>
            </a:r>
          </a:p>
          <a:p xmlns:a="http://schemas.openxmlformats.org/drawingml/2006/main">
            <a:r>
              <a:t>- Power BI/🚛 Suppliers &amp; Customers.png: Suppliers and Customers dashboard page</a:t>
            </a:r>
          </a:p>
          <a:p xmlns:a="http://schemas.openxmlformats.org/drawingml/2006/main">
            <a:r>
              <a:t>- Power BI/📡🚗 Fleet &amp; GPS.png: Fleet and GPS dashboard page</a:t>
            </a:r>
          </a:p>
          <a:p xmlns:a="http://schemas.openxmlformats.org/drawingml/2006/main">
            <a:r>
              <a:t>- cleaned_transportation_logistics_data.xlsx: 6,773 shipments and March 2019–September 2020 analysis period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Power BI/⏱️ Delay Analysis.png: 10 months at or above the 96% delay threshold within the July 2019–May 2020 window; April 2020 has no shipment records</a:t>
            </a:r>
          </a:p>
          <a:p xmlns:a="http://schemas.openxmlformats.org/drawingml/2006/main">
            <a:r>
              <a:t>- Power BI/⏱️ Delay Analysis.png: distance-segment and GPS-provider delay rates</a:t>
            </a:r>
          </a:p>
          <a:p xmlns:a="http://schemas.openxmlformats.org/drawingml/2006/main">
            <a:r>
              <a:t>- Power BI/📡🚗 Fleet &amp; GPS.png: vehicle-type volume and delay rates</a:t>
            </a:r>
          </a:p>
          <a:p xmlns:a="http://schemas.openxmlformats.org/drawingml/2006/main">
            <a:r>
              <a:t>- Power BI/🚛 Suppliers &amp; Customers.png: supplier and customer delay rates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Power BI/⏱️ Delay Analysis.png: distance and GPS-provider risk evidence</a:t>
            </a:r>
          </a:p>
          <a:p xmlns:a="http://schemas.openxmlformats.org/drawingml/2006/main">
            <a:r>
              <a:t>- Power BI/📡🚗 Fleet &amp; GPS.png: vehicle-type delay evidence</a:t>
            </a:r>
          </a:p>
          <a:p xmlns:a="http://schemas.openxmlformats.org/drawingml/2006/main">
            <a:r>
              <a:t>- Power BI/🚛 Suppliers &amp; Customers.png: partner delay evidence and 737 unknown supplier records</a:t>
            </a:r>
          </a:p>
          <a:p xmlns:a="http://schemas.openxmlformats.org/drawingml/2006/main">
            <a:r>
              <a:t>- Recommendations are analytical proposals derived from the documented findings; no unverified performance targets are asserted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 repository URL provided by the project author: https://github.com/Mohamedtarek00212/Transportation-Logistics</a:t>
            </a:r>
          </a:p>
          <a:p xmlns:a="http://schemas.openxmlformats.org/drawingml/2006/main">
            <a:r>
              <a:t>- LinkedIn profile URL provided by the project author: https://www.linkedin.com/in/mohamedtarek-aboelkhir/</a:t>
            </a:r>
          </a:p>
          <a:p xmlns:a="http://schemas.openxmlformats.org/drawingml/2006/main">
            <a:r>
              <a:t>- Project scope derived from the user-provided notebook, cleaned dataset, SQL files, screenshots, report, and storytelling file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3cde478a2d45d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a0ce37b0a3c4576" /><Relationship Type="http://schemas.openxmlformats.org/officeDocument/2006/relationships/slideLayout" Target="/ppt/slideLayouts/slideLayout1.xml" Id="Rfcad555ec64a46d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ad555ec64a46d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c3b45e21d74b5e" /><Relationship Type="http://schemas.openxmlformats.org/officeDocument/2006/relationships/image" Target="/ppt/media/image.png" Id="R0f23f0f31795478a" /><Relationship Type="http://schemas.openxmlformats.org/officeDocument/2006/relationships/notesSlide" Target="/ppt/notesSlides/notesSlide1.xml" Id="R97434472824541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3496f5838c4abe" /><Relationship Type="http://schemas.openxmlformats.org/officeDocument/2006/relationships/image" Target="/ppt/media/image2.png" Id="R9962326a3e964cea" /><Relationship Type="http://schemas.openxmlformats.org/officeDocument/2006/relationships/notesSlide" Target="/ppt/notesSlides/notesSlide2.xml" Id="R300c286dc6ef40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9aab1a30544553" /><Relationship Type="http://schemas.openxmlformats.org/officeDocument/2006/relationships/chart" Target="/ppt/slides/charts/chart1.xml" Id="Rb97840b9706d4121" /><Relationship Type="http://schemas.openxmlformats.org/officeDocument/2006/relationships/notesSlide" Target="/ppt/notesSlides/notesSlide3.xml" Id="R9d86d2d245c84e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6487d675e84326" /><Relationship Type="http://schemas.openxmlformats.org/officeDocument/2006/relationships/notesSlide" Target="/ppt/notesSlides/notesSlide4.xml" Id="R64b316d9282840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e5c2ec1f504ed0" /><Relationship Type="http://schemas.openxmlformats.org/officeDocument/2006/relationships/image" Target="/ppt/media/image3.png" Id="Rcb19a229cb8d4f33" /><Relationship Type="http://schemas.openxmlformats.org/officeDocument/2006/relationships/image" Target="/ppt/media/image4.png" Id="R9647af9daeb44238" /><Relationship Type="http://schemas.openxmlformats.org/officeDocument/2006/relationships/image" Target="/ppt/media/image5.png" Id="Rc4e40126a86546f8" /><Relationship Type="http://schemas.openxmlformats.org/officeDocument/2006/relationships/notesSlide" Target="/ppt/notesSlides/notesSlide5.xml" Id="R46d180bea64140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6adabfcee14774" /><Relationship Type="http://schemas.openxmlformats.org/officeDocument/2006/relationships/notesSlide" Target="/ppt/notesSlides/notesSlide6.xml" Id="R66d174f6693a45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6f259a4a9043cf" /><Relationship Type="http://schemas.openxmlformats.org/officeDocument/2006/relationships/notesSlide" Target="/ppt/notesSlides/notesSlide7.xml" Id="Rf6200a02b326481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7bb368ac2a4647" /><Relationship Type="http://schemas.openxmlformats.org/officeDocument/2006/relationships/notesSlide" Target="/ppt/notesSlides/notesSlide8.xml" Id="R48e78540e43749d6" /></Relationships>
</file>

<file path=ppt/slides/charts/chart1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Shipments</c:v>
          </c:tx>
          <c:dPt>
            <c:idx val="0"/>
            <c:spPr>
              <a:solidFill xmlns:a="http://schemas.openxmlformats.org/drawingml/2006/main">
                <a:srgbClr val="D20A1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3F6B2A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2"/>
              <c:pt idx="0">
                <c:v>Delayed</c:v>
              </c:pt>
              <c:pt idx="1">
                <c:v>On-Time</c:v>
              </c:pt>
            </c:strLit>
          </c:cat>
          <c:val>
            <c:numLit>
              <c:formatCode>General</c:formatCode>
              <c:ptCount val="2"/>
              <c:pt idx="0">
                <c:v>4263</c:v>
              </c:pt>
              <c:pt idx="1">
                <c:v>2510</c:v>
              </c:pt>
            </c:numLit>
          </c:val>
        </c:ser>
        <c:firstSliceAng val="270"/>
        <c:holeSize val="68"/>
      </c:doughnutChart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accent-line">
            <a:extLst xmlns:a="http://schemas.openxmlformats.org/drawingml/2006/main">
              <a:ext uri="{FF2B5EF4-FFF2-40B4-BE49-F238E27FC236}">
                <a16:creationId xmlns:a16="http://schemas.microsoft.com/office/drawing/2014/main" id="{7DCEDB98-C1BE-42F0-942F-8BD35E1D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ase-study-eyebrow">
            <a:extLst xmlns:a="http://schemas.openxmlformats.org/drawingml/2006/main">
              <a:ext uri="{FF2B5EF4-FFF2-40B4-BE49-F238E27FC236}">
                <a16:creationId xmlns:a16="http://schemas.microsoft.com/office/drawing/2014/main" id="{67F9B934-4C48-4A41-AD86-2A022592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END-TO-END DATA ANALYTICS &amp; BI CASE STUDY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B3EA569-653D-4EA5-81E8-A7E3CE528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01 / 08</a:t>
            </a:r>
          </a:p>
        </p:txBody>
      </p:sp>
      <p:sp>
        <p:nvSpPr>
          <p:cNvPr id="4" name="title-line-one">
            <a:extLst xmlns:a="http://schemas.openxmlformats.org/drawingml/2006/main">
              <a:ext uri="{FF2B5EF4-FFF2-40B4-BE49-F238E27FC236}">
                <a16:creationId xmlns:a16="http://schemas.microsoft.com/office/drawing/2014/main" id="{D1B4D8DE-FC0C-4289-BDBB-0B997569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082653"/>
                </a:solidFill>
              </a:defRPr>
            </a:pPr>
            <a:r>
              <a:rPr sz="4275" b="1">
                <a:solidFill>
                  <a:srgbClr val="082653"/>
                </a:solidFill>
              </a:rPr>
              <a:t>TRANSPORTATION &amp;</a:t>
            </a:r>
          </a:p>
        </p:txBody>
      </p:sp>
      <p:sp>
        <p:nvSpPr>
          <p:cNvPr id="5" name="title-line-two">
            <a:extLst xmlns:a="http://schemas.openxmlformats.org/drawingml/2006/main">
              <a:ext uri="{FF2B5EF4-FFF2-40B4-BE49-F238E27FC236}">
                <a16:creationId xmlns:a16="http://schemas.microsoft.com/office/drawing/2014/main" id="{5BE99F18-CD3F-4525-9177-9ED90917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300" b="1">
                <a:solidFill>
                  <a:srgbClr val="1554A3"/>
                </a:solidFill>
              </a:defRPr>
            </a:pPr>
            <a:r>
              <a:rPr sz="6300" b="1">
                <a:solidFill>
                  <a:srgbClr val="1554A3"/>
                </a:solidFill>
              </a:rPr>
              <a:t>LOGISTICS</a:t>
            </a:r>
          </a:p>
        </p:txBody>
      </p:sp>
      <p:sp>
        <p:nvSpPr>
          <p:cNvPr id="6" name="title-line-three">
            <a:extLst xmlns:a="http://schemas.openxmlformats.org/drawingml/2006/main">
              <a:ext uri="{FF2B5EF4-FFF2-40B4-BE49-F238E27FC236}">
                <a16:creationId xmlns:a16="http://schemas.microsoft.com/office/drawing/2014/main" id="{A71F8276-E9C4-40F2-86BE-E76857CF5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E2D42"/>
                </a:solidFill>
              </a:defRPr>
            </a:pPr>
            <a:r>
              <a:rPr sz="3750" b="1">
                <a:solidFill>
                  <a:srgbClr val="1E2D42"/>
                </a:solidFill>
              </a:rPr>
              <a:t>ANALYTICS DASHBOARD</a:t>
            </a:r>
          </a:p>
        </p:txBody>
      </p:sp>
      <p:sp>
        <p:nvSpPr>
          <p:cNvPr id="7" name="subtitle">
            <a:extLst xmlns:a="http://schemas.openxmlformats.org/drawingml/2006/main">
              <a:ext uri="{FF2B5EF4-FFF2-40B4-BE49-F238E27FC236}">
                <a16:creationId xmlns:a16="http://schemas.microsoft.com/office/drawing/2014/main" id="{82830D7D-C3DB-4217-B019-3A0181CD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E2D42"/>
                </a:solidFill>
              </a:defRPr>
            </a:pPr>
            <a:r>
              <a:rPr sz="1950">
                <a:solidFill>
                  <a:srgbClr val="1E2D42"/>
                </a:solidFill>
              </a:rPr>
              <a:t>Exploring shipment delays, operational bottlenecks, and performance drivers through data.</a:t>
            </a:r>
          </a:p>
        </p:txBody>
      </p:sp>
      <p:sp>
        <p:nvSpPr>
          <p:cNvPr id="8" name="metadata-rule">
            <a:extLst xmlns:a="http://schemas.openxmlformats.org/drawingml/2006/main">
              <a:ext uri="{FF2B5EF4-FFF2-40B4-BE49-F238E27FC236}">
                <a16:creationId xmlns:a16="http://schemas.microsoft.com/office/drawing/2014/main" id="{581E09F1-0614-43A1-898E-4E8B4F1D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891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eriod-and-volume">
            <a:extLst xmlns:a="http://schemas.openxmlformats.org/drawingml/2006/main">
              <a:ext uri="{FF2B5EF4-FFF2-40B4-BE49-F238E27FC236}">
                <a16:creationId xmlns:a16="http://schemas.microsoft.com/office/drawing/2014/main" id="{B68D1EF7-07AA-4A37-B236-FB48BFF1A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6,773 SHIPMENTS  |  MARCH 2019 - SEPTEMBER 2020</a:t>
            </a:r>
          </a:p>
        </p:txBody>
      </p:sp>
      <p:sp>
        <p:nvSpPr>
          <p:cNvPr id="10" name="tools">
            <a:extLst xmlns:a="http://schemas.openxmlformats.org/drawingml/2006/main">
              <a:ext uri="{FF2B5EF4-FFF2-40B4-BE49-F238E27FC236}">
                <a16:creationId xmlns:a16="http://schemas.microsoft.com/office/drawing/2014/main" id="{4A46C893-CB9B-4346-B176-4F467080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867400"/>
            <a:ext cx="302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554A3"/>
                </a:solidFill>
              </a:defRPr>
            </a:pPr>
            <a:r>
              <a:rPr sz="1425" b="1">
                <a:solidFill>
                  <a:srgbClr val="1554A3"/>
                </a:solidFill>
              </a:rPr>
              <a:t>PYTHON  |  SQL  |  POWER BI</a:t>
            </a:r>
          </a:p>
        </p:txBody>
      </p:sp>
      <p:sp>
        <p:nvSpPr>
          <p:cNvPr id="11" name="dashboard-shadow">
            <a:extLst xmlns:a="http://schemas.openxmlformats.org/drawingml/2006/main">
              <a:ext uri="{FF2B5EF4-FFF2-40B4-BE49-F238E27FC236}">
                <a16:creationId xmlns:a16="http://schemas.microsoft.com/office/drawing/2014/main" id="{BF890B07-4069-4C7D-AE5C-BB2B27EA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62750"/>
            <a:ext cx="8915400" cy="50292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D5DFED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23f0f31795478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6667500"/>
            <a:ext cx="8915400" cy="5029200"/>
          </a:xfrm>
          <a:prstGeom xmlns:a="http://schemas.openxmlformats.org/drawingml/2006/main" prst="roundRect">
            <a:avLst>
              <a:gd name="adj" fmla="val 2273"/>
            </a:avLst>
          </a:prstGeom>
        </p:spPr>
      </p:pic>
      <p:sp>
        <p:nvSpPr>
          <p:cNvPr id="13" name="author">
            <a:extLst xmlns:a="http://schemas.openxmlformats.org/drawingml/2006/main">
              <a:ext uri="{FF2B5EF4-FFF2-40B4-BE49-F238E27FC236}">
                <a16:creationId xmlns:a16="http://schemas.microsoft.com/office/drawing/2014/main" id="{C23ABEE9-7739-47E5-9052-77E7954E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MOHAMED TAREK  |  DATA ANALYST</a:t>
            </a:r>
          </a:p>
        </p:txBody>
      </p:sp>
      <p:sp>
        <p:nvSpPr>
          <p:cNvPr id="14" name="github">
            <a:extLst xmlns:a="http://schemas.openxmlformats.org/drawingml/2006/main">
              <a:ext uri="{FF2B5EF4-FFF2-40B4-BE49-F238E27FC236}">
                <a16:creationId xmlns:a16="http://schemas.microsoft.com/office/drawing/2014/main" id="{691B7A28-60CA-4905-A97C-77C5CD49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2192000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github.com/Mohamedtarek00212/Transportation-Logistics</a:t>
            </a:r>
          </a:p>
        </p:txBody>
      </p:sp>
    </p:spTree>
    <p:extLst>
      <p:ext uri="{BB962C8B-B14F-4D97-AF65-F5344CB8AC3E}">
        <p14:creationId xmlns:p14="http://schemas.microsoft.com/office/powerpoint/2010/main" val="5682738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02-accent-line">
            <a:extLst xmlns:a="http://schemas.openxmlformats.org/drawingml/2006/main">
              <a:ext uri="{FF2B5EF4-FFF2-40B4-BE49-F238E27FC236}">
                <a16:creationId xmlns:a16="http://schemas.microsoft.com/office/drawing/2014/main" id="{04833234-E049-46FC-8F48-B1219066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2-eyebrow">
            <a:extLst xmlns:a="http://schemas.openxmlformats.org/drawingml/2006/main">
              <a:ext uri="{FF2B5EF4-FFF2-40B4-BE49-F238E27FC236}">
                <a16:creationId xmlns:a16="http://schemas.microsoft.com/office/drawing/2014/main" id="{E33C2224-A1DD-4161-ADAF-5C79CF29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BUSINESS PROBLEM</a:t>
            </a:r>
          </a:p>
        </p:txBody>
      </p:sp>
      <p:sp>
        <p:nvSpPr>
          <p:cNvPr id="3" name="slide-02-number">
            <a:extLst xmlns:a="http://schemas.openxmlformats.org/drawingml/2006/main">
              <a:ext uri="{FF2B5EF4-FFF2-40B4-BE49-F238E27FC236}">
                <a16:creationId xmlns:a16="http://schemas.microsoft.com/office/drawing/2014/main" id="{C653CFEC-A2CE-4A20-9196-566150705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8667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02 / 08</a:t>
            </a:r>
          </a:p>
        </p:txBody>
      </p:sp>
      <p:sp>
        <p:nvSpPr>
          <p:cNvPr id="4" name="slide-02-title-line-one">
            <a:extLst xmlns:a="http://schemas.openxmlformats.org/drawingml/2006/main">
              <a:ext uri="{FF2B5EF4-FFF2-40B4-BE49-F238E27FC236}">
                <a16:creationId xmlns:a16="http://schemas.microsoft.com/office/drawing/2014/main" id="{9621AB0F-C7E0-4C88-94A6-67B7F23C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572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82653"/>
                </a:solidFill>
              </a:defRPr>
            </a:pPr>
            <a:r>
              <a:rPr sz="3900" b="1">
                <a:solidFill>
                  <a:srgbClr val="082653"/>
                </a:solidFill>
              </a:rPr>
              <a:t>WHY ARE SHIPMENTS</a:t>
            </a:r>
          </a:p>
        </p:txBody>
      </p:sp>
      <p:sp>
        <p:nvSpPr>
          <p:cNvPr id="5" name="slide-02-title-line-two">
            <a:extLst xmlns:a="http://schemas.openxmlformats.org/drawingml/2006/main">
              <a:ext uri="{FF2B5EF4-FFF2-40B4-BE49-F238E27FC236}">
                <a16:creationId xmlns:a16="http://schemas.microsoft.com/office/drawing/2014/main" id="{0EAC568D-9612-4458-A264-D3964B4D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90725"/>
            <a:ext cx="857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D20A16"/>
                </a:solidFill>
              </a:defRPr>
            </a:pPr>
            <a:r>
              <a:rPr sz="5550" b="1">
                <a:solidFill>
                  <a:srgbClr val="D20A16"/>
                </a:solidFill>
              </a:rPr>
              <a:t>DELAYED?</a:t>
            </a:r>
          </a:p>
        </p:txBody>
      </p:sp>
      <p:sp>
        <p:nvSpPr>
          <p:cNvPr id="6" name="slide-02-problem-copy">
            <a:extLst xmlns:a="http://schemas.openxmlformats.org/drawingml/2006/main">
              <a:ext uri="{FF2B5EF4-FFF2-40B4-BE49-F238E27FC236}">
                <a16:creationId xmlns:a16="http://schemas.microsoft.com/office/drawing/2014/main" id="{90A106E7-4FC2-4154-B68D-DE42850F3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8915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E2D42"/>
                </a:solidFill>
              </a:defRPr>
            </a:pPr>
            <a:r>
              <a:rPr sz="1800">
                <a:solidFill>
                  <a:srgbClr val="1E2D42"/>
                </a:solidFill>
              </a:rPr>
              <a:t>Operational data was scattered across suppliers, vehicles, routes, GPS providers, and delivery events. Without one connected view, teams could see delays but not where the operation was breaking down.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62326a3e964ce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4095750"/>
            <a:ext cx="8915400" cy="7715250"/>
          </a:xfrm>
          <a:prstGeom xmlns:a="http://schemas.openxmlformats.org/drawingml/2006/main" prst="roundRect">
            <a:avLst>
              <a:gd name="adj" fmla="val 1481"/>
            </a:avLst>
          </a:prstGeom>
        </p:spPr>
      </p:pic>
      <p:sp>
        <p:nvSpPr>
          <p:cNvPr id="8" name="analysis-question-band">
            <a:extLst xmlns:a="http://schemas.openxmlformats.org/drawingml/2006/main">
              <a:ext uri="{FF2B5EF4-FFF2-40B4-BE49-F238E27FC236}">
                <a16:creationId xmlns:a16="http://schemas.microsoft.com/office/drawing/2014/main" id="{C5B5435A-0534-49F2-A128-3E62B50D0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0"/>
            <a:ext cx="89154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nalysis-question-one-label">
            <a:extLst xmlns:a="http://schemas.openxmlformats.org/drawingml/2006/main">
              <a:ext uri="{FF2B5EF4-FFF2-40B4-BE49-F238E27FC236}">
                <a16:creationId xmlns:a16="http://schemas.microsoft.com/office/drawing/2014/main" id="{2218504F-45A8-4C9A-80FD-F47B4F87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03251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F80ED"/>
                </a:solidFill>
              </a:defRPr>
            </a:pPr>
            <a:r>
              <a:rPr sz="1500" b="1">
                <a:solidFill>
                  <a:srgbClr val="2F80ED"/>
                </a:solidFill>
              </a:rPr>
              <a:t>WHERE?</a:t>
            </a:r>
          </a:p>
        </p:txBody>
      </p:sp>
      <p:sp>
        <p:nvSpPr>
          <p:cNvPr id="10" name="analysis-question-one">
            <a:extLst xmlns:a="http://schemas.openxmlformats.org/drawingml/2006/main">
              <a:ext uri="{FF2B5EF4-FFF2-40B4-BE49-F238E27FC236}">
                <a16:creationId xmlns:a16="http://schemas.microsoft.com/office/drawing/2014/main" id="{126CE157-F8BA-4C00-9E73-435DC12E3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072515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Where do delays concentrate?</a:t>
            </a:r>
          </a:p>
        </p:txBody>
      </p:sp>
      <p:sp>
        <p:nvSpPr>
          <p:cNvPr id="11" name="analysis-question-two-label">
            <a:extLst xmlns:a="http://schemas.openxmlformats.org/drawingml/2006/main">
              <a:ext uri="{FF2B5EF4-FFF2-40B4-BE49-F238E27FC236}">
                <a16:creationId xmlns:a16="http://schemas.microsoft.com/office/drawing/2014/main" id="{527DC7DA-A642-4D35-85E7-35D758AC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0325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47B2A"/>
                </a:solidFill>
              </a:defRPr>
            </a:pPr>
            <a:r>
              <a:rPr sz="1500" b="1">
                <a:solidFill>
                  <a:srgbClr val="F47B2A"/>
                </a:solidFill>
              </a:rPr>
              <a:t>WHO?</a:t>
            </a:r>
          </a:p>
        </p:txBody>
      </p:sp>
      <p:sp>
        <p:nvSpPr>
          <p:cNvPr id="12" name="analysis-question-two">
            <a:extLst xmlns:a="http://schemas.openxmlformats.org/drawingml/2006/main">
              <a:ext uri="{FF2B5EF4-FFF2-40B4-BE49-F238E27FC236}">
                <a16:creationId xmlns:a16="http://schemas.microsoft.com/office/drawing/2014/main" id="{B6AE4730-5DE2-4D4D-A4FC-1591567E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072515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Who drives the greatest risk?</a:t>
            </a:r>
          </a:p>
        </p:txBody>
      </p:sp>
      <p:sp>
        <p:nvSpPr>
          <p:cNvPr id="13" name="analysis-question-three-label">
            <a:extLst xmlns:a="http://schemas.openxmlformats.org/drawingml/2006/main">
              <a:ext uri="{FF2B5EF4-FFF2-40B4-BE49-F238E27FC236}">
                <a16:creationId xmlns:a16="http://schemas.microsoft.com/office/drawing/2014/main" id="{311F8A58-1B2A-481A-B84B-90EB3644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3251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D20A16"/>
                </a:solidFill>
              </a:defRPr>
            </a:pPr>
            <a:r>
              <a:rPr sz="1500" b="1">
                <a:solidFill>
                  <a:srgbClr val="D20A16"/>
                </a:solidFill>
              </a:rPr>
              <a:t>WHAT NEXT?</a:t>
            </a:r>
          </a:p>
        </p:txBody>
      </p:sp>
      <p:sp>
        <p:nvSpPr>
          <p:cNvPr id="14" name="analysis-question-three">
            <a:extLst xmlns:a="http://schemas.openxmlformats.org/drawingml/2006/main">
              <a:ext uri="{FF2B5EF4-FFF2-40B4-BE49-F238E27FC236}">
                <a16:creationId xmlns:a16="http://schemas.microsoft.com/office/drawing/2014/main" id="{37A8B5C5-2F7B-4A01-A15E-C31694C6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72515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What should change operationally?</a:t>
            </a:r>
          </a:p>
        </p:txBody>
      </p:sp>
      <p:sp>
        <p:nvSpPr>
          <p:cNvPr id="15" name="slide-02-footer-left">
            <a:extLst xmlns:a="http://schemas.openxmlformats.org/drawingml/2006/main">
              <a:ext uri="{FF2B5EF4-FFF2-40B4-BE49-F238E27FC236}">
                <a16:creationId xmlns:a16="http://schemas.microsoft.com/office/drawing/2014/main" id="{912B057E-59D7-4D4D-949F-FECE2807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16" name="slide-02-footer-right">
            <a:extLst xmlns:a="http://schemas.openxmlformats.org/drawingml/2006/main">
              <a:ext uri="{FF2B5EF4-FFF2-40B4-BE49-F238E27FC236}">
                <a16:creationId xmlns:a16="http://schemas.microsoft.com/office/drawing/2014/main" id="{BBE72A31-CFCD-4B9B-958C-19D2DCC6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13998832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slide-03-accent-line">
            <a:extLst xmlns:a="http://schemas.openxmlformats.org/drawingml/2006/main">
              <a:ext uri="{FF2B5EF4-FFF2-40B4-BE49-F238E27FC236}">
                <a16:creationId xmlns:a16="http://schemas.microsoft.com/office/drawing/2014/main" id="{C210EFC7-107E-475F-92AD-CE756485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3-eyebrow">
            <a:extLst xmlns:a="http://schemas.openxmlformats.org/drawingml/2006/main">
              <a:ext uri="{FF2B5EF4-FFF2-40B4-BE49-F238E27FC236}">
                <a16:creationId xmlns:a16="http://schemas.microsoft.com/office/drawing/2014/main" id="{5EEE721D-0A44-4F00-88F0-7D12BAE9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EXPLORATORY DATA ANALYSIS</a:t>
            </a:r>
          </a:p>
        </p:txBody>
      </p:sp>
      <p:sp>
        <p:nvSpPr>
          <p:cNvPr id="3" name="slide-03-number">
            <a:extLst xmlns:a="http://schemas.openxmlformats.org/drawingml/2006/main">
              <a:ext uri="{FF2B5EF4-FFF2-40B4-BE49-F238E27FC236}">
                <a16:creationId xmlns:a16="http://schemas.microsoft.com/office/drawing/2014/main" id="{6F1C995B-DF05-4BF4-AA13-10DE64993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8667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03 / 08</a:t>
            </a:r>
          </a:p>
        </p:txBody>
      </p:sp>
      <p:sp>
        <p:nvSpPr>
          <p:cNvPr id="4" name="slide-03-title-line-one">
            <a:extLst xmlns:a="http://schemas.openxmlformats.org/drawingml/2006/main">
              <a:ext uri="{FF2B5EF4-FFF2-40B4-BE49-F238E27FC236}">
                <a16:creationId xmlns:a16="http://schemas.microsoft.com/office/drawing/2014/main" id="{A6803281-BE62-44E6-BCE7-FD683AB2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82653"/>
                </a:solidFill>
              </a:defRPr>
            </a:pPr>
            <a:r>
              <a:rPr sz="3900" b="1">
                <a:solidFill>
                  <a:srgbClr val="082653"/>
                </a:solidFill>
              </a:rPr>
              <a:t>62.9% OF SHIPMENTS</a:t>
            </a:r>
          </a:p>
        </p:txBody>
      </p:sp>
      <p:sp>
        <p:nvSpPr>
          <p:cNvPr id="5" name="slide-03-title-line-two">
            <a:extLst xmlns:a="http://schemas.openxmlformats.org/drawingml/2006/main">
              <a:ext uri="{FF2B5EF4-FFF2-40B4-BE49-F238E27FC236}">
                <a16:creationId xmlns:a16="http://schemas.microsoft.com/office/drawing/2014/main" id="{A6EA05DD-9ADA-40D1-940F-8A27A436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857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D20A16"/>
                </a:solidFill>
              </a:defRPr>
            </a:pPr>
            <a:r>
              <a:rPr sz="4800" b="1">
                <a:solidFill>
                  <a:srgbClr val="D20A16"/>
                </a:solidFill>
              </a:rPr>
              <a:t>WERE DELAYED</a:t>
            </a:r>
          </a:p>
        </p:txBody>
      </p:sp>
      <p:sp>
        <p:nvSpPr>
          <p:cNvPr id="6" name="slide-03-subtitle">
            <a:extLst xmlns:a="http://schemas.openxmlformats.org/drawingml/2006/main">
              <a:ext uri="{FF2B5EF4-FFF2-40B4-BE49-F238E27FC236}">
                <a16:creationId xmlns:a16="http://schemas.microsoft.com/office/drawing/2014/main" id="{E6193A6D-4461-43FF-A5D6-C589CB23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891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E2D42"/>
                </a:solidFill>
              </a:defRPr>
            </a:pPr>
            <a:r>
              <a:rPr sz="1875">
                <a:solidFill>
                  <a:srgbClr val="1E2D42"/>
                </a:solidFill>
              </a:rPr>
              <a:t>The data revealed a systemic delivery performance problem, not isolated exceptions.</a:t>
            </a:r>
          </a:p>
        </p:txBody>
      </p:sp>
      <p:sp>
        <p:nvSpPr>
          <p:cNvPr id="7" name="eda-visual-background">
            <a:extLst xmlns:a="http://schemas.openxmlformats.org/drawingml/2006/main">
              <a:ext uri="{FF2B5EF4-FFF2-40B4-BE49-F238E27FC236}">
                <a16:creationId xmlns:a16="http://schemas.microsoft.com/office/drawing/2014/main" id="{3A9665FB-7B18-40F1-A52A-8700F695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4286250" cy="70485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8" name="eda-visual-label">
            <a:extLst xmlns:a="http://schemas.openxmlformats.org/drawingml/2006/main">
              <a:ext uri="{FF2B5EF4-FFF2-40B4-BE49-F238E27FC236}">
                <a16:creationId xmlns:a16="http://schemas.microsoft.com/office/drawing/2014/main" id="{410B889B-94AC-4518-BBEC-B6E7441F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DELIVERY STATUS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857250" y="4591050"/>
          <a:ext xmlns:a="http://schemas.openxmlformats.org/drawingml/2006/main" cx="39433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97840b9706d4121"/>
          </a:graphicData>
        </a:graphic>
      </p:graphicFrame>
      <p:sp>
        <p:nvSpPr>
          <p:cNvPr id="10" name="eda-donut-value">
            <a:extLst xmlns:a="http://schemas.openxmlformats.org/drawingml/2006/main">
              <a:ext uri="{FF2B5EF4-FFF2-40B4-BE49-F238E27FC236}">
                <a16:creationId xmlns:a16="http://schemas.microsoft.com/office/drawing/2014/main" id="{8E23F42B-6409-4139-8147-B3AEFC0B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895975"/>
            <a:ext cx="257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D20A16"/>
                </a:solidFill>
              </a:defRPr>
            </a:pPr>
            <a:r>
              <a:rPr sz="4350" b="1">
                <a:solidFill>
                  <a:srgbClr val="D20A16"/>
                </a:solidFill>
              </a:rPr>
              <a:t>62.9%</a:t>
            </a:r>
          </a:p>
        </p:txBody>
      </p:sp>
      <p:sp>
        <p:nvSpPr>
          <p:cNvPr id="11" name="eda-donut-label">
            <a:extLst xmlns:a="http://schemas.openxmlformats.org/drawingml/2006/main">
              <a:ext uri="{FF2B5EF4-FFF2-40B4-BE49-F238E27FC236}">
                <a16:creationId xmlns:a16="http://schemas.microsoft.com/office/drawing/2014/main" id="{5AD3618C-0E87-41E1-8595-8FF0151A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6657975"/>
            <a:ext cx="226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2653"/>
                </a:solidFill>
              </a:defRPr>
            </a:pPr>
            <a:r>
              <a:rPr sz="1500" b="1">
                <a:solidFill>
                  <a:srgbClr val="082653"/>
                </a:solidFill>
              </a:rPr>
              <a:t>DELAYED</a:t>
            </a:r>
          </a:p>
        </p:txBody>
      </p:sp>
      <p:sp>
        <p:nvSpPr>
          <p:cNvPr id="12" name="delayed-legend-dot">
            <a:extLst xmlns:a="http://schemas.openxmlformats.org/drawingml/2006/main">
              <a:ext uri="{FF2B5EF4-FFF2-40B4-BE49-F238E27FC236}">
                <a16:creationId xmlns:a16="http://schemas.microsoft.com/office/drawing/2014/main" id="{B97D132C-1291-4C74-B887-941DE2A1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610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elayed-legend">
            <a:extLst xmlns:a="http://schemas.openxmlformats.org/drawingml/2006/main">
              <a:ext uri="{FF2B5EF4-FFF2-40B4-BE49-F238E27FC236}">
                <a16:creationId xmlns:a16="http://schemas.microsoft.com/office/drawing/2014/main" id="{EB128E8C-88D2-4EC2-A124-5FB8E057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85058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E2D42"/>
                </a:solidFill>
              </a:defRPr>
            </a:pPr>
            <a:r>
              <a:rPr sz="1500" b="1">
                <a:solidFill>
                  <a:srgbClr val="1E2D42"/>
                </a:solidFill>
              </a:rPr>
              <a:t>Delayed  4,263  |  62.9%</a:t>
            </a:r>
          </a:p>
        </p:txBody>
      </p:sp>
      <p:sp>
        <p:nvSpPr>
          <p:cNvPr id="14" name="ontime-legend-dot">
            <a:extLst xmlns:a="http://schemas.openxmlformats.org/drawingml/2006/main">
              <a:ext uri="{FF2B5EF4-FFF2-40B4-BE49-F238E27FC236}">
                <a16:creationId xmlns:a16="http://schemas.microsoft.com/office/drawing/2014/main" id="{4654F876-F3D0-43FC-952B-E33C90AE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096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ntime-legend">
            <a:extLst xmlns:a="http://schemas.openxmlformats.org/drawingml/2006/main">
              <a:ext uri="{FF2B5EF4-FFF2-40B4-BE49-F238E27FC236}">
                <a16:creationId xmlns:a16="http://schemas.microsoft.com/office/drawing/2014/main" id="{9A98AE0A-22E5-4D2C-8570-662F60318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89916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E2D42"/>
                </a:solidFill>
              </a:defRPr>
            </a:pPr>
            <a:r>
              <a:rPr sz="1500" b="1">
                <a:solidFill>
                  <a:srgbClr val="1E2D42"/>
                </a:solidFill>
              </a:rPr>
              <a:t>On-Time  2,510  |  37.1%</a:t>
            </a:r>
          </a:p>
        </p:txBody>
      </p:sp>
      <p:sp>
        <p:nvSpPr>
          <p:cNvPr id="16" name="methodology-accent">
            <a:extLst xmlns:a="http://schemas.openxmlformats.org/drawingml/2006/main">
              <a:ext uri="{FF2B5EF4-FFF2-40B4-BE49-F238E27FC236}">
                <a16:creationId xmlns:a16="http://schemas.microsoft.com/office/drawing/2014/main" id="{F1D6C8AB-E8B5-4346-84A0-16858964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9753600"/>
            <a:ext cx="57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ethodology-label">
            <a:extLst xmlns:a="http://schemas.openxmlformats.org/drawingml/2006/main">
              <a:ext uri="{FF2B5EF4-FFF2-40B4-BE49-F238E27FC236}">
                <a16:creationId xmlns:a16="http://schemas.microsoft.com/office/drawing/2014/main" id="{35469140-DE48-4609-8CD0-B240B3F1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696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18096"/>
                </a:solidFill>
              </a:defRPr>
            </a:pPr>
            <a:r>
              <a:rPr sz="1200" b="1">
                <a:solidFill>
                  <a:srgbClr val="718096"/>
                </a:solidFill>
              </a:rPr>
              <a:t>DELAY DEFINITION</a:t>
            </a:r>
          </a:p>
        </p:txBody>
      </p:sp>
      <p:sp>
        <p:nvSpPr>
          <p:cNvPr id="18" name="methodology-copy">
            <a:extLst xmlns:a="http://schemas.openxmlformats.org/drawingml/2006/main">
              <a:ext uri="{FF2B5EF4-FFF2-40B4-BE49-F238E27FC236}">
                <a16:creationId xmlns:a16="http://schemas.microsoft.com/office/drawing/2014/main" id="{E367F314-3E36-45DB-B2EA-C390DD5F8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0488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2653"/>
                </a:solidFill>
              </a:defRPr>
            </a:pPr>
            <a:r>
              <a:rPr sz="1650" b="1">
                <a:solidFill>
                  <a:srgbClr val="082653"/>
                </a:solidFill>
              </a:rPr>
              <a:t>Actual ETA &gt; Planned ETA</a:t>
            </a:r>
          </a:p>
        </p:txBody>
      </p:sp>
      <p:sp>
        <p:nvSpPr>
          <p:cNvPr id="19" name="eda-meaning-label">
            <a:extLst xmlns:a="http://schemas.openxmlformats.org/drawingml/2006/main">
              <a:ext uri="{FF2B5EF4-FFF2-40B4-BE49-F238E27FC236}">
                <a16:creationId xmlns:a16="http://schemas.microsoft.com/office/drawing/2014/main" id="{FE549CC4-139F-4D17-AD49-EE308983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0005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554A3"/>
                </a:solidFill>
              </a:defRPr>
            </a:pPr>
            <a:r>
              <a:rPr sz="1350" b="1">
                <a:solidFill>
                  <a:srgbClr val="1554A3"/>
                </a:solidFill>
              </a:rPr>
              <a:t>WHAT THIS MEANS</a:t>
            </a:r>
          </a:p>
        </p:txBody>
      </p:sp>
      <p:sp>
        <p:nvSpPr>
          <p:cNvPr id="20" name="eda-primary-meaning">
            <a:extLst xmlns:a="http://schemas.openxmlformats.org/drawingml/2006/main">
              <a:ext uri="{FF2B5EF4-FFF2-40B4-BE49-F238E27FC236}">
                <a16:creationId xmlns:a16="http://schemas.microsoft.com/office/drawing/2014/main" id="{BB894D10-19A4-4D64-96C7-E06A5DD4D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514850"/>
            <a:ext cx="4000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82653"/>
                </a:solidFill>
              </a:defRPr>
            </a:pPr>
            <a:r>
              <a:rPr sz="2850" b="1">
                <a:solidFill>
                  <a:srgbClr val="082653"/>
                </a:solidFill>
              </a:rPr>
              <a:t>Nearly 2 in every 3 shipments missed the planned ETA.</a:t>
            </a:r>
          </a:p>
        </p:txBody>
      </p:sp>
      <p:sp>
        <p:nvSpPr>
          <p:cNvPr id="21" name="eda-divider-one">
            <a:extLst xmlns:a="http://schemas.openxmlformats.org/drawingml/2006/main">
              <a:ext uri="{FF2B5EF4-FFF2-40B4-BE49-F238E27FC236}">
                <a16:creationId xmlns:a16="http://schemas.microsoft.com/office/drawing/2014/main" id="{189D20C8-6D8D-4448-A770-32F629C2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617220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eda-insight-one-label">
            <a:extLst xmlns:a="http://schemas.openxmlformats.org/drawingml/2006/main">
              <a:ext uri="{FF2B5EF4-FFF2-40B4-BE49-F238E27FC236}">
                <a16:creationId xmlns:a16="http://schemas.microsoft.com/office/drawing/2014/main" id="{2AFBB240-B71D-4D0D-8D64-6F72B991B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64579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20A16"/>
                </a:solidFill>
              </a:defRPr>
            </a:pPr>
            <a:r>
              <a:rPr sz="1275" b="1">
                <a:solidFill>
                  <a:srgbClr val="D20A16"/>
                </a:solidFill>
              </a:rPr>
              <a:t>SYSTEM-WIDE ISSUE</a:t>
            </a:r>
          </a:p>
        </p:txBody>
      </p:sp>
      <p:sp>
        <p:nvSpPr>
          <p:cNvPr id="23" name="eda-insight-one-copy">
            <a:extLst xmlns:a="http://schemas.openxmlformats.org/drawingml/2006/main">
              <a:ext uri="{FF2B5EF4-FFF2-40B4-BE49-F238E27FC236}">
                <a16:creationId xmlns:a16="http://schemas.microsoft.com/office/drawing/2014/main" id="{E7A9CC9F-57B8-4B93-9D1D-41AB3FE1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6858000"/>
            <a:ext cx="3905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E2D42"/>
                </a:solidFill>
              </a:defRPr>
            </a:pPr>
            <a:r>
              <a:rPr sz="1875">
                <a:solidFill>
                  <a:srgbClr val="1E2D42"/>
                </a:solidFill>
              </a:rPr>
              <a:t>4,263 of 6,773 cleaned shipment records were classified as delayed.</a:t>
            </a:r>
          </a:p>
        </p:txBody>
      </p:sp>
      <p:sp>
        <p:nvSpPr>
          <p:cNvPr id="24" name="eda-divider-two">
            <a:extLst xmlns:a="http://schemas.openxmlformats.org/drawingml/2006/main">
              <a:ext uri="{FF2B5EF4-FFF2-40B4-BE49-F238E27FC236}">
                <a16:creationId xmlns:a16="http://schemas.microsoft.com/office/drawing/2014/main" id="{4E46CFCC-08C1-47B8-BA0D-6C61FC65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794385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eda-insight-two-label">
            <a:extLst xmlns:a="http://schemas.openxmlformats.org/drawingml/2006/main">
              <a:ext uri="{FF2B5EF4-FFF2-40B4-BE49-F238E27FC236}">
                <a16:creationId xmlns:a16="http://schemas.microsoft.com/office/drawing/2014/main" id="{A65F9B6F-30D5-4117-8323-4269DA713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822960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47B2A"/>
                </a:solidFill>
              </a:defRPr>
            </a:pPr>
            <a:r>
              <a:rPr sz="1275" b="1">
                <a:solidFill>
                  <a:srgbClr val="F47B2A"/>
                </a:solidFill>
              </a:rPr>
              <a:t>NOT ISOLATED EXCEPTIONS</a:t>
            </a:r>
          </a:p>
        </p:txBody>
      </p:sp>
      <p:sp>
        <p:nvSpPr>
          <p:cNvPr id="26" name="eda-insight-two-copy">
            <a:extLst xmlns:a="http://schemas.openxmlformats.org/drawingml/2006/main">
              <a:ext uri="{FF2B5EF4-FFF2-40B4-BE49-F238E27FC236}">
                <a16:creationId xmlns:a16="http://schemas.microsoft.com/office/drawing/2014/main" id="{81E82197-0ACA-4876-9F75-2BEF13F7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8629650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E2D42"/>
                </a:solidFill>
              </a:defRPr>
            </a:pPr>
            <a:r>
              <a:rPr sz="1875">
                <a:solidFill>
                  <a:srgbClr val="1E2D42"/>
                </a:solidFill>
              </a:rPr>
              <a:t>Delay patterns shifted across time, distance, suppliers, vehicle types, and GPS providers.</a:t>
            </a:r>
          </a:p>
        </p:txBody>
      </p:sp>
      <p:sp>
        <p:nvSpPr>
          <p:cNvPr id="27" name="eda-next-step-band">
            <a:extLst xmlns:a="http://schemas.openxmlformats.org/drawingml/2006/main">
              <a:ext uri="{FF2B5EF4-FFF2-40B4-BE49-F238E27FC236}">
                <a16:creationId xmlns:a16="http://schemas.microsoft.com/office/drawing/2014/main" id="{3D8C930F-64DA-4F02-A98B-15ED63B2E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0039350"/>
            <a:ext cx="4324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eda-next-step-label">
            <a:extLst xmlns:a="http://schemas.openxmlformats.org/drawingml/2006/main">
              <a:ext uri="{FF2B5EF4-FFF2-40B4-BE49-F238E27FC236}">
                <a16:creationId xmlns:a16="http://schemas.microsoft.com/office/drawing/2014/main" id="{FBDFD133-5224-44E2-9C15-D55A41945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0239375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47B2A"/>
                </a:solidFill>
              </a:defRPr>
            </a:pPr>
            <a:r>
              <a:rPr sz="1200" b="1">
                <a:solidFill>
                  <a:srgbClr val="F47B2A"/>
                </a:solidFill>
              </a:rPr>
              <a:t>NEXT</a:t>
            </a:r>
          </a:p>
        </p:txBody>
      </p:sp>
      <p:sp>
        <p:nvSpPr>
          <p:cNvPr id="29" name="eda-next-step-copy">
            <a:extLst xmlns:a="http://schemas.openxmlformats.org/drawingml/2006/main">
              <a:ext uri="{FF2B5EF4-FFF2-40B4-BE49-F238E27FC236}">
                <a16:creationId xmlns:a16="http://schemas.microsoft.com/office/drawing/2014/main" id="{07969C35-6B18-4C78-B2B6-30DB90EC0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0572750"/>
            <a:ext cx="3733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Structure the operation for deeper SQL analysis.</a:t>
            </a:r>
          </a:p>
        </p:txBody>
      </p:sp>
      <p:sp>
        <p:nvSpPr>
          <p:cNvPr id="30" name="slide-03-footer-left">
            <a:extLst xmlns:a="http://schemas.openxmlformats.org/drawingml/2006/main">
              <a:ext uri="{FF2B5EF4-FFF2-40B4-BE49-F238E27FC236}">
                <a16:creationId xmlns:a16="http://schemas.microsoft.com/office/drawing/2014/main" id="{86D90E19-811E-4098-ABD4-72CB46D6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31" name="slide-03-footer-right">
            <a:extLst xmlns:a="http://schemas.openxmlformats.org/drawingml/2006/main">
              <a:ext uri="{FF2B5EF4-FFF2-40B4-BE49-F238E27FC236}">
                <a16:creationId xmlns:a16="http://schemas.microsoft.com/office/drawing/2014/main" id="{B8633C96-1DAE-4591-8D38-E741C72D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7394487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slide-04-top-accent">
            <a:extLst xmlns:a="http://schemas.openxmlformats.org/drawingml/2006/main">
              <a:ext uri="{FF2B5EF4-FFF2-40B4-BE49-F238E27FC236}">
                <a16:creationId xmlns:a16="http://schemas.microsoft.com/office/drawing/2014/main" id="{2879BA33-7A75-463A-A830-D000E0B8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4-eyebrow">
            <a:extLst xmlns:a="http://schemas.openxmlformats.org/drawingml/2006/main">
              <a:ext uri="{FF2B5EF4-FFF2-40B4-BE49-F238E27FC236}">
                <a16:creationId xmlns:a16="http://schemas.microsoft.com/office/drawing/2014/main" id="{9EFEF754-5968-40CA-B708-5D4C52B8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THE SQL SOLUTION</a:t>
            </a:r>
          </a:p>
        </p:txBody>
      </p:sp>
      <p:sp>
        <p:nvSpPr>
          <p:cNvPr id="3" name="slide-04-number">
            <a:extLst xmlns:a="http://schemas.openxmlformats.org/drawingml/2006/main">
              <a:ext uri="{FF2B5EF4-FFF2-40B4-BE49-F238E27FC236}">
                <a16:creationId xmlns:a16="http://schemas.microsoft.com/office/drawing/2014/main" id="{A51E2748-0B54-4A72-8AC7-70BA99F1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04 / 08</a:t>
            </a:r>
          </a:p>
        </p:txBody>
      </p:sp>
      <p:sp>
        <p:nvSpPr>
          <p:cNvPr id="4" name="slide-04-title">
            <a:extLst xmlns:a="http://schemas.openxmlformats.org/drawingml/2006/main">
              <a:ext uri="{FF2B5EF4-FFF2-40B4-BE49-F238E27FC236}">
                <a16:creationId xmlns:a16="http://schemas.microsoft.com/office/drawing/2014/main" id="{F76DF2FF-C55C-48F5-B6DE-7575A8097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75" b="1">
                <a:solidFill>
                  <a:srgbClr val="082653"/>
                </a:solidFill>
              </a:defRPr>
            </a:pPr>
            <a:r>
              <a:rPr sz="3075" b="1">
                <a:solidFill>
                  <a:srgbClr val="082653"/>
                </a:solidFill>
              </a:rPr>
              <a:t>A CONNECTED DATABASE FOR</a:t>
            </a:r>
          </a:p>
          <a:p xmlns:a="http://schemas.openxmlformats.org/drawingml/2006/main">
            <a:pPr>
              <a:defRPr sz="3075" b="1">
                <a:solidFill>
                  <a:srgbClr val="082653"/>
                </a:solidFill>
              </a:defRPr>
            </a:pPr>
            <a:r>
              <a:rPr sz="3075" b="1">
                <a:solidFill>
                  <a:srgbClr val="082653"/>
                </a:solidFill>
              </a:rPr>
              <a:t>END-TO-END SHIPMENT CONTROL</a:t>
            </a:r>
          </a:p>
        </p:txBody>
      </p:sp>
      <p:sp>
        <p:nvSpPr>
          <p:cNvPr id="5" name="slide-04-subtitle">
            <a:extLst xmlns:a="http://schemas.openxmlformats.org/drawingml/2006/main">
              <a:ext uri="{FF2B5EF4-FFF2-40B4-BE49-F238E27FC236}">
                <a16:creationId xmlns:a16="http://schemas.microsoft.com/office/drawing/2014/main" id="{5882C1A5-DEFA-4A70-941D-002E02F1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The solution transforms fragmented logistics records into a structured SQL Server data foundation.</a:t>
            </a:r>
          </a:p>
        </p:txBody>
      </p:sp>
      <p:sp>
        <p:nvSpPr>
          <p:cNvPr id="6" name="schema-panel">
            <a:extLst xmlns:a="http://schemas.openxmlformats.org/drawingml/2006/main">
              <a:ext uri="{FF2B5EF4-FFF2-40B4-BE49-F238E27FC236}">
                <a16:creationId xmlns:a16="http://schemas.microsoft.com/office/drawing/2014/main" id="{9AA29CF9-0C4E-4CFC-A936-F30C7F59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4305300" cy="7258050"/>
          </a:xfrm>
          <a:prstGeom xmlns:a="http://schemas.openxmlformats.org/drawingml/2006/main" prst="roundRect">
            <a:avLst>
              <a:gd name="adj" fmla="val 17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7" name="schema-label">
            <a:extLst xmlns:a="http://schemas.openxmlformats.org/drawingml/2006/main">
              <a:ext uri="{FF2B5EF4-FFF2-40B4-BE49-F238E27FC236}">
                <a16:creationId xmlns:a16="http://schemas.microsoft.com/office/drawing/2014/main" id="{D2B26AD8-8495-4C2C-9328-7673E7F8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554A3"/>
                </a:solidFill>
              </a:defRPr>
            </a:pPr>
            <a:r>
              <a:rPr sz="1200" b="1">
                <a:solidFill>
                  <a:srgbClr val="1554A3"/>
                </a:solidFill>
              </a:rPr>
              <a:t>SOLUTION ARCHITECTURE</a:t>
            </a:r>
          </a:p>
        </p:txBody>
      </p:sp>
      <p:sp>
        <p:nvSpPr>
          <p:cNvPr id="8" name="architecture-group-0">
            <a:extLst xmlns:a="http://schemas.openxmlformats.org/drawingml/2006/main">
              <a:ext uri="{FF2B5EF4-FFF2-40B4-BE49-F238E27FC236}">
                <a16:creationId xmlns:a16="http://schemas.microsoft.com/office/drawing/2014/main" id="{286F4090-840C-416E-9A06-ADD48F1F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3848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4FC"/>
          </a:solidFill>
          <a:ln xmlns:a="http://schemas.openxmlformats.org/drawingml/2006/main" w="19050">
            <a:solidFill>
              <a:srgbClr val="2F80ED"/>
            </a:solidFill>
            <a:prstDash val="solid"/>
          </a:ln>
        </p:spPr>
      </p:sp>
      <p:sp>
        <p:nvSpPr>
          <p:cNvPr id="9" name="architecture-group-0-title">
            <a:extLst xmlns:a="http://schemas.openxmlformats.org/drawingml/2006/main">
              <a:ext uri="{FF2B5EF4-FFF2-40B4-BE49-F238E27FC236}">
                <a16:creationId xmlns:a16="http://schemas.microsoft.com/office/drawing/2014/main" id="{170FE4F1-1800-4A66-A28B-580E379E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434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F80ED"/>
                </a:solidFill>
              </a:defRPr>
            </a:pPr>
            <a:r>
              <a:rPr sz="975" b="1">
                <a:solidFill>
                  <a:srgbClr val="2F80ED"/>
                </a:solidFill>
              </a:rPr>
              <a:t>REFERENCE DATA</a:t>
            </a:r>
          </a:p>
        </p:txBody>
      </p:sp>
      <p:sp>
        <p:nvSpPr>
          <p:cNvPr id="10" name="architecture-chip-0-0">
            <a:extLst xmlns:a="http://schemas.openxmlformats.org/drawingml/2006/main">
              <a:ext uri="{FF2B5EF4-FFF2-40B4-BE49-F238E27FC236}">
                <a16:creationId xmlns:a16="http://schemas.microsoft.com/office/drawing/2014/main" id="{348D7F65-5AE6-4320-8DFA-8D121253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1" name="architecture-chip-0-0-text">
            <a:extLst xmlns:a="http://schemas.openxmlformats.org/drawingml/2006/main">
              <a:ext uri="{FF2B5EF4-FFF2-40B4-BE49-F238E27FC236}">
                <a16:creationId xmlns:a16="http://schemas.microsoft.com/office/drawing/2014/main" id="{14CF69F7-34BD-4AC9-8B02-0EFCFB0B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053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Countries</a:t>
            </a:r>
          </a:p>
        </p:txBody>
      </p:sp>
      <p:sp>
        <p:nvSpPr>
          <p:cNvPr id="12" name="architecture-chip-0-1">
            <a:extLst xmlns:a="http://schemas.openxmlformats.org/drawingml/2006/main">
              <a:ext uri="{FF2B5EF4-FFF2-40B4-BE49-F238E27FC236}">
                <a16:creationId xmlns:a16="http://schemas.microsoft.com/office/drawing/2014/main" id="{6F1AAD06-6E3B-4A82-A292-83BA4442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291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3" name="architecture-chip-0-1-text">
            <a:extLst xmlns:a="http://schemas.openxmlformats.org/drawingml/2006/main">
              <a:ext uri="{FF2B5EF4-FFF2-40B4-BE49-F238E27FC236}">
                <a16:creationId xmlns:a16="http://schemas.microsoft.com/office/drawing/2014/main" id="{89ACDF24-FD47-4792-8483-3BAAD81D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053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Shipment Status</a:t>
            </a:r>
          </a:p>
        </p:txBody>
      </p:sp>
      <p:sp>
        <p:nvSpPr>
          <p:cNvPr id="14" name="architecture-chip-0-2">
            <a:extLst xmlns:a="http://schemas.openxmlformats.org/drawingml/2006/main">
              <a:ext uri="{FF2B5EF4-FFF2-40B4-BE49-F238E27FC236}">
                <a16:creationId xmlns:a16="http://schemas.microsoft.com/office/drawing/2014/main" id="{42911719-8731-4A78-A2B1-1D24A7F1D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673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5" name="architecture-chip-0-2-text">
            <a:extLst xmlns:a="http://schemas.openxmlformats.org/drawingml/2006/main">
              <a:ext uri="{FF2B5EF4-FFF2-40B4-BE49-F238E27FC236}">
                <a16:creationId xmlns:a16="http://schemas.microsoft.com/office/drawing/2014/main" id="{1B9CB1CD-EAC1-44F2-B67B-32B70759C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Material</a:t>
            </a:r>
          </a:p>
        </p:txBody>
      </p:sp>
      <p:sp>
        <p:nvSpPr>
          <p:cNvPr id="16" name="architecture-chip-0-3">
            <a:extLst xmlns:a="http://schemas.openxmlformats.org/drawingml/2006/main">
              <a:ext uri="{FF2B5EF4-FFF2-40B4-BE49-F238E27FC236}">
                <a16:creationId xmlns:a16="http://schemas.microsoft.com/office/drawing/2014/main" id="{47562D58-19FA-4F9D-93CD-088EB2A5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673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7" name="architecture-chip-0-3-text">
            <a:extLst xmlns:a="http://schemas.openxmlformats.org/drawingml/2006/main">
              <a:ext uri="{FF2B5EF4-FFF2-40B4-BE49-F238E27FC236}">
                <a16:creationId xmlns:a16="http://schemas.microsoft.com/office/drawing/2014/main" id="{E5A61217-7E1D-4B6E-A7BC-9212B50F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1435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Failure Reasons</a:t>
            </a:r>
          </a:p>
        </p:txBody>
      </p:sp>
      <p:sp>
        <p:nvSpPr>
          <p:cNvPr id="18" name="architecture-group-1">
            <a:extLst xmlns:a="http://schemas.openxmlformats.org/drawingml/2006/main">
              <a:ext uri="{FF2B5EF4-FFF2-40B4-BE49-F238E27FC236}">
                <a16:creationId xmlns:a16="http://schemas.microsoft.com/office/drawing/2014/main" id="{44ADADDD-1F0B-4C39-AC89-661F1196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62600"/>
            <a:ext cx="3848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19050">
            <a:solidFill>
              <a:srgbClr val="1554A3"/>
            </a:solidFill>
            <a:prstDash val="solid"/>
          </a:ln>
        </p:spPr>
      </p:sp>
      <p:sp>
        <p:nvSpPr>
          <p:cNvPr id="19" name="architecture-group-1-title">
            <a:extLst xmlns:a="http://schemas.openxmlformats.org/drawingml/2006/main">
              <a:ext uri="{FF2B5EF4-FFF2-40B4-BE49-F238E27FC236}">
                <a16:creationId xmlns:a16="http://schemas.microsoft.com/office/drawing/2014/main" id="{B5E0A5A5-D761-40CF-9F48-53EB059D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95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554A3"/>
                </a:solidFill>
              </a:defRPr>
            </a:pPr>
            <a:r>
              <a:rPr sz="975" b="1">
                <a:solidFill>
                  <a:srgbClr val="1554A3"/>
                </a:solidFill>
              </a:rPr>
              <a:t>BUSINESS ENTITIES</a:t>
            </a:r>
          </a:p>
        </p:txBody>
      </p:sp>
      <p:sp>
        <p:nvSpPr>
          <p:cNvPr id="20" name="architecture-chip-1-0">
            <a:extLst xmlns:a="http://schemas.openxmlformats.org/drawingml/2006/main">
              <a:ext uri="{FF2B5EF4-FFF2-40B4-BE49-F238E27FC236}">
                <a16:creationId xmlns:a16="http://schemas.microsoft.com/office/drawing/2014/main" id="{847953DD-98A4-4B7E-A550-5B168E7E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817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1" name="architecture-chip-1-0-text">
            <a:extLst xmlns:a="http://schemas.openxmlformats.org/drawingml/2006/main">
              <a:ext uri="{FF2B5EF4-FFF2-40B4-BE49-F238E27FC236}">
                <a16:creationId xmlns:a16="http://schemas.microsoft.com/office/drawing/2014/main" id="{2F480167-3A66-4674-9940-D1EC4D073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0579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Customers</a:t>
            </a:r>
          </a:p>
        </p:txBody>
      </p:sp>
      <p:sp>
        <p:nvSpPr>
          <p:cNvPr id="22" name="architecture-chip-1-1">
            <a:extLst xmlns:a="http://schemas.openxmlformats.org/drawingml/2006/main">
              <a:ext uri="{FF2B5EF4-FFF2-40B4-BE49-F238E27FC236}">
                <a16:creationId xmlns:a16="http://schemas.microsoft.com/office/drawing/2014/main" id="{4A1481F6-1FA5-41B2-BD56-31DB358F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9817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3" name="architecture-chip-1-1-text">
            <a:extLst xmlns:a="http://schemas.openxmlformats.org/drawingml/2006/main">
              <a:ext uri="{FF2B5EF4-FFF2-40B4-BE49-F238E27FC236}">
                <a16:creationId xmlns:a16="http://schemas.microsoft.com/office/drawing/2014/main" id="{4232052F-B0AA-43CC-99F3-32E80664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60579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Hubs</a:t>
            </a:r>
          </a:p>
        </p:txBody>
      </p:sp>
      <p:sp>
        <p:nvSpPr>
          <p:cNvPr id="24" name="architecture-chip-1-2">
            <a:extLst xmlns:a="http://schemas.openxmlformats.org/drawingml/2006/main">
              <a:ext uri="{FF2B5EF4-FFF2-40B4-BE49-F238E27FC236}">
                <a16:creationId xmlns:a16="http://schemas.microsoft.com/office/drawing/2014/main" id="{7D08A855-7A92-4FF1-9EA0-1CFA1B89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4198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5" name="architecture-chip-1-2-text">
            <a:extLst xmlns:a="http://schemas.openxmlformats.org/drawingml/2006/main">
              <a:ext uri="{FF2B5EF4-FFF2-40B4-BE49-F238E27FC236}">
                <a16:creationId xmlns:a16="http://schemas.microsoft.com/office/drawing/2014/main" id="{2544624F-D851-4EBD-88D0-9621F8AB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4960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Employees</a:t>
            </a:r>
          </a:p>
        </p:txBody>
      </p:sp>
      <p:sp>
        <p:nvSpPr>
          <p:cNvPr id="26" name="architecture-chip-1-3">
            <a:extLst xmlns:a="http://schemas.openxmlformats.org/drawingml/2006/main">
              <a:ext uri="{FF2B5EF4-FFF2-40B4-BE49-F238E27FC236}">
                <a16:creationId xmlns:a16="http://schemas.microsoft.com/office/drawing/2014/main" id="{B83D7D9C-E6A5-4BEC-AE4B-8B90F84D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4198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7" name="architecture-chip-1-3-text">
            <a:extLst xmlns:a="http://schemas.openxmlformats.org/drawingml/2006/main">
              <a:ext uri="{FF2B5EF4-FFF2-40B4-BE49-F238E27FC236}">
                <a16:creationId xmlns:a16="http://schemas.microsoft.com/office/drawing/2014/main" id="{FC023EA8-274A-49B7-982C-F1F94AAE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64960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Couriers</a:t>
            </a:r>
          </a:p>
        </p:txBody>
      </p:sp>
      <p:sp>
        <p:nvSpPr>
          <p:cNvPr id="28" name="architecture-group-2">
            <a:extLst xmlns:a="http://schemas.openxmlformats.org/drawingml/2006/main">
              <a:ext uri="{FF2B5EF4-FFF2-40B4-BE49-F238E27FC236}">
                <a16:creationId xmlns:a16="http://schemas.microsoft.com/office/drawing/2014/main" id="{BA91422A-9396-4FCA-A367-B6AC9FDC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53400"/>
            <a:ext cx="38481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7F1"/>
          </a:solidFill>
          <a:ln xmlns:a="http://schemas.openxmlformats.org/drawingml/2006/main" w="19050">
            <a:solidFill>
              <a:srgbClr val="F47B2A"/>
            </a:solidFill>
            <a:prstDash val="solid"/>
          </a:ln>
        </p:spPr>
      </p:sp>
      <p:sp>
        <p:nvSpPr>
          <p:cNvPr id="29" name="architecture-group-2-title">
            <a:extLst xmlns:a="http://schemas.openxmlformats.org/drawingml/2006/main">
              <a:ext uri="{FF2B5EF4-FFF2-40B4-BE49-F238E27FC236}">
                <a16:creationId xmlns:a16="http://schemas.microsoft.com/office/drawing/2014/main" id="{2CDE0300-D05D-49AA-8C59-1C39D4D8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82867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47B2A"/>
                </a:solidFill>
              </a:defRPr>
            </a:pPr>
            <a:r>
              <a:rPr sz="975" b="1">
                <a:solidFill>
                  <a:srgbClr val="F47B2A"/>
                </a:solidFill>
              </a:rPr>
              <a:t>CONNECTED OPERATIONS</a:t>
            </a:r>
          </a:p>
        </p:txBody>
      </p:sp>
      <p:sp>
        <p:nvSpPr>
          <p:cNvPr id="30" name="architecture-chip-2-0">
            <a:extLst xmlns:a="http://schemas.openxmlformats.org/drawingml/2006/main">
              <a:ext uri="{FF2B5EF4-FFF2-40B4-BE49-F238E27FC236}">
                <a16:creationId xmlns:a16="http://schemas.microsoft.com/office/drawing/2014/main" id="{5C023711-A0B4-45F0-B8CA-9564C775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5725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1" name="architecture-chip-2-0-text">
            <a:extLst xmlns:a="http://schemas.openxmlformats.org/drawingml/2006/main">
              <a:ext uri="{FF2B5EF4-FFF2-40B4-BE49-F238E27FC236}">
                <a16:creationId xmlns:a16="http://schemas.microsoft.com/office/drawing/2014/main" id="{3BF8A017-A7FC-4A24-AAE3-2D87F3CF0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6487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Tracking Events</a:t>
            </a:r>
          </a:p>
        </p:txBody>
      </p:sp>
      <p:sp>
        <p:nvSpPr>
          <p:cNvPr id="32" name="architecture-chip-2-1">
            <a:extLst xmlns:a="http://schemas.openxmlformats.org/drawingml/2006/main">
              <a:ext uri="{FF2B5EF4-FFF2-40B4-BE49-F238E27FC236}">
                <a16:creationId xmlns:a16="http://schemas.microsoft.com/office/drawing/2014/main" id="{A43C0F90-545C-42DD-A6E7-1FE9EAC2A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85725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3" name="architecture-chip-2-1-text">
            <a:extLst xmlns:a="http://schemas.openxmlformats.org/drawingml/2006/main">
              <a:ext uri="{FF2B5EF4-FFF2-40B4-BE49-F238E27FC236}">
                <a16:creationId xmlns:a16="http://schemas.microsoft.com/office/drawing/2014/main" id="{A97FB274-74C8-4E65-BA84-2B2857E4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86487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Delivery Attempts</a:t>
            </a:r>
          </a:p>
        </p:txBody>
      </p:sp>
      <p:sp>
        <p:nvSpPr>
          <p:cNvPr id="34" name="architecture-chip-2-2">
            <a:extLst xmlns:a="http://schemas.openxmlformats.org/drawingml/2006/main">
              <a:ext uri="{FF2B5EF4-FFF2-40B4-BE49-F238E27FC236}">
                <a16:creationId xmlns:a16="http://schemas.microsoft.com/office/drawing/2014/main" id="{D09BAC13-8C86-468A-AAA1-4575D45B5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0106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5" name="architecture-chip-2-2-text">
            <a:extLst xmlns:a="http://schemas.openxmlformats.org/drawingml/2006/main">
              <a:ext uri="{FF2B5EF4-FFF2-40B4-BE49-F238E27FC236}">
                <a16:creationId xmlns:a16="http://schemas.microsoft.com/office/drawing/2014/main" id="{25B72AB9-FF2F-4056-883D-E111B1D9D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0868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Payments</a:t>
            </a:r>
          </a:p>
        </p:txBody>
      </p:sp>
      <p:sp>
        <p:nvSpPr>
          <p:cNvPr id="36" name="architecture-chip-2-3">
            <a:extLst xmlns:a="http://schemas.openxmlformats.org/drawingml/2006/main">
              <a:ext uri="{FF2B5EF4-FFF2-40B4-BE49-F238E27FC236}">
                <a16:creationId xmlns:a16="http://schemas.microsoft.com/office/drawing/2014/main" id="{A78FB30F-F8A0-4454-8B36-F878C5821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90106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7" name="architecture-chip-2-3-text">
            <a:extLst xmlns:a="http://schemas.openxmlformats.org/drawingml/2006/main">
              <a:ext uri="{FF2B5EF4-FFF2-40B4-BE49-F238E27FC236}">
                <a16:creationId xmlns:a16="http://schemas.microsoft.com/office/drawing/2014/main" id="{559C8ED6-7F27-48A5-8E74-AA7524385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90868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Proof of Delivery</a:t>
            </a:r>
          </a:p>
        </p:txBody>
      </p:sp>
      <p:sp>
        <p:nvSpPr>
          <p:cNvPr id="38" name="reference-to-core-line">
            <a:extLst xmlns:a="http://schemas.openxmlformats.org/drawingml/2006/main">
              <a:ext uri="{FF2B5EF4-FFF2-40B4-BE49-F238E27FC236}">
                <a16:creationId xmlns:a16="http://schemas.microsoft.com/office/drawing/2014/main" id="{3965866D-EEE8-4A3B-9414-C2CE786E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391150"/>
            <a:ext cx="38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entities-to-shipment-line">
            <a:extLst xmlns:a="http://schemas.openxmlformats.org/drawingml/2006/main">
              <a:ext uri="{FF2B5EF4-FFF2-40B4-BE49-F238E27FC236}">
                <a16:creationId xmlns:a16="http://schemas.microsoft.com/office/drawing/2014/main" id="{A000BDB8-0495-4B67-9559-9A2F394E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67437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entities-to-shipment-arrow">
            <a:extLst xmlns:a="http://schemas.openxmlformats.org/drawingml/2006/main">
              <a:ext uri="{FF2B5EF4-FFF2-40B4-BE49-F238E27FC236}">
                <a16:creationId xmlns:a16="http://schemas.microsoft.com/office/drawing/2014/main" id="{62311FA7-DE7E-4953-B8D4-41138476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6858000"/>
            <a:ext cx="2476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shipments-core">
            <a:extLst xmlns:a="http://schemas.openxmlformats.org/drawingml/2006/main">
              <a:ext uri="{FF2B5EF4-FFF2-40B4-BE49-F238E27FC236}">
                <a16:creationId xmlns:a16="http://schemas.microsoft.com/office/drawing/2014/main" id="{052567BD-167F-449B-8AD4-B1F43433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029450"/>
            <a:ext cx="35433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19050">
            <a:solidFill>
              <a:srgbClr val="1554A3"/>
            </a:solidFill>
            <a:prstDash val="solid"/>
          </a:ln>
        </p:spPr>
      </p:sp>
      <p:sp>
        <p:nvSpPr>
          <p:cNvPr id="42" name="shipments-core-icon">
            <a:extLst xmlns:a="http://schemas.openxmlformats.org/drawingml/2006/main">
              <a:ext uri="{FF2B5EF4-FFF2-40B4-BE49-F238E27FC236}">
                <a16:creationId xmlns:a16="http://schemas.microsoft.com/office/drawing/2014/main" id="{341C1EC4-5E0E-471A-B32F-E0170260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71818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shipments-core-icon-text">
            <a:extLst xmlns:a="http://schemas.openxmlformats.org/drawingml/2006/main">
              <a:ext uri="{FF2B5EF4-FFF2-40B4-BE49-F238E27FC236}">
                <a16:creationId xmlns:a16="http://schemas.microsoft.com/office/drawing/2014/main" id="{7458C82B-5157-4DFE-BE52-7CC13AA2C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735330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44" name="shipments-core-title">
            <a:extLst xmlns:a="http://schemas.openxmlformats.org/drawingml/2006/main">
              <a:ext uri="{FF2B5EF4-FFF2-40B4-BE49-F238E27FC236}">
                <a16:creationId xmlns:a16="http://schemas.microsoft.com/office/drawing/2014/main" id="{3B1490DA-8B76-4586-98A8-D4E3E8A2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7143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SHIPMENTS</a:t>
            </a:r>
          </a:p>
        </p:txBody>
      </p:sp>
      <p:sp>
        <p:nvSpPr>
          <p:cNvPr id="45" name="shipments-core-copy">
            <a:extLst xmlns:a="http://schemas.openxmlformats.org/drawingml/2006/main">
              <a:ext uri="{FF2B5EF4-FFF2-40B4-BE49-F238E27FC236}">
                <a16:creationId xmlns:a16="http://schemas.microsoft.com/office/drawing/2014/main" id="{D7680C2A-FA99-4711-8734-E57876B4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7467600"/>
            <a:ext cx="2266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Connects sender, receiver, hubs, status, material, and failure reason.</a:t>
            </a:r>
          </a:p>
        </p:txBody>
      </p:sp>
      <p:sp>
        <p:nvSpPr>
          <p:cNvPr id="46" name="shipment-to-operations-line">
            <a:extLst xmlns:a="http://schemas.openxmlformats.org/drawingml/2006/main">
              <a:ext uri="{FF2B5EF4-FFF2-40B4-BE49-F238E27FC236}">
                <a16:creationId xmlns:a16="http://schemas.microsoft.com/office/drawing/2014/main" id="{5B9E9923-A88A-4A94-AB28-2784545D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79248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shipment-to-operations-arrow">
            <a:extLst xmlns:a="http://schemas.openxmlformats.org/drawingml/2006/main">
              <a:ext uri="{FF2B5EF4-FFF2-40B4-BE49-F238E27FC236}">
                <a16:creationId xmlns:a16="http://schemas.microsoft.com/office/drawing/2014/main" id="{043EC699-608A-4D97-8D1C-C868DC8A4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8039100"/>
            <a:ext cx="2476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architecture-count">
            <a:extLst xmlns:a="http://schemas.openxmlformats.org/drawingml/2006/main">
              <a:ext uri="{FF2B5EF4-FFF2-40B4-BE49-F238E27FC236}">
                <a16:creationId xmlns:a16="http://schemas.microsoft.com/office/drawing/2014/main" id="{FCC779CE-9FD2-4E5F-AFB9-6CF45677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979170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2653"/>
                </a:solidFill>
              </a:defRPr>
            </a:pPr>
            <a:r>
              <a:rPr sz="1050" b="1">
                <a:solidFill>
                  <a:srgbClr val="082653"/>
                </a:solidFill>
              </a:rPr>
              <a:t>13 tables connected through primary and foreign keys</a:t>
            </a:r>
          </a:p>
        </p:txBody>
      </p:sp>
      <p:sp>
        <p:nvSpPr>
          <p:cNvPr id="49" name="architecture-caption">
            <a:extLst xmlns:a="http://schemas.openxmlformats.org/drawingml/2006/main">
              <a:ext uri="{FF2B5EF4-FFF2-40B4-BE49-F238E27FC236}">
                <a16:creationId xmlns:a16="http://schemas.microsoft.com/office/drawing/2014/main" id="{AFA9278D-32F6-47D4-A69D-49DF15CF2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01346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718096"/>
                </a:solidFill>
              </a:defRPr>
            </a:pPr>
            <a:r>
              <a:rPr sz="975">
                <a:solidFill>
                  <a:srgbClr val="718096"/>
                </a:solidFill>
              </a:rPr>
              <a:t>Simplified solution view  ·  Full ERD documented in the project</a:t>
            </a:r>
          </a:p>
        </p:txBody>
      </p:sp>
      <p:sp>
        <p:nvSpPr>
          <p:cNvPr id="50" name="model-intro">
            <a:extLst xmlns:a="http://schemas.openxmlformats.org/drawingml/2006/main">
              <a:ext uri="{FF2B5EF4-FFF2-40B4-BE49-F238E27FC236}">
                <a16:creationId xmlns:a16="http://schemas.microsoft.com/office/drawing/2014/main" id="{D2A6692D-6A49-463F-BBEF-9413252A2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43300"/>
            <a:ext cx="4191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2D42"/>
                </a:solidFill>
              </a:defRPr>
            </a:pPr>
            <a:r>
              <a:rPr sz="1650" b="1">
                <a:solidFill>
                  <a:srgbClr val="1E2D42"/>
                </a:solidFill>
              </a:rPr>
              <a:t>I designed a relational SQL Server database to turn disconnected records into one traceable logistics system.</a:t>
            </a:r>
          </a:p>
        </p:txBody>
      </p:sp>
      <p:sp>
        <p:nvSpPr>
          <p:cNvPr id="51" name="metric-tables">
            <a:extLst xmlns:a="http://schemas.openxmlformats.org/drawingml/2006/main">
              <a:ext uri="{FF2B5EF4-FFF2-40B4-BE49-F238E27FC236}">
                <a16:creationId xmlns:a16="http://schemas.microsoft.com/office/drawing/2014/main" id="{B781E69E-321F-4C4D-91FB-19EC61A5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629150"/>
            <a:ext cx="19621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metric-tables-value">
            <a:extLst xmlns:a="http://schemas.openxmlformats.org/drawingml/2006/main">
              <a:ext uri="{FF2B5EF4-FFF2-40B4-BE49-F238E27FC236}">
                <a16:creationId xmlns:a16="http://schemas.microsoft.com/office/drawing/2014/main" id="{932F0435-502D-4DB2-BF53-0831C738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762500"/>
            <a:ext cx="158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53" name="metric-tables-label">
            <a:extLst xmlns:a="http://schemas.openxmlformats.org/drawingml/2006/main">
              <a:ext uri="{FF2B5EF4-FFF2-40B4-BE49-F238E27FC236}">
                <a16:creationId xmlns:a16="http://schemas.microsoft.com/office/drawing/2014/main" id="{E8336CFC-B668-4E78-9077-1CCD2C66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3149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RELATIONAL TABLES</a:t>
            </a:r>
          </a:p>
        </p:txBody>
      </p:sp>
      <p:sp>
        <p:nvSpPr>
          <p:cNvPr id="54" name="metric-queries">
            <a:extLst xmlns:a="http://schemas.openxmlformats.org/drawingml/2006/main">
              <a:ext uri="{FF2B5EF4-FFF2-40B4-BE49-F238E27FC236}">
                <a16:creationId xmlns:a16="http://schemas.microsoft.com/office/drawing/2014/main" id="{2E0FEDA2-E190-436A-8744-C5DFE664A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29150"/>
            <a:ext cx="2038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metric-queries-value">
            <a:extLst xmlns:a="http://schemas.openxmlformats.org/drawingml/2006/main">
              <a:ext uri="{FF2B5EF4-FFF2-40B4-BE49-F238E27FC236}">
                <a16:creationId xmlns:a16="http://schemas.microsoft.com/office/drawing/2014/main" id="{88D579C2-40EF-47F4-BC8D-6CB416C2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762500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6" name="metric-queries-label">
            <a:extLst xmlns:a="http://schemas.openxmlformats.org/drawingml/2006/main">
              <a:ext uri="{FF2B5EF4-FFF2-40B4-BE49-F238E27FC236}">
                <a16:creationId xmlns:a16="http://schemas.microsoft.com/office/drawing/2014/main" id="{0018955E-673E-4298-A22D-6ECC2D79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3149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ANALYTICAL QUERIES</a:t>
            </a:r>
          </a:p>
        </p:txBody>
      </p:sp>
      <p:sp>
        <p:nvSpPr>
          <p:cNvPr id="57" name="point-01">
            <a:extLst xmlns:a="http://schemas.openxmlformats.org/drawingml/2006/main">
              <a:ext uri="{FF2B5EF4-FFF2-40B4-BE49-F238E27FC236}">
                <a16:creationId xmlns:a16="http://schemas.microsoft.com/office/drawing/2014/main" id="{972EAA26-6666-4143-8E29-99F371E6A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61150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point-01-number">
            <a:extLst xmlns:a="http://schemas.openxmlformats.org/drawingml/2006/main">
              <a:ext uri="{FF2B5EF4-FFF2-40B4-BE49-F238E27FC236}">
                <a16:creationId xmlns:a16="http://schemas.microsoft.com/office/drawing/2014/main" id="{E3D4EE06-A44C-497F-9DBC-4B33A57F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61912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59" name="point-01-heading">
            <a:extLst xmlns:a="http://schemas.openxmlformats.org/drawingml/2006/main">
              <a:ext uri="{FF2B5EF4-FFF2-40B4-BE49-F238E27FC236}">
                <a16:creationId xmlns:a16="http://schemas.microsoft.com/office/drawing/2014/main" id="{4ECF3F27-6497-4A93-936A-0C21A109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6105525"/>
            <a:ext cx="358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SINGLE SOURCE OF TRUTH</a:t>
            </a:r>
          </a:p>
        </p:txBody>
      </p:sp>
      <p:sp>
        <p:nvSpPr>
          <p:cNvPr id="60" name="point-01-body">
            <a:extLst xmlns:a="http://schemas.openxmlformats.org/drawingml/2006/main">
              <a:ext uri="{FF2B5EF4-FFF2-40B4-BE49-F238E27FC236}">
                <a16:creationId xmlns:a16="http://schemas.microsoft.com/office/drawing/2014/main" id="{846144AB-E113-464C-98BB-614E2381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6438900"/>
            <a:ext cx="358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E2D42"/>
                </a:solidFill>
              </a:defRPr>
            </a:pPr>
            <a:r>
              <a:rPr sz="1275">
                <a:solidFill>
                  <a:srgbClr val="1E2D42"/>
                </a:solidFill>
              </a:rPr>
              <a:t>Customers, hubs, reference data, and shipments are connected through validated relationships.</a:t>
            </a:r>
          </a:p>
        </p:txBody>
      </p:sp>
      <p:sp>
        <p:nvSpPr>
          <p:cNvPr id="61" name="point-02">
            <a:extLst xmlns:a="http://schemas.openxmlformats.org/drawingml/2006/main">
              <a:ext uri="{FF2B5EF4-FFF2-40B4-BE49-F238E27FC236}">
                <a16:creationId xmlns:a16="http://schemas.microsoft.com/office/drawing/2014/main" id="{78BE91D9-A5F0-4D2B-A0F3-C267CCA8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7467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oint-02-number">
            <a:extLst xmlns:a="http://schemas.openxmlformats.org/drawingml/2006/main">
              <a:ext uri="{FF2B5EF4-FFF2-40B4-BE49-F238E27FC236}">
                <a16:creationId xmlns:a16="http://schemas.microsoft.com/office/drawing/2014/main" id="{6C43CF02-AA4A-4D07-8C98-CD1181712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75438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63" name="point-02-heading">
            <a:extLst xmlns:a="http://schemas.openxmlformats.org/drawingml/2006/main">
              <a:ext uri="{FF2B5EF4-FFF2-40B4-BE49-F238E27FC236}">
                <a16:creationId xmlns:a16="http://schemas.microsoft.com/office/drawing/2014/main" id="{749BD6BA-4E39-49B3-B894-6D943111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7458075"/>
            <a:ext cx="358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END-TO-END TRACEABILITY</a:t>
            </a:r>
          </a:p>
        </p:txBody>
      </p:sp>
      <p:sp>
        <p:nvSpPr>
          <p:cNvPr id="64" name="point-02-body">
            <a:extLst xmlns:a="http://schemas.openxmlformats.org/drawingml/2006/main">
              <a:ext uri="{FF2B5EF4-FFF2-40B4-BE49-F238E27FC236}">
                <a16:creationId xmlns:a16="http://schemas.microsoft.com/office/drawing/2014/main" id="{9E27BCD7-6AC0-4C7A-A42B-49197E6B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7791450"/>
            <a:ext cx="358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E2D42"/>
                </a:solidFill>
              </a:defRPr>
            </a:pPr>
            <a:r>
              <a:rPr sz="1275">
                <a:solidFill>
                  <a:srgbClr val="1E2D42"/>
                </a:solidFill>
              </a:rPr>
              <a:t>Every tracking event, delivery attempt, payment, and proof of delivery remains linked to its shipment.</a:t>
            </a:r>
          </a:p>
        </p:txBody>
      </p:sp>
      <p:sp>
        <p:nvSpPr>
          <p:cNvPr id="65" name="point-03">
            <a:extLst xmlns:a="http://schemas.openxmlformats.org/drawingml/2006/main">
              <a:ext uri="{FF2B5EF4-FFF2-40B4-BE49-F238E27FC236}">
                <a16:creationId xmlns:a16="http://schemas.microsoft.com/office/drawing/2014/main" id="{23931F28-118A-46A6-859F-11A257A5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88201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point-03-number">
            <a:extLst xmlns:a="http://schemas.openxmlformats.org/drawingml/2006/main">
              <a:ext uri="{FF2B5EF4-FFF2-40B4-BE49-F238E27FC236}">
                <a16:creationId xmlns:a16="http://schemas.microsoft.com/office/drawing/2014/main" id="{37A1D454-91A0-4764-BEBE-4180E5ACD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88963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67" name="point-03-heading">
            <a:extLst xmlns:a="http://schemas.openxmlformats.org/drawingml/2006/main">
              <a:ext uri="{FF2B5EF4-FFF2-40B4-BE49-F238E27FC236}">
                <a16:creationId xmlns:a16="http://schemas.microsoft.com/office/drawing/2014/main" id="{15B6CE8A-8215-483D-9FE1-25BC7C82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8810625"/>
            <a:ext cx="358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DECISION-READY FOUNDATION</a:t>
            </a:r>
          </a:p>
        </p:txBody>
      </p:sp>
      <p:sp>
        <p:nvSpPr>
          <p:cNvPr id="68" name="point-03-body">
            <a:extLst xmlns:a="http://schemas.openxmlformats.org/drawingml/2006/main">
              <a:ext uri="{FF2B5EF4-FFF2-40B4-BE49-F238E27FC236}">
                <a16:creationId xmlns:a16="http://schemas.microsoft.com/office/drawing/2014/main" id="{93CBA177-2BEA-4A78-8927-1D0C388C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9144000"/>
            <a:ext cx="358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E2D42"/>
                </a:solidFill>
              </a:defRPr>
            </a:pPr>
            <a:r>
              <a:rPr sz="1275">
                <a:solidFill>
                  <a:srgbClr val="1E2D42"/>
                </a:solidFill>
              </a:rPr>
              <a:t>Ten reusable queries expose delays, courier performance, hub throughput, stuck shipments, POD, and revenue.</a:t>
            </a:r>
          </a:p>
        </p:txBody>
      </p:sp>
      <p:sp>
        <p:nvSpPr>
          <p:cNvPr id="69" name="slide-04-result-band">
            <a:extLst xmlns:a="http://schemas.openxmlformats.org/drawingml/2006/main">
              <a:ext uri="{FF2B5EF4-FFF2-40B4-BE49-F238E27FC236}">
                <a16:creationId xmlns:a16="http://schemas.microsoft.com/office/drawing/2014/main" id="{37D83ACC-D143-48E2-BDC9-8004194B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0191750"/>
            <a:ext cx="4191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51F22829-B6C8-435C-8E24-173DDC668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03441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47B2A"/>
                </a:solidFill>
              </a:defRPr>
            </a:pPr>
            <a:r>
              <a:rPr sz="1125" b="1">
                <a:solidFill>
                  <a:srgbClr val="F47B2A"/>
                </a:solidFill>
              </a:rPr>
              <a:t>RESULT</a:t>
            </a:r>
          </a:p>
        </p:txBody>
      </p:sp>
      <p:sp>
        <p:nvSpPr>
          <p:cNvPr id="71" name="result-copy">
            <a:extLst xmlns:a="http://schemas.openxmlformats.org/drawingml/2006/main">
              <a:ext uri="{FF2B5EF4-FFF2-40B4-BE49-F238E27FC236}">
                <a16:creationId xmlns:a16="http://schemas.microsoft.com/office/drawing/2014/main" id="{6AC629FE-FAAB-4E35-B48D-EE3BC12D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0648950"/>
            <a:ext cx="3657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 trusted SQL foundation for operational monitoring and Power BI.</a:t>
            </a:r>
          </a:p>
        </p:txBody>
      </p:sp>
      <p:sp>
        <p:nvSpPr>
          <p:cNvPr id="72" name="slide-04-footer-left">
            <a:extLst xmlns:a="http://schemas.openxmlformats.org/drawingml/2006/main">
              <a:ext uri="{FF2B5EF4-FFF2-40B4-BE49-F238E27FC236}">
                <a16:creationId xmlns:a16="http://schemas.microsoft.com/office/drawing/2014/main" id="{9FCF65E1-0B3E-487F-854D-72F3039D2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73" name="slide-04-footer-right">
            <a:extLst xmlns:a="http://schemas.openxmlformats.org/drawingml/2006/main">
              <a:ext uri="{FF2B5EF4-FFF2-40B4-BE49-F238E27FC236}">
                <a16:creationId xmlns:a16="http://schemas.microsoft.com/office/drawing/2014/main" id="{E3201459-37A8-4FC8-9B8E-359AE5E5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3134632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lide-05-top-accent">
            <a:extLst xmlns:a="http://schemas.openxmlformats.org/drawingml/2006/main">
              <a:ext uri="{FF2B5EF4-FFF2-40B4-BE49-F238E27FC236}">
                <a16:creationId xmlns:a16="http://schemas.microsoft.com/office/drawing/2014/main" id="{E68A75D7-406F-4D1D-953E-2732F992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5-eyebrow">
            <a:extLst xmlns:a="http://schemas.openxmlformats.org/drawingml/2006/main">
              <a:ext uri="{FF2B5EF4-FFF2-40B4-BE49-F238E27FC236}">
                <a16:creationId xmlns:a16="http://schemas.microsoft.com/office/drawing/2014/main" id="{81DC2F55-B0BF-43E7-BDDB-02F52278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POWER BI DASHBOARD</a:t>
            </a:r>
          </a:p>
        </p:txBody>
      </p:sp>
      <p:sp>
        <p:nvSpPr>
          <p:cNvPr id="3" name="slide-05-number">
            <a:extLst xmlns:a="http://schemas.openxmlformats.org/drawingml/2006/main">
              <a:ext uri="{FF2B5EF4-FFF2-40B4-BE49-F238E27FC236}">
                <a16:creationId xmlns:a16="http://schemas.microsoft.com/office/drawing/2014/main" id="{FF4F548A-B6E0-428C-817C-9087AC18F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05 / 08</a:t>
            </a:r>
          </a:p>
        </p:txBody>
      </p:sp>
      <p:sp>
        <p:nvSpPr>
          <p:cNvPr id="4" name="slide-05-title">
            <a:extLst xmlns:a="http://schemas.openxmlformats.org/drawingml/2006/main">
              <a:ext uri="{FF2B5EF4-FFF2-40B4-BE49-F238E27FC236}">
                <a16:creationId xmlns:a16="http://schemas.microsoft.com/office/drawing/2014/main" id="{D09682AC-5EEA-450E-89DC-82DF7F8A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ONE DASHBOARD. THREE</a:t>
            </a:r>
          </a:p>
          <a:p xmlns:a="http://schemas.openxmlformats.org/drawingml/2006/main">
            <a:pPr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OPERATIONAL VIEWS.</a:t>
            </a:r>
          </a:p>
        </p:txBody>
      </p:sp>
      <p:sp>
        <p:nvSpPr>
          <p:cNvPr id="5" name="slide-05-subtitle">
            <a:extLst xmlns:a="http://schemas.openxmlformats.org/drawingml/2006/main">
              <a:ext uri="{FF2B5EF4-FFF2-40B4-BE49-F238E27FC236}">
                <a16:creationId xmlns:a16="http://schemas.microsoft.com/office/drawing/2014/main" id="{4836B6AF-FBAA-4290-8B39-C8EED553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Interactive pages move from the overall delay problem to the supplier, customer, vehicle, and GPS drivers behind it.</a:t>
            </a:r>
          </a:p>
        </p:txBody>
      </p:sp>
      <p:sp>
        <p:nvSpPr>
          <p:cNvPr id="6" name="delay-dashboard-frame">
            <a:extLst xmlns:a="http://schemas.openxmlformats.org/drawingml/2006/main">
              <a:ext uri="{FF2B5EF4-FFF2-40B4-BE49-F238E27FC236}">
                <a16:creationId xmlns:a16="http://schemas.microsoft.com/office/drawing/2014/main" id="{C3EF6A14-17FC-4E24-A2FD-8F5F63C6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8915400" cy="495300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19a229cb8d4f33"/>
          <a:stretch xmlns:a="http://schemas.openxmlformats.org/drawingml/2006/main"/>
        </p:blipFill>
        <p:spPr>
          <a:xfrm xmlns:a="http://schemas.openxmlformats.org/drawingml/2006/main">
            <a:off x="800100" y="3619500"/>
            <a:ext cx="8686800" cy="4886325"/>
          </a:xfrm>
          <a:prstGeom xmlns:a="http://schemas.openxmlformats.org/drawingml/2006/main" prst="rect">
            <a:avLst/>
          </a:prstGeom>
        </p:spPr>
      </p:pic>
      <p:sp>
        <p:nvSpPr>
          <p:cNvPr id="8" name="delay-dashboard-label-bg">
            <a:extLst xmlns:a="http://schemas.openxmlformats.org/drawingml/2006/main">
              <a:ext uri="{FF2B5EF4-FFF2-40B4-BE49-F238E27FC236}">
                <a16:creationId xmlns:a16="http://schemas.microsoft.com/office/drawing/2014/main" id="{A8F87C06-FB3B-4201-B9A4-DAF5BEEA3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31623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elay-dashboard-label">
            <a:extLst xmlns:a="http://schemas.openxmlformats.org/drawingml/2006/main">
              <a:ext uri="{FF2B5EF4-FFF2-40B4-BE49-F238E27FC236}">
                <a16:creationId xmlns:a16="http://schemas.microsoft.com/office/drawing/2014/main" id="{AB71CA79-8A6A-42BD-AC9D-D3F0D337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76675"/>
            <a:ext cx="278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01  DELAY ANALYSIS</a:t>
            </a:r>
          </a:p>
        </p:txBody>
      </p:sp>
      <p:sp>
        <p:nvSpPr>
          <p:cNvPr id="10" name="supplier-dashboard-frame">
            <a:extLst xmlns:a="http://schemas.openxmlformats.org/drawingml/2006/main">
              <a:ext uri="{FF2B5EF4-FFF2-40B4-BE49-F238E27FC236}">
                <a16:creationId xmlns:a16="http://schemas.microsoft.com/office/drawing/2014/main" id="{770EB41F-CEC8-47F2-B3C2-20E160E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43950"/>
            <a:ext cx="4305300" cy="24193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47af9daeb44238"/>
          <a:stretch xmlns:a="http://schemas.openxmlformats.org/drawingml/2006/main"/>
        </p:blipFill>
        <p:spPr>
          <a:xfrm xmlns:a="http://schemas.openxmlformats.org/drawingml/2006/main">
            <a:off x="762000" y="8820150"/>
            <a:ext cx="4152900" cy="2333625"/>
          </a:xfrm>
          <a:prstGeom xmlns:a="http://schemas.openxmlformats.org/drawingml/2006/main" prst="rect">
            <a:avLst/>
          </a:prstGeom>
        </p:spPr>
      </p:pic>
      <p:sp>
        <p:nvSpPr>
          <p:cNvPr id="12" name="supplier-label-bg">
            <a:extLst xmlns:a="http://schemas.openxmlformats.org/drawingml/2006/main">
              <a:ext uri="{FF2B5EF4-FFF2-40B4-BE49-F238E27FC236}">
                <a16:creationId xmlns:a16="http://schemas.microsoft.com/office/drawing/2014/main" id="{CD8971CC-D2AB-420B-9295-D0CB7234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896350"/>
            <a:ext cx="23241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upplier-label">
            <a:extLst xmlns:a="http://schemas.openxmlformats.org/drawingml/2006/main">
              <a:ext uri="{FF2B5EF4-FFF2-40B4-BE49-F238E27FC236}">
                <a16:creationId xmlns:a16="http://schemas.microsoft.com/office/drawing/2014/main" id="{5E74B6E1-1BDD-4FCF-841C-24B39AF7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010650"/>
            <a:ext cx="2076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02  SUPPLIERS &amp; CUSTOMERS</a:t>
            </a:r>
          </a:p>
        </p:txBody>
      </p:sp>
      <p:sp>
        <p:nvSpPr>
          <p:cNvPr id="14" name="fleet-dashboard-frame">
            <a:extLst xmlns:a="http://schemas.openxmlformats.org/drawingml/2006/main">
              <a:ext uri="{FF2B5EF4-FFF2-40B4-BE49-F238E27FC236}">
                <a16:creationId xmlns:a16="http://schemas.microsoft.com/office/drawing/2014/main" id="{40B7A6E3-2171-42BF-8F2D-4BFE00D0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8743950"/>
            <a:ext cx="4305300" cy="24193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e40126a86546f8"/>
          <a:stretch xmlns:a="http://schemas.openxmlformats.org/drawingml/2006/main"/>
        </p:blipFill>
        <p:spPr>
          <a:xfrm xmlns:a="http://schemas.openxmlformats.org/drawingml/2006/main">
            <a:off x="5372100" y="8820150"/>
            <a:ext cx="4152900" cy="2333625"/>
          </a:xfrm>
          <a:prstGeom xmlns:a="http://schemas.openxmlformats.org/drawingml/2006/main" prst="rect">
            <a:avLst/>
          </a:prstGeom>
        </p:spPr>
      </p:pic>
      <p:sp>
        <p:nvSpPr>
          <p:cNvPr id="16" name="fleet-label-bg">
            <a:extLst xmlns:a="http://schemas.openxmlformats.org/drawingml/2006/main">
              <a:ext uri="{FF2B5EF4-FFF2-40B4-BE49-F238E27FC236}">
                <a16:creationId xmlns:a16="http://schemas.microsoft.com/office/drawing/2014/main" id="{22E83A57-FFF0-4F23-BBC7-F013ABA0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8896350"/>
            <a:ext cx="18669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5B3B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fleet-label">
            <a:extLst xmlns:a="http://schemas.openxmlformats.org/drawingml/2006/main">
              <a:ext uri="{FF2B5EF4-FFF2-40B4-BE49-F238E27FC236}">
                <a16:creationId xmlns:a16="http://schemas.microsoft.com/office/drawing/2014/main" id="{5B339BDE-3634-4D79-9884-831FE7D0C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9010650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03  FLEET &amp; GPS</a:t>
            </a:r>
          </a:p>
        </p:txBody>
      </p:sp>
      <p:sp>
        <p:nvSpPr>
          <p:cNvPr id="18" name="slide-05-summary-band">
            <a:extLst xmlns:a="http://schemas.openxmlformats.org/drawingml/2006/main">
              <a:ext uri="{FF2B5EF4-FFF2-40B4-BE49-F238E27FC236}">
                <a16:creationId xmlns:a16="http://schemas.microsoft.com/office/drawing/2014/main" id="{A774424C-A0BE-47B8-8DA0-03CADBA2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68100"/>
            <a:ext cx="89154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lide-05-summary-label">
            <a:extLst xmlns:a="http://schemas.openxmlformats.org/drawingml/2006/main">
              <a:ext uri="{FF2B5EF4-FFF2-40B4-BE49-F238E27FC236}">
                <a16:creationId xmlns:a16="http://schemas.microsoft.com/office/drawing/2014/main" id="{C4E94216-7E41-423B-98BA-E0D368181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6395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FROM SQL MODEL TO INTERACTIVE MONITORING</a:t>
            </a:r>
          </a:p>
        </p:txBody>
      </p:sp>
      <p:sp>
        <p:nvSpPr>
          <p:cNvPr id="20" name="slide-05-summary-stats">
            <a:extLst xmlns:a="http://schemas.openxmlformats.org/drawingml/2006/main">
              <a:ext uri="{FF2B5EF4-FFF2-40B4-BE49-F238E27FC236}">
                <a16:creationId xmlns:a16="http://schemas.microsoft.com/office/drawing/2014/main" id="{A895FF16-98E8-424D-AEFE-9274DE75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16395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47B2A"/>
                </a:solidFill>
              </a:defRPr>
            </a:pPr>
            <a:r>
              <a:rPr sz="975" b="1">
                <a:solidFill>
                  <a:srgbClr val="F47B2A"/>
                </a:solidFill>
              </a:rPr>
              <a:t>6,773 SHIPMENTS  ·  32 FEATURES  ·  MAR 2019–SEP 2020</a:t>
            </a:r>
          </a:p>
        </p:txBody>
      </p:sp>
      <p:sp>
        <p:nvSpPr>
          <p:cNvPr id="21" name="slide-05-footer-left">
            <a:extLst xmlns:a="http://schemas.openxmlformats.org/drawingml/2006/main">
              <a:ext uri="{FF2B5EF4-FFF2-40B4-BE49-F238E27FC236}">
                <a16:creationId xmlns:a16="http://schemas.microsoft.com/office/drawing/2014/main" id="{157B584F-786D-4E6F-B94E-D4EA8883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22" name="slide-05-footer-right">
            <a:extLst xmlns:a="http://schemas.openxmlformats.org/drawingml/2006/main">
              <a:ext uri="{FF2B5EF4-FFF2-40B4-BE49-F238E27FC236}">
                <a16:creationId xmlns:a16="http://schemas.microsoft.com/office/drawing/2014/main" id="{8E5E3760-E201-434A-97D2-B84A7E807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18167502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slide-06-top-accent">
            <a:extLst xmlns:a="http://schemas.openxmlformats.org/drawingml/2006/main">
              <a:ext uri="{FF2B5EF4-FFF2-40B4-BE49-F238E27FC236}">
                <a16:creationId xmlns:a16="http://schemas.microsoft.com/office/drawing/2014/main" id="{04AD5B0F-4967-49AA-B9A1-9D8824FC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6-eyebrow">
            <a:extLst xmlns:a="http://schemas.openxmlformats.org/drawingml/2006/main">
              <a:ext uri="{FF2B5EF4-FFF2-40B4-BE49-F238E27FC236}">
                <a16:creationId xmlns:a16="http://schemas.microsoft.com/office/drawing/2014/main" id="{8F603F90-7287-449B-96BB-53B93A94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KEY INSIGHTS</a:t>
            </a:r>
          </a:p>
        </p:txBody>
      </p:sp>
      <p:sp>
        <p:nvSpPr>
          <p:cNvPr id="3" name="slide-06-number">
            <a:extLst xmlns:a="http://schemas.openxmlformats.org/drawingml/2006/main">
              <a:ext uri="{FF2B5EF4-FFF2-40B4-BE49-F238E27FC236}">
                <a16:creationId xmlns:a16="http://schemas.microsoft.com/office/drawing/2014/main" id="{2453C7CE-3CAA-4605-88C0-50B71316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06 / 08</a:t>
            </a:r>
          </a:p>
        </p:txBody>
      </p:sp>
      <p:sp>
        <p:nvSpPr>
          <p:cNvPr id="4" name="slide-06-title">
            <a:extLst xmlns:a="http://schemas.openxmlformats.org/drawingml/2006/main">
              <a:ext uri="{FF2B5EF4-FFF2-40B4-BE49-F238E27FC236}">
                <a16:creationId xmlns:a16="http://schemas.microsoft.com/office/drawing/2014/main" id="{18103B41-939F-41D7-8A0B-77E5BF5EB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82653"/>
                </a:solidFill>
              </a:defRPr>
            </a:pPr>
            <a:r>
              <a:rPr sz="3225" b="1">
                <a:solidFill>
                  <a:srgbClr val="082653"/>
                </a:solidFill>
              </a:rPr>
              <a:t>THE DELAY PROBLEM HAS</a:t>
            </a:r>
          </a:p>
          <a:p xmlns:a="http://schemas.openxmlformats.org/drawingml/2006/main">
            <a:pPr>
              <a:defRPr sz="3225" b="1">
                <a:solidFill>
                  <a:srgbClr val="082653"/>
                </a:solidFill>
              </a:defRPr>
            </a:pPr>
            <a:r>
              <a:rPr sz="3225" b="1">
                <a:solidFill>
                  <a:srgbClr val="082653"/>
                </a:solidFill>
              </a:rPr>
              <a:t>CLEAR OPERATIONAL DRIVERS</a:t>
            </a:r>
          </a:p>
        </p:txBody>
      </p:sp>
      <p:sp>
        <p:nvSpPr>
          <p:cNvPr id="5" name="slide-06-subtitle">
            <a:extLst xmlns:a="http://schemas.openxmlformats.org/drawingml/2006/main">
              <a:ext uri="{FF2B5EF4-FFF2-40B4-BE49-F238E27FC236}">
                <a16:creationId xmlns:a16="http://schemas.microsoft.com/office/drawing/2014/main" id="{2A9394FE-F398-4CD5-B61D-AD175F595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The risk is concentrated across time, distance, tracking quality, vehicle type, and partner performance.</a:t>
            </a:r>
          </a:p>
        </p:txBody>
      </p:sp>
      <p:sp>
        <p:nvSpPr>
          <p:cNvPr id="6" name="crisis-band">
            <a:extLst xmlns:a="http://schemas.openxmlformats.org/drawingml/2006/main">
              <a:ext uri="{FF2B5EF4-FFF2-40B4-BE49-F238E27FC236}">
                <a16:creationId xmlns:a16="http://schemas.microsoft.com/office/drawing/2014/main" id="{1BBD2726-1B72-4622-9015-53DB9A29F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89154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risis-label">
            <a:extLst xmlns:a="http://schemas.openxmlformats.org/drawingml/2006/main">
              <a:ext uri="{FF2B5EF4-FFF2-40B4-BE49-F238E27FC236}">
                <a16:creationId xmlns:a16="http://schemas.microsoft.com/office/drawing/2014/main" id="{880F7CB7-8A4A-41D5-B0CF-28C7DEF5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957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CRISIS MONTHS</a:t>
            </a:r>
          </a:p>
        </p:txBody>
      </p:sp>
      <p:sp>
        <p:nvSpPr>
          <p:cNvPr id="8" name="crisis-value">
            <a:extLst xmlns:a="http://schemas.openxmlformats.org/drawingml/2006/main">
              <a:ext uri="{FF2B5EF4-FFF2-40B4-BE49-F238E27FC236}">
                <a16:creationId xmlns:a16="http://schemas.microsoft.com/office/drawing/2014/main" id="{255856A1-1F79-410B-A929-0E883C95E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814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9" name="crisis-copy">
            <a:extLst xmlns:a="http://schemas.openxmlformats.org/drawingml/2006/main">
              <a:ext uri="{FF2B5EF4-FFF2-40B4-BE49-F238E27FC236}">
                <a16:creationId xmlns:a16="http://schemas.microsoft.com/office/drawing/2014/main" id="{F9B7B7F2-4CC7-43BA-BEEA-423EB77E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100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monthly delay rate reached 96–100%</a:t>
            </a:r>
          </a:p>
        </p:txBody>
      </p:sp>
      <p:sp>
        <p:nvSpPr>
          <p:cNvPr id="10" name="crisis-period">
            <a:extLst xmlns:a="http://schemas.openxmlformats.org/drawingml/2006/main">
              <a:ext uri="{FF2B5EF4-FFF2-40B4-BE49-F238E27FC236}">
                <a16:creationId xmlns:a16="http://schemas.microsoft.com/office/drawing/2014/main" id="{ABC38EF5-54B0-415B-807B-BCDD0248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05250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FE7E8"/>
                </a:solidFill>
              </a:defRPr>
            </a:pPr>
            <a:r>
              <a:rPr sz="1125" b="1">
                <a:solidFill>
                  <a:srgbClr val="FFE7E8"/>
                </a:solidFill>
              </a:rPr>
              <a:t>JUL '19 – MAY '20 WINDOW</a:t>
            </a:r>
          </a:p>
        </p:txBody>
      </p:sp>
      <p:sp>
        <p:nvSpPr>
          <p:cNvPr id="11" name="distance-card">
            <a:extLst xmlns:a="http://schemas.openxmlformats.org/drawingml/2006/main">
              <a:ext uri="{FF2B5EF4-FFF2-40B4-BE49-F238E27FC236}">
                <a16:creationId xmlns:a16="http://schemas.microsoft.com/office/drawing/2014/main" id="{BC77F0DB-D6D2-42A1-9E9E-53B63241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43053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12" name="distance-title">
            <a:extLst xmlns:a="http://schemas.openxmlformats.org/drawingml/2006/main">
              <a:ext uri="{FF2B5EF4-FFF2-40B4-BE49-F238E27FC236}">
                <a16:creationId xmlns:a16="http://schemas.microsoft.com/office/drawing/2014/main" id="{99206A49-AB07-4C23-9772-2BAAADA17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53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01  DISTANCE RISK</a:t>
            </a:r>
          </a:p>
        </p:txBody>
      </p:sp>
      <p:sp>
        <p:nvSpPr>
          <p:cNvPr id="13" name="distance-copy">
            <a:extLst xmlns:a="http://schemas.openxmlformats.org/drawingml/2006/main">
              <a:ext uri="{FF2B5EF4-FFF2-40B4-BE49-F238E27FC236}">
                <a16:creationId xmlns:a16="http://schemas.microsoft.com/office/drawing/2014/main" id="{60BF359B-87CE-4D1F-A733-913B1E701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578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E2D42"/>
                </a:solidFill>
              </a:defRPr>
            </a:pPr>
            <a:r>
              <a:rPr sz="1200">
                <a:solidFill>
                  <a:srgbClr val="1E2D42"/>
                </a:solidFill>
              </a:rPr>
              <a:t>Very long and short routes show the highest delay rates.</a:t>
            </a:r>
          </a:p>
        </p:txBody>
      </p:sp>
      <p:sp>
        <p:nvSpPr>
          <p:cNvPr id="14" name="distance-label-0">
            <a:extLst xmlns:a="http://schemas.openxmlformats.org/drawingml/2006/main">
              <a:ext uri="{FF2B5EF4-FFF2-40B4-BE49-F238E27FC236}">
                <a16:creationId xmlns:a16="http://schemas.microsoft.com/office/drawing/2014/main" id="{B73311A5-FF3A-4C91-8A89-2889D8A4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103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VERY LONG</a:t>
            </a:r>
          </a:p>
        </p:txBody>
      </p:sp>
      <p:sp>
        <p:nvSpPr>
          <p:cNvPr id="15" name="distance-track-0">
            <a:extLst xmlns:a="http://schemas.openxmlformats.org/drawingml/2006/main">
              <a:ext uri="{FF2B5EF4-FFF2-40B4-BE49-F238E27FC236}">
                <a16:creationId xmlns:a16="http://schemas.microsoft.com/office/drawing/2014/main" id="{7FA370D7-E89A-476E-827D-C93A847E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912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istance-bar-0">
            <a:extLst xmlns:a="http://schemas.openxmlformats.org/drawingml/2006/main">
              <a:ext uri="{FF2B5EF4-FFF2-40B4-BE49-F238E27FC236}">
                <a16:creationId xmlns:a16="http://schemas.microsoft.com/office/drawing/2014/main" id="{7644D493-87F2-4C40-8307-10C6E6B8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91250"/>
            <a:ext cx="1899826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istance-value-0">
            <a:extLst xmlns:a="http://schemas.openxmlformats.org/drawingml/2006/main">
              <a:ext uri="{FF2B5EF4-FFF2-40B4-BE49-F238E27FC236}">
                <a16:creationId xmlns:a16="http://schemas.microsoft.com/office/drawing/2014/main" id="{33E9DD6C-CA79-47C4-B9AD-51636FA7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2007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81.08%</a:t>
            </a:r>
          </a:p>
        </p:txBody>
      </p:sp>
      <p:sp>
        <p:nvSpPr>
          <p:cNvPr id="18" name="distance-label-1">
            <a:extLst xmlns:a="http://schemas.openxmlformats.org/drawingml/2006/main">
              <a:ext uri="{FF2B5EF4-FFF2-40B4-BE49-F238E27FC236}">
                <a16:creationId xmlns:a16="http://schemas.microsoft.com/office/drawing/2014/main" id="{00908DEA-36BC-4D5C-B729-4D117ACD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341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SHORT</a:t>
            </a:r>
          </a:p>
        </p:txBody>
      </p:sp>
      <p:sp>
        <p:nvSpPr>
          <p:cNvPr id="19" name="distance-track-1">
            <a:extLst xmlns:a="http://schemas.openxmlformats.org/drawingml/2006/main">
              <a:ext uri="{FF2B5EF4-FFF2-40B4-BE49-F238E27FC236}">
                <a16:creationId xmlns:a16="http://schemas.microsoft.com/office/drawing/2014/main" id="{2764CAE0-A00D-4A04-8DB9-54B598FA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5151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distance-bar-1">
            <a:extLst xmlns:a="http://schemas.openxmlformats.org/drawingml/2006/main">
              <a:ext uri="{FF2B5EF4-FFF2-40B4-BE49-F238E27FC236}">
                <a16:creationId xmlns:a16="http://schemas.microsoft.com/office/drawing/2014/main" id="{8FD688BD-DEAA-4A41-A24B-C7D6D0C7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515100"/>
            <a:ext cx="1712374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distance-value-1">
            <a:extLst xmlns:a="http://schemas.openxmlformats.org/drawingml/2006/main">
              <a:ext uri="{FF2B5EF4-FFF2-40B4-BE49-F238E27FC236}">
                <a16:creationId xmlns:a16="http://schemas.microsoft.com/office/drawing/2014/main" id="{C4F6A42F-1CE3-4F0B-BF4E-30ECDBE5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52462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73.08%</a:t>
            </a:r>
          </a:p>
        </p:txBody>
      </p:sp>
      <p:sp>
        <p:nvSpPr>
          <p:cNvPr id="22" name="distance-label-2">
            <a:extLst xmlns:a="http://schemas.openxmlformats.org/drawingml/2006/main">
              <a:ext uri="{FF2B5EF4-FFF2-40B4-BE49-F238E27FC236}">
                <a16:creationId xmlns:a16="http://schemas.microsoft.com/office/drawing/2014/main" id="{9B1B0834-AF90-4A1C-856E-21E1C2BE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LONG</a:t>
            </a:r>
          </a:p>
        </p:txBody>
      </p:sp>
      <p:sp>
        <p:nvSpPr>
          <p:cNvPr id="23" name="distance-track-2">
            <a:extLst xmlns:a="http://schemas.openxmlformats.org/drawingml/2006/main">
              <a:ext uri="{FF2B5EF4-FFF2-40B4-BE49-F238E27FC236}">
                <a16:creationId xmlns:a16="http://schemas.microsoft.com/office/drawing/2014/main" id="{28CCA76B-468E-4BB2-B5A1-7454016B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8389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istance-bar-2">
            <a:extLst xmlns:a="http://schemas.openxmlformats.org/drawingml/2006/main">
              <a:ext uri="{FF2B5EF4-FFF2-40B4-BE49-F238E27FC236}">
                <a16:creationId xmlns:a16="http://schemas.microsoft.com/office/drawing/2014/main" id="{101B8261-4C28-43B4-BA9C-2FF5CF40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838950"/>
            <a:ext cx="1226873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5A2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istance-value-2">
            <a:extLst xmlns:a="http://schemas.openxmlformats.org/drawingml/2006/main">
              <a:ext uri="{FF2B5EF4-FFF2-40B4-BE49-F238E27FC236}">
                <a16:creationId xmlns:a16="http://schemas.microsoft.com/office/drawing/2014/main" id="{D4BCA590-7982-4538-8AD5-13291323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8484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52.36%</a:t>
            </a:r>
          </a:p>
        </p:txBody>
      </p:sp>
      <p:sp>
        <p:nvSpPr>
          <p:cNvPr id="26" name="distance-label-3">
            <a:extLst xmlns:a="http://schemas.openxmlformats.org/drawingml/2006/main">
              <a:ext uri="{FF2B5EF4-FFF2-40B4-BE49-F238E27FC236}">
                <a16:creationId xmlns:a16="http://schemas.microsoft.com/office/drawing/2014/main" id="{12591F07-42A1-4FB9-8B03-E7D601E95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181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MEDIUM</a:t>
            </a:r>
          </a:p>
        </p:txBody>
      </p:sp>
      <p:sp>
        <p:nvSpPr>
          <p:cNvPr id="27" name="distance-track-3">
            <a:extLst xmlns:a="http://schemas.openxmlformats.org/drawingml/2006/main">
              <a:ext uri="{FF2B5EF4-FFF2-40B4-BE49-F238E27FC236}">
                <a16:creationId xmlns:a16="http://schemas.microsoft.com/office/drawing/2014/main" id="{B28467A2-F7D6-467E-8445-D2A84F2E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71628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distance-bar-3">
            <a:extLst xmlns:a="http://schemas.openxmlformats.org/drawingml/2006/main">
              <a:ext uri="{FF2B5EF4-FFF2-40B4-BE49-F238E27FC236}">
                <a16:creationId xmlns:a16="http://schemas.microsoft.com/office/drawing/2014/main" id="{1065C9A5-ECF3-4602-8D1F-D036157A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7162800"/>
            <a:ext cx="1010366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istance-value-3">
            <a:extLst xmlns:a="http://schemas.openxmlformats.org/drawingml/2006/main">
              <a:ext uri="{FF2B5EF4-FFF2-40B4-BE49-F238E27FC236}">
                <a16:creationId xmlns:a16="http://schemas.microsoft.com/office/drawing/2014/main" id="{2044397E-BECE-4715-9808-7385AD12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717232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43.12%</a:t>
            </a:r>
          </a:p>
        </p:txBody>
      </p:sp>
      <p:sp>
        <p:nvSpPr>
          <p:cNvPr id="30" name="gps-card">
            <a:extLst xmlns:a="http://schemas.openxmlformats.org/drawingml/2006/main">
              <a:ext uri="{FF2B5EF4-FFF2-40B4-BE49-F238E27FC236}">
                <a16:creationId xmlns:a16="http://schemas.microsoft.com/office/drawing/2014/main" id="{900FC3BC-23EC-46B8-B643-39E694EA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43500"/>
            <a:ext cx="43053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31" name="gps-title">
            <a:extLst xmlns:a="http://schemas.openxmlformats.org/drawingml/2006/main">
              <a:ext uri="{FF2B5EF4-FFF2-40B4-BE49-F238E27FC236}">
                <a16:creationId xmlns:a16="http://schemas.microsoft.com/office/drawing/2014/main" id="{A5B27516-9FCA-4ED2-8090-667700A6D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353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02  GPS PROVIDER GAP</a:t>
            </a:r>
          </a:p>
        </p:txBody>
      </p:sp>
      <p:sp>
        <p:nvSpPr>
          <p:cNvPr id="32" name="gps-copy">
            <a:extLst xmlns:a="http://schemas.openxmlformats.org/drawingml/2006/main">
              <a:ext uri="{FF2B5EF4-FFF2-40B4-BE49-F238E27FC236}">
                <a16:creationId xmlns:a16="http://schemas.microsoft.com/office/drawing/2014/main" id="{01CEBD55-866C-423A-88E9-9DB0F9D4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6578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E2D42"/>
                </a:solidFill>
              </a:defRPr>
            </a:pPr>
            <a:r>
              <a:rPr sz="1200">
                <a:solidFill>
                  <a:srgbClr val="1E2D42"/>
                </a:solidFill>
              </a:rPr>
              <a:t>Tracking-provider performance varies dramatically.</a:t>
            </a:r>
          </a:p>
        </p:txBody>
      </p:sp>
      <p:sp>
        <p:nvSpPr>
          <p:cNvPr id="33" name="gps-label-0">
            <a:extLst xmlns:a="http://schemas.openxmlformats.org/drawingml/2006/main">
              <a:ext uri="{FF2B5EF4-FFF2-40B4-BE49-F238E27FC236}">
                <a16:creationId xmlns:a16="http://schemas.microsoft.com/office/drawing/2014/main" id="{9AF44214-2B2D-4D4B-8603-8A051B67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2103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MANUAL</a:t>
            </a:r>
          </a:p>
        </p:txBody>
      </p:sp>
      <p:sp>
        <p:nvSpPr>
          <p:cNvPr id="34" name="gps-track-0">
            <a:extLst xmlns:a="http://schemas.openxmlformats.org/drawingml/2006/main">
              <a:ext uri="{FF2B5EF4-FFF2-40B4-BE49-F238E27FC236}">
                <a16:creationId xmlns:a16="http://schemas.microsoft.com/office/drawing/2014/main" id="{052C7B98-F8FD-447D-8CEE-82890D577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1912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gps-bar-0">
            <a:extLst xmlns:a="http://schemas.openxmlformats.org/drawingml/2006/main">
              <a:ext uri="{FF2B5EF4-FFF2-40B4-BE49-F238E27FC236}">
                <a16:creationId xmlns:a16="http://schemas.microsoft.com/office/drawing/2014/main" id="{579BEC7E-BF56-4504-8008-14221DD0D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191250"/>
            <a:ext cx="2319719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gps-value-0">
            <a:extLst xmlns:a="http://schemas.openxmlformats.org/drawingml/2006/main">
              <a:ext uri="{FF2B5EF4-FFF2-40B4-BE49-F238E27FC236}">
                <a16:creationId xmlns:a16="http://schemas.microsoft.com/office/drawing/2014/main" id="{E3596786-30C5-43A3-BFBD-A185BE07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20077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37" name="gps-label-1">
            <a:extLst xmlns:a="http://schemas.openxmlformats.org/drawingml/2006/main">
              <a:ext uri="{FF2B5EF4-FFF2-40B4-BE49-F238E27FC236}">
                <a16:creationId xmlns:a16="http://schemas.microsoft.com/office/drawing/2014/main" id="{62DD9D1F-CE2E-4B29-A3FE-CEF9519D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5341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CONSENT</a:t>
            </a:r>
          </a:p>
        </p:txBody>
      </p:sp>
      <p:sp>
        <p:nvSpPr>
          <p:cNvPr id="38" name="gps-track-1">
            <a:extLst xmlns:a="http://schemas.openxmlformats.org/drawingml/2006/main">
              <a:ext uri="{FF2B5EF4-FFF2-40B4-BE49-F238E27FC236}">
                <a16:creationId xmlns:a16="http://schemas.microsoft.com/office/drawing/2014/main" id="{11C85DC5-5369-497F-80E8-C5E3C030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5151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gps-bar-1">
            <a:extLst xmlns:a="http://schemas.openxmlformats.org/drawingml/2006/main">
              <a:ext uri="{FF2B5EF4-FFF2-40B4-BE49-F238E27FC236}">
                <a16:creationId xmlns:a16="http://schemas.microsoft.com/office/drawing/2014/main" id="{7D2A99F5-0B67-44AF-AB14-A6A638B3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515100"/>
            <a:ext cx="2038541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gps-value-1">
            <a:extLst xmlns:a="http://schemas.openxmlformats.org/drawingml/2006/main">
              <a:ext uri="{FF2B5EF4-FFF2-40B4-BE49-F238E27FC236}">
                <a16:creationId xmlns:a16="http://schemas.microsoft.com/office/drawing/2014/main" id="{DB8BCC39-7807-4139-ABE2-2DF8090A8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5246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87%</a:t>
            </a:r>
          </a:p>
        </p:txBody>
      </p:sp>
      <p:sp>
        <p:nvSpPr>
          <p:cNvPr id="41" name="gps-label-2">
            <a:extLst xmlns:a="http://schemas.openxmlformats.org/drawingml/2006/main">
              <a:ext uri="{FF2B5EF4-FFF2-40B4-BE49-F238E27FC236}">
                <a16:creationId xmlns:a16="http://schemas.microsoft.com/office/drawing/2014/main" id="{A10C33C1-6645-4B28-A8C1-55F32982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8580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EKTA</a:t>
            </a:r>
          </a:p>
        </p:txBody>
      </p:sp>
      <p:sp>
        <p:nvSpPr>
          <p:cNvPr id="42" name="gps-track-2">
            <a:extLst xmlns:a="http://schemas.openxmlformats.org/drawingml/2006/main">
              <a:ext uri="{FF2B5EF4-FFF2-40B4-BE49-F238E27FC236}">
                <a16:creationId xmlns:a16="http://schemas.microsoft.com/office/drawing/2014/main" id="{1868DCE7-5B04-41EB-84A1-62E495EA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8389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gps-bar-2">
            <a:extLst xmlns:a="http://schemas.openxmlformats.org/drawingml/2006/main">
              <a:ext uri="{FF2B5EF4-FFF2-40B4-BE49-F238E27FC236}">
                <a16:creationId xmlns:a16="http://schemas.microsoft.com/office/drawing/2014/main" id="{55F1DC7F-1D3C-42FF-97C4-CD0744B35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838950"/>
            <a:ext cx="1663637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gps-value-2">
            <a:extLst xmlns:a="http://schemas.openxmlformats.org/drawingml/2006/main">
              <a:ext uri="{FF2B5EF4-FFF2-40B4-BE49-F238E27FC236}">
                <a16:creationId xmlns:a16="http://schemas.microsoft.com/office/drawing/2014/main" id="{434B3AF5-9915-44CC-BA3C-BA16F369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84847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71%</a:t>
            </a:r>
          </a:p>
        </p:txBody>
      </p:sp>
      <p:sp>
        <p:nvSpPr>
          <p:cNvPr id="45" name="gps-label-3">
            <a:extLst xmlns:a="http://schemas.openxmlformats.org/drawingml/2006/main">
              <a:ext uri="{FF2B5EF4-FFF2-40B4-BE49-F238E27FC236}">
                <a16:creationId xmlns:a16="http://schemas.microsoft.com/office/drawing/2014/main" id="{76A66609-3EA1-4B4A-951F-23CF112F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7181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VAMOSYS</a:t>
            </a:r>
          </a:p>
        </p:txBody>
      </p:sp>
      <p:sp>
        <p:nvSpPr>
          <p:cNvPr id="46" name="gps-track-3">
            <a:extLst xmlns:a="http://schemas.openxmlformats.org/drawingml/2006/main">
              <a:ext uri="{FF2B5EF4-FFF2-40B4-BE49-F238E27FC236}">
                <a16:creationId xmlns:a16="http://schemas.microsoft.com/office/drawing/2014/main" id="{7632E1DD-D365-454A-B49F-43CD3CFD5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71628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gps-bar-3">
            <a:extLst xmlns:a="http://schemas.openxmlformats.org/drawingml/2006/main">
              <a:ext uri="{FF2B5EF4-FFF2-40B4-BE49-F238E27FC236}">
                <a16:creationId xmlns:a16="http://schemas.microsoft.com/office/drawing/2014/main" id="{F89AD234-A458-4189-8E7C-80220D5A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7162800"/>
            <a:ext cx="281178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gps-value-3">
            <a:extLst xmlns:a="http://schemas.openxmlformats.org/drawingml/2006/main">
              <a:ext uri="{FF2B5EF4-FFF2-40B4-BE49-F238E27FC236}">
                <a16:creationId xmlns:a16="http://schemas.microsoft.com/office/drawing/2014/main" id="{EA6BEB4B-913F-44D7-BB0B-4122CEAD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71723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12%</a:t>
            </a:r>
          </a:p>
        </p:txBody>
      </p:sp>
      <p:sp>
        <p:nvSpPr>
          <p:cNvPr id="49" name="vehicle-card">
            <a:extLst xmlns:a="http://schemas.openxmlformats.org/drawingml/2006/main">
              <a:ext uri="{FF2B5EF4-FFF2-40B4-BE49-F238E27FC236}">
                <a16:creationId xmlns:a16="http://schemas.microsoft.com/office/drawing/2014/main" id="{68D51A47-F0E4-430D-B67E-B4F5A9287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62900"/>
            <a:ext cx="43053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50" name="vehicle-title">
            <a:extLst xmlns:a="http://schemas.openxmlformats.org/drawingml/2006/main">
              <a:ext uri="{FF2B5EF4-FFF2-40B4-BE49-F238E27FC236}">
                <a16:creationId xmlns:a16="http://schemas.microsoft.com/office/drawing/2014/main" id="{EF5731C8-DA13-47F1-96A5-AAEF14B6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72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03  VEHICLE PRESSURE</a:t>
            </a:r>
          </a:p>
        </p:txBody>
      </p:sp>
      <p:sp>
        <p:nvSpPr>
          <p:cNvPr id="51" name="vehicle-value-a">
            <a:extLst xmlns:a="http://schemas.openxmlformats.org/drawingml/2006/main">
              <a:ext uri="{FF2B5EF4-FFF2-40B4-BE49-F238E27FC236}">
                <a16:creationId xmlns:a16="http://schemas.microsoft.com/office/drawing/2014/main" id="{1F407027-D046-4A17-A466-285ADF33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6296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D20A16"/>
                </a:solidFill>
              </a:defRPr>
            </a:pPr>
            <a:r>
              <a:rPr sz="2850" b="1">
                <a:solidFill>
                  <a:srgbClr val="D20A16"/>
                </a:solidFill>
              </a:rPr>
              <a:t>81.53%</a:t>
            </a:r>
          </a:p>
        </p:txBody>
      </p:sp>
      <p:sp>
        <p:nvSpPr>
          <p:cNvPr id="52" name="vehicle-label-a">
            <a:extLst xmlns:a="http://schemas.openxmlformats.org/drawingml/2006/main">
              <a:ext uri="{FF2B5EF4-FFF2-40B4-BE49-F238E27FC236}">
                <a16:creationId xmlns:a16="http://schemas.microsoft.com/office/drawing/2014/main" id="{4644D056-C182-45F4-98FF-2110FF0A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24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32 FT SINGLE-AXLE 7MT</a:t>
            </a:r>
          </a:p>
        </p:txBody>
      </p:sp>
      <p:sp>
        <p:nvSpPr>
          <p:cNvPr id="53" name="vehicle-value-b">
            <a:extLst xmlns:a="http://schemas.openxmlformats.org/drawingml/2006/main">
              <a:ext uri="{FF2B5EF4-FFF2-40B4-BE49-F238E27FC236}">
                <a16:creationId xmlns:a16="http://schemas.microsoft.com/office/drawing/2014/main" id="{6E6C9E91-5DC8-4D3B-BEAB-D63B5266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86296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7B2A"/>
                </a:solidFill>
              </a:defRPr>
            </a:pPr>
            <a:r>
              <a:rPr sz="2850" b="1">
                <a:solidFill>
                  <a:srgbClr val="F47B2A"/>
                </a:solidFill>
              </a:rPr>
              <a:t>80.81%</a:t>
            </a:r>
          </a:p>
        </p:txBody>
      </p:sp>
      <p:sp>
        <p:nvSpPr>
          <p:cNvPr id="54" name="vehicle-label-b">
            <a:extLst xmlns:a="http://schemas.openxmlformats.org/drawingml/2006/main">
              <a:ext uri="{FF2B5EF4-FFF2-40B4-BE49-F238E27FC236}">
                <a16:creationId xmlns:a16="http://schemas.microsoft.com/office/drawing/2014/main" id="{9BC51330-7EA0-4167-AE14-EA8F704D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9124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40 FT 3XL TRAILER 35MT</a:t>
            </a:r>
          </a:p>
        </p:txBody>
      </p:sp>
      <p:sp>
        <p:nvSpPr>
          <p:cNvPr id="55" name="vehicle-volume-strip">
            <a:extLst xmlns:a="http://schemas.openxmlformats.org/drawingml/2006/main">
              <a:ext uri="{FF2B5EF4-FFF2-40B4-BE49-F238E27FC236}">
                <a16:creationId xmlns:a16="http://schemas.microsoft.com/office/drawing/2014/main" id="{8DF650DF-1F71-4B6B-8217-16147BD9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63100"/>
            <a:ext cx="36957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EF4FC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56" name="vehicle-volume">
            <a:extLst xmlns:a="http://schemas.openxmlformats.org/drawingml/2006/main">
              <a:ext uri="{FF2B5EF4-FFF2-40B4-BE49-F238E27FC236}">
                <a16:creationId xmlns:a16="http://schemas.microsoft.com/office/drawing/2014/main" id="{B9C77E06-DFF9-4C98-AC57-C6904BB56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696450"/>
            <a:ext cx="3390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54A3"/>
                </a:solidFill>
              </a:defRPr>
            </a:pPr>
            <a:r>
              <a:rPr sz="975" b="1">
                <a:solidFill>
                  <a:srgbClr val="1554A3"/>
                </a:solidFill>
              </a:rPr>
              <a:t>2,559 trips on the highest-volume 40 FT 3XL trailer</a:t>
            </a:r>
          </a:p>
        </p:txBody>
      </p:sp>
      <p:sp>
        <p:nvSpPr>
          <p:cNvPr id="57" name="partner-card">
            <a:extLst xmlns:a="http://schemas.openxmlformats.org/drawingml/2006/main">
              <a:ext uri="{FF2B5EF4-FFF2-40B4-BE49-F238E27FC236}">
                <a16:creationId xmlns:a16="http://schemas.microsoft.com/office/drawing/2014/main" id="{34456855-5815-4F45-8B79-D6E38147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7962900"/>
            <a:ext cx="43053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58" name="partner-title">
            <a:extLst xmlns:a="http://schemas.openxmlformats.org/drawingml/2006/main">
              <a:ext uri="{FF2B5EF4-FFF2-40B4-BE49-F238E27FC236}">
                <a16:creationId xmlns:a16="http://schemas.microsoft.com/office/drawing/2014/main" id="{432FCD1B-8701-4397-8C1F-F177FC03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8172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04  PARTNER HOTSPOTS</a:t>
            </a:r>
          </a:p>
        </p:txBody>
      </p:sp>
      <p:sp>
        <p:nvSpPr>
          <p:cNvPr id="59" name="supplier-risk-label">
            <a:extLst xmlns:a="http://schemas.openxmlformats.org/drawingml/2006/main">
              <a:ext uri="{FF2B5EF4-FFF2-40B4-BE49-F238E27FC236}">
                <a16:creationId xmlns:a16="http://schemas.microsoft.com/office/drawing/2014/main" id="{80894BEF-2FCA-40F8-90C0-63DA5AF4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86677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SUPPLIER</a:t>
            </a:r>
          </a:p>
        </p:txBody>
      </p:sp>
      <p:sp>
        <p:nvSpPr>
          <p:cNvPr id="60" name="supplier-risk-value">
            <a:extLst xmlns:a="http://schemas.openxmlformats.org/drawingml/2006/main">
              <a:ext uri="{FF2B5EF4-FFF2-40B4-BE49-F238E27FC236}">
                <a16:creationId xmlns:a16="http://schemas.microsoft.com/office/drawing/2014/main" id="{7FB678F2-0230-4D9B-A4EF-B5924242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889635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D20A16"/>
                </a:solidFill>
              </a:defRPr>
            </a:pPr>
            <a:r>
              <a:rPr sz="2700" b="1">
                <a:solidFill>
                  <a:srgbClr val="D20A16"/>
                </a:solidFill>
              </a:rPr>
              <a:t>95.38%</a:t>
            </a:r>
          </a:p>
        </p:txBody>
      </p:sp>
      <p:sp>
        <p:nvSpPr>
          <p:cNvPr id="61" name="supplier-risk-name">
            <a:extLst xmlns:a="http://schemas.openxmlformats.org/drawingml/2006/main">
              <a:ext uri="{FF2B5EF4-FFF2-40B4-BE49-F238E27FC236}">
                <a16:creationId xmlns:a16="http://schemas.microsoft.com/office/drawing/2014/main" id="{3312E6E1-917E-4436-BF94-3993D041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9334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2D42"/>
                </a:solidFill>
              </a:defRPr>
            </a:pPr>
            <a:r>
              <a:rPr sz="1050" b="1">
                <a:solidFill>
                  <a:srgbClr val="1E2D42"/>
                </a:solidFill>
              </a:rPr>
              <a:t>K. Ramachandran</a:t>
            </a:r>
          </a:p>
        </p:txBody>
      </p:sp>
      <p:sp>
        <p:nvSpPr>
          <p:cNvPr id="62" name="customer-risk-label">
            <a:extLst xmlns:a="http://schemas.openxmlformats.org/drawingml/2006/main">
              <a:ext uri="{FF2B5EF4-FFF2-40B4-BE49-F238E27FC236}">
                <a16:creationId xmlns:a16="http://schemas.microsoft.com/office/drawing/2014/main" id="{07002191-9D5C-403E-B4B9-98EF9B8B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6677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CUSTOMER</a:t>
            </a:r>
          </a:p>
        </p:txBody>
      </p:sp>
      <p:sp>
        <p:nvSpPr>
          <p:cNvPr id="63" name="customer-risk-value">
            <a:extLst xmlns:a="http://schemas.openxmlformats.org/drawingml/2006/main">
              <a:ext uri="{FF2B5EF4-FFF2-40B4-BE49-F238E27FC236}">
                <a16:creationId xmlns:a16="http://schemas.microsoft.com/office/drawing/2014/main" id="{DDD50DDB-920C-4C7F-BC84-61070513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89635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47B2A"/>
                </a:solidFill>
              </a:defRPr>
            </a:pPr>
            <a:r>
              <a:rPr sz="2700" b="1">
                <a:solidFill>
                  <a:srgbClr val="F47B2A"/>
                </a:solidFill>
              </a:rPr>
              <a:t>73.35%</a:t>
            </a:r>
          </a:p>
        </p:txBody>
      </p:sp>
      <p:sp>
        <p:nvSpPr>
          <p:cNvPr id="64" name="customer-risk-name">
            <a:extLst xmlns:a="http://schemas.openxmlformats.org/drawingml/2006/main">
              <a:ext uri="{FF2B5EF4-FFF2-40B4-BE49-F238E27FC236}">
                <a16:creationId xmlns:a16="http://schemas.microsoft.com/office/drawing/2014/main" id="{250A7304-2967-4BA9-B018-17C025D2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9334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2D42"/>
                </a:solidFill>
              </a:defRPr>
            </a:pPr>
            <a:r>
              <a:rPr sz="1050" b="1">
                <a:solidFill>
                  <a:srgbClr val="1E2D42"/>
                </a:solidFill>
              </a:rPr>
              <a:t>Ford India</a:t>
            </a:r>
          </a:p>
        </p:txBody>
      </p:sp>
      <p:sp>
        <p:nvSpPr>
          <p:cNvPr id="65" name="partner-note">
            <a:extLst xmlns:a="http://schemas.openxmlformats.org/drawingml/2006/main">
              <a:ext uri="{FF2B5EF4-FFF2-40B4-BE49-F238E27FC236}">
                <a16:creationId xmlns:a16="http://schemas.microsoft.com/office/drawing/2014/main" id="{20C24813-622A-48E1-9210-E1583587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973455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Delay risk is concentrated, not evenly distributed across partners.</a:t>
            </a:r>
          </a:p>
        </p:txBody>
      </p:sp>
      <p:sp>
        <p:nvSpPr>
          <p:cNvPr id="66" name="slide-06-takeaway-band">
            <a:extLst xmlns:a="http://schemas.openxmlformats.org/drawingml/2006/main">
              <a:ext uri="{FF2B5EF4-FFF2-40B4-BE49-F238E27FC236}">
                <a16:creationId xmlns:a16="http://schemas.microsoft.com/office/drawing/2014/main" id="{AA9B6902-2A23-4153-ABA1-42BAEFA99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534650"/>
            <a:ext cx="89154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takeaway-label">
            <a:extLst xmlns:a="http://schemas.openxmlformats.org/drawingml/2006/main">
              <a:ext uri="{FF2B5EF4-FFF2-40B4-BE49-F238E27FC236}">
                <a16:creationId xmlns:a16="http://schemas.microsoft.com/office/drawing/2014/main" id="{192191EF-AF09-4680-8039-3503126B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6870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47B2A"/>
                </a:solidFill>
              </a:defRPr>
            </a:pPr>
            <a:r>
              <a:rPr sz="1125" b="1">
                <a:solidFill>
                  <a:srgbClr val="F47B2A"/>
                </a:solidFill>
              </a:rPr>
              <a:t>TAKEAWAY</a:t>
            </a:r>
          </a:p>
        </p:txBody>
      </p:sp>
      <p:sp>
        <p:nvSpPr>
          <p:cNvPr id="68" name="takeaway-copy">
            <a:extLst xmlns:a="http://schemas.openxmlformats.org/drawingml/2006/main">
              <a:ext uri="{FF2B5EF4-FFF2-40B4-BE49-F238E27FC236}">
                <a16:creationId xmlns:a16="http://schemas.microsoft.com/office/drawing/2014/main" id="{84AF7C56-B93C-4DD4-B0BC-A0083ACA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953750"/>
            <a:ext cx="819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 single blanket fix will not work—the response must target routes, tracking providers, vehicle types, and high-risk partners.</a:t>
            </a:r>
          </a:p>
        </p:txBody>
      </p:sp>
      <p:sp>
        <p:nvSpPr>
          <p:cNvPr id="69" name="slide-06-footer-left">
            <a:extLst xmlns:a="http://schemas.openxmlformats.org/drawingml/2006/main">
              <a:ext uri="{FF2B5EF4-FFF2-40B4-BE49-F238E27FC236}">
                <a16:creationId xmlns:a16="http://schemas.microsoft.com/office/drawing/2014/main" id="{45E5945F-9DEA-4318-84A5-D463FED4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70" name="slide-06-footer-right">
            <a:extLst xmlns:a="http://schemas.openxmlformats.org/drawingml/2006/main">
              <a:ext uri="{FF2B5EF4-FFF2-40B4-BE49-F238E27FC236}">
                <a16:creationId xmlns:a16="http://schemas.microsoft.com/office/drawing/2014/main" id="{8B15ECAF-8470-45C9-93B0-8AD86AB9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5284824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slide-07-top-accent">
            <a:extLst xmlns:a="http://schemas.openxmlformats.org/drawingml/2006/main">
              <a:ext uri="{FF2B5EF4-FFF2-40B4-BE49-F238E27FC236}">
                <a16:creationId xmlns:a16="http://schemas.microsoft.com/office/drawing/2014/main" id="{7ADF13A3-A8AB-41FF-B4AA-C1014B34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7-eyebrow">
            <a:extLst xmlns:a="http://schemas.openxmlformats.org/drawingml/2006/main">
              <a:ext uri="{FF2B5EF4-FFF2-40B4-BE49-F238E27FC236}">
                <a16:creationId xmlns:a16="http://schemas.microsoft.com/office/drawing/2014/main" id="{1F089D2E-CD4D-45E3-8CAF-EA567AE4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BUSINESS RECOMMENDATIONS</a:t>
            </a:r>
          </a:p>
        </p:txBody>
      </p:sp>
      <p:sp>
        <p:nvSpPr>
          <p:cNvPr id="3" name="slide-07-number">
            <a:extLst xmlns:a="http://schemas.openxmlformats.org/drawingml/2006/main">
              <a:ext uri="{FF2B5EF4-FFF2-40B4-BE49-F238E27FC236}">
                <a16:creationId xmlns:a16="http://schemas.microsoft.com/office/drawing/2014/main" id="{5A154AB7-99F2-48F4-A952-540CDD5E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07 / 08</a:t>
            </a:r>
          </a:p>
        </p:txBody>
      </p:sp>
      <p:sp>
        <p:nvSpPr>
          <p:cNvPr id="4" name="slide-07-title">
            <a:extLst xmlns:a="http://schemas.openxmlformats.org/drawingml/2006/main">
              <a:ext uri="{FF2B5EF4-FFF2-40B4-BE49-F238E27FC236}">
                <a16:creationId xmlns:a16="http://schemas.microsoft.com/office/drawing/2014/main" id="{30D9F716-3782-442E-8C5F-0C264AC5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TURN INSIGHTS INTO</a:t>
            </a:r>
          </a:p>
          <a:p xmlns:a="http://schemas.openxmlformats.org/drawingml/2006/main">
            <a:pPr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AN OPERATING PLAN</a:t>
            </a:r>
          </a:p>
        </p:txBody>
      </p:sp>
      <p:sp>
        <p:nvSpPr>
          <p:cNvPr id="5" name="slide-07-subtitle">
            <a:extLst xmlns:a="http://schemas.openxmlformats.org/drawingml/2006/main">
              <a:ext uri="{FF2B5EF4-FFF2-40B4-BE49-F238E27FC236}">
                <a16:creationId xmlns:a16="http://schemas.microsoft.com/office/drawing/2014/main" id="{93085A0D-8739-43E0-8793-462E9F6A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Each action targets a bottleneck exposed by the EDA, SQL analysis, and Power BI dashboard.</a:t>
            </a:r>
          </a:p>
        </p:txBody>
      </p:sp>
      <p:sp>
        <p:nvSpPr>
          <p:cNvPr id="6" name="actions-label">
            <a:extLst xmlns:a="http://schemas.openxmlformats.org/drawingml/2006/main">
              <a:ext uri="{FF2B5EF4-FFF2-40B4-BE49-F238E27FC236}">
                <a16:creationId xmlns:a16="http://schemas.microsoft.com/office/drawing/2014/main" id="{6717214C-3813-4C69-B3EA-73846604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554A3"/>
                </a:solidFill>
              </a:defRPr>
            </a:pPr>
            <a:r>
              <a:rPr sz="1200" b="1">
                <a:solidFill>
                  <a:srgbClr val="1554A3"/>
                </a:solidFill>
              </a:rPr>
              <a:t>PRIORITY ACTIONS</a:t>
            </a:r>
          </a:p>
        </p:txBody>
      </p:sp>
      <p:sp>
        <p:nvSpPr>
          <p:cNvPr id="7" name="recommendation-0">
            <a:extLst xmlns:a="http://schemas.openxmlformats.org/drawingml/2006/main">
              <a:ext uri="{FF2B5EF4-FFF2-40B4-BE49-F238E27FC236}">
                <a16:creationId xmlns:a16="http://schemas.microsoft.com/office/drawing/2014/main" id="{1579FD14-92A2-4C4A-B6E7-A33905BD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8" name="recommendation-0-accent">
            <a:extLst xmlns:a="http://schemas.openxmlformats.org/drawingml/2006/main">
              <a:ext uri="{FF2B5EF4-FFF2-40B4-BE49-F238E27FC236}">
                <a16:creationId xmlns:a16="http://schemas.microsoft.com/office/drawing/2014/main" id="{A0AFC321-51B4-4041-871A-26F13707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ecommendation-0-number-bg">
            <a:extLst xmlns:a="http://schemas.openxmlformats.org/drawingml/2006/main">
              <a:ext uri="{FF2B5EF4-FFF2-40B4-BE49-F238E27FC236}">
                <a16:creationId xmlns:a16="http://schemas.microsoft.com/office/drawing/2014/main" id="{69F82AAA-0B4B-4157-A0C0-A3CC517C9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95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commendation-0-number">
            <a:extLst xmlns:a="http://schemas.openxmlformats.org/drawingml/2006/main">
              <a:ext uri="{FF2B5EF4-FFF2-40B4-BE49-F238E27FC236}">
                <a16:creationId xmlns:a16="http://schemas.microsoft.com/office/drawing/2014/main" id="{6BB601B0-2EA4-4BC9-A949-FF927EF8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195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1" name="recommendation-0-title">
            <a:extLst xmlns:a="http://schemas.openxmlformats.org/drawingml/2006/main">
              <a:ext uri="{FF2B5EF4-FFF2-40B4-BE49-F238E27FC236}">
                <a16:creationId xmlns:a16="http://schemas.microsoft.com/office/drawing/2014/main" id="{3553ADB4-932F-48A7-9DD9-22DB84AF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767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CONTROL HIGH-RISK ROUTES</a:t>
            </a:r>
          </a:p>
        </p:txBody>
      </p:sp>
      <p:sp>
        <p:nvSpPr>
          <p:cNvPr id="12" name="recommendation-0-evidence">
            <a:extLst xmlns:a="http://schemas.openxmlformats.org/drawingml/2006/main">
              <a:ext uri="{FF2B5EF4-FFF2-40B4-BE49-F238E27FC236}">
                <a16:creationId xmlns:a16="http://schemas.microsoft.com/office/drawing/2014/main" id="{62A4EA7B-3973-4692-9EF6-4DD92736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4005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20A16"/>
                </a:solidFill>
              </a:defRPr>
            </a:pPr>
            <a:r>
              <a:rPr sz="1050" b="1">
                <a:solidFill>
                  <a:srgbClr val="D20A16"/>
                </a:solidFill>
              </a:rPr>
              <a:t>81.08% very long  ·  73.08% short</a:t>
            </a:r>
          </a:p>
        </p:txBody>
      </p:sp>
      <p:sp>
        <p:nvSpPr>
          <p:cNvPr id="13" name="recommendation-0-action">
            <a:extLst xmlns:a="http://schemas.openxmlformats.org/drawingml/2006/main">
              <a:ext uri="{FF2B5EF4-FFF2-40B4-BE49-F238E27FC236}">
                <a16:creationId xmlns:a16="http://schemas.microsoft.com/office/drawing/2014/main" id="{7BDF281F-902B-41D6-9A09-D8F3B911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72440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Create route-specific service rules, capacity plans, and exception alerts instead of one operating standard for every distance band.</a:t>
            </a:r>
          </a:p>
        </p:txBody>
      </p:sp>
      <p:sp>
        <p:nvSpPr>
          <p:cNvPr id="14" name="recommendation-1">
            <a:extLst xmlns:a="http://schemas.openxmlformats.org/drawingml/2006/main">
              <a:ext uri="{FF2B5EF4-FFF2-40B4-BE49-F238E27FC236}">
                <a16:creationId xmlns:a16="http://schemas.microsoft.com/office/drawing/2014/main" id="{E00178D3-0F09-41DA-8E5C-7AA1E62B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0225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15" name="recommendation-1-accent">
            <a:extLst xmlns:a="http://schemas.openxmlformats.org/drawingml/2006/main">
              <a:ext uri="{FF2B5EF4-FFF2-40B4-BE49-F238E27FC236}">
                <a16:creationId xmlns:a16="http://schemas.microsoft.com/office/drawing/2014/main" id="{B6C1E417-2948-45DF-913E-35429E67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0225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ecommendation-1-number-bg">
            <a:extLst xmlns:a="http://schemas.openxmlformats.org/drawingml/2006/main">
              <a:ext uri="{FF2B5EF4-FFF2-40B4-BE49-F238E27FC236}">
                <a16:creationId xmlns:a16="http://schemas.microsoft.com/office/drawing/2014/main" id="{0E1A5C82-D0E6-4B98-94AC-8F89624A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19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recommendation-1-number">
            <a:extLst xmlns:a="http://schemas.openxmlformats.org/drawingml/2006/main">
              <a:ext uri="{FF2B5EF4-FFF2-40B4-BE49-F238E27FC236}">
                <a16:creationId xmlns:a16="http://schemas.microsoft.com/office/drawing/2014/main" id="{5B959767-0657-4F9F-BBFA-52CF34FB2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9436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8" name="recommendation-1-title">
            <a:extLst xmlns:a="http://schemas.openxmlformats.org/drawingml/2006/main">
              <a:ext uri="{FF2B5EF4-FFF2-40B4-BE49-F238E27FC236}">
                <a16:creationId xmlns:a16="http://schemas.microsoft.com/office/drawing/2014/main" id="{90283F1B-8203-4707-B61E-D9E40B72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8007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STANDARDIZE GPS DATA</a:t>
            </a:r>
          </a:p>
        </p:txBody>
      </p:sp>
      <p:sp>
        <p:nvSpPr>
          <p:cNvPr id="19" name="recommendation-1-evidence">
            <a:extLst xmlns:a="http://schemas.openxmlformats.org/drawingml/2006/main">
              <a:ext uri="{FF2B5EF4-FFF2-40B4-BE49-F238E27FC236}">
                <a16:creationId xmlns:a16="http://schemas.microsoft.com/office/drawing/2014/main" id="{5A251CF6-83B9-4B0F-811B-F19BDF6A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124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47B2A"/>
                </a:solidFill>
              </a:defRPr>
            </a:pPr>
            <a:r>
              <a:rPr sz="1050" b="1">
                <a:solidFill>
                  <a:srgbClr val="F47B2A"/>
                </a:solidFill>
              </a:rPr>
              <a:t>MANUAL 99%  ·  CONSENT TRACK 87%</a:t>
            </a:r>
          </a:p>
        </p:txBody>
      </p:sp>
      <p:sp>
        <p:nvSpPr>
          <p:cNvPr id="20" name="recommendation-1-action">
            <a:extLst xmlns:a="http://schemas.openxmlformats.org/drawingml/2006/main">
              <a:ext uri="{FF2B5EF4-FFF2-40B4-BE49-F238E27FC236}">
                <a16:creationId xmlns:a16="http://schemas.microsoft.com/office/drawing/2014/main" id="{5E74EEA9-B7A5-4A8E-95DA-7BEBC483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44842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Reduce manual tracking, standardize provider names, and monitor GPS completeness and provider-level delay performance.</a:t>
            </a:r>
          </a:p>
        </p:txBody>
      </p:sp>
      <p:sp>
        <p:nvSpPr>
          <p:cNvPr id="21" name="recommendation-2">
            <a:extLst xmlns:a="http://schemas.openxmlformats.org/drawingml/2006/main">
              <a:ext uri="{FF2B5EF4-FFF2-40B4-BE49-F238E27FC236}">
                <a16:creationId xmlns:a16="http://schemas.microsoft.com/office/drawing/2014/main" id="{A26088A1-DDE2-446A-9790-9A0CD6160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34250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2" name="recommendation-2-accent">
            <a:extLst xmlns:a="http://schemas.openxmlformats.org/drawingml/2006/main">
              <a:ext uri="{FF2B5EF4-FFF2-40B4-BE49-F238E27FC236}">
                <a16:creationId xmlns:a16="http://schemas.microsoft.com/office/drawing/2014/main" id="{BE9C4D29-7801-4A8C-8E46-31D2F1BF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34250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recommendation-2-number-bg">
            <a:extLst xmlns:a="http://schemas.openxmlformats.org/drawingml/2006/main">
              <a:ext uri="{FF2B5EF4-FFF2-40B4-BE49-F238E27FC236}">
                <a16:creationId xmlns:a16="http://schemas.microsoft.com/office/drawing/2014/main" id="{603E789F-AACE-41A8-AE8C-6F305AC20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754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recommendation-2-number">
            <a:extLst xmlns:a="http://schemas.openxmlformats.org/drawingml/2006/main">
              <a:ext uri="{FF2B5EF4-FFF2-40B4-BE49-F238E27FC236}">
                <a16:creationId xmlns:a16="http://schemas.microsoft.com/office/drawing/2014/main" id="{117FAC3D-4982-4E4F-8AE1-6025F1DA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76676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5" name="recommendation-2-title">
            <a:extLst xmlns:a="http://schemas.openxmlformats.org/drawingml/2006/main">
              <a:ext uri="{FF2B5EF4-FFF2-40B4-BE49-F238E27FC236}">
                <a16:creationId xmlns:a16="http://schemas.microsoft.com/office/drawing/2014/main" id="{6AB89159-FE04-438F-B678-06E1C601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INTERVENE BY VEHICLE TYPE</a:t>
            </a:r>
          </a:p>
        </p:txBody>
      </p:sp>
      <p:sp>
        <p:nvSpPr>
          <p:cNvPr id="26" name="recommendation-2-evidence">
            <a:extLst xmlns:a="http://schemas.openxmlformats.org/drawingml/2006/main">
              <a:ext uri="{FF2B5EF4-FFF2-40B4-BE49-F238E27FC236}">
                <a16:creationId xmlns:a16="http://schemas.microsoft.com/office/drawing/2014/main" id="{DA2B69C8-C565-4535-B7AA-62234E17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8486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54A3"/>
                </a:solidFill>
              </a:defRPr>
            </a:pPr>
            <a:r>
              <a:rPr sz="1050" b="1">
                <a:solidFill>
                  <a:srgbClr val="1554A3"/>
                </a:solidFill>
              </a:rPr>
              <a:t>81.53% single-axle  ·  80.81% 3XL trailer</a:t>
            </a:r>
          </a:p>
        </p:txBody>
      </p:sp>
      <p:sp>
        <p:nvSpPr>
          <p:cNvPr id="27" name="recommendation-2-action">
            <a:extLst xmlns:a="http://schemas.openxmlformats.org/drawingml/2006/main">
              <a:ext uri="{FF2B5EF4-FFF2-40B4-BE49-F238E27FC236}">
                <a16:creationId xmlns:a16="http://schemas.microsoft.com/office/drawing/2014/main" id="{43BCCEEF-8AD0-4F39-8CDA-693EDE98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817245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Audit dispatch, maintenance, load planning, and route assignment for the vehicle types carrying the highest delay exposure.</a:t>
            </a:r>
          </a:p>
        </p:txBody>
      </p:sp>
      <p:sp>
        <p:nvSpPr>
          <p:cNvPr id="28" name="recommendation-3">
            <a:extLst xmlns:a="http://schemas.openxmlformats.org/drawingml/2006/main">
              <a:ext uri="{FF2B5EF4-FFF2-40B4-BE49-F238E27FC236}">
                <a16:creationId xmlns:a16="http://schemas.microsoft.com/office/drawing/2014/main" id="{010500BD-337F-4A9D-AA42-FF305F61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58275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9" name="recommendation-3-accent">
            <a:extLst xmlns:a="http://schemas.openxmlformats.org/drawingml/2006/main">
              <a:ext uri="{FF2B5EF4-FFF2-40B4-BE49-F238E27FC236}">
                <a16:creationId xmlns:a16="http://schemas.microsoft.com/office/drawing/2014/main" id="{13420A4D-8193-4325-BB46-2F86047D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58275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recommendation-3-number-bg">
            <a:extLst xmlns:a="http://schemas.openxmlformats.org/drawingml/2006/main">
              <a:ext uri="{FF2B5EF4-FFF2-40B4-BE49-F238E27FC236}">
                <a16:creationId xmlns:a16="http://schemas.microsoft.com/office/drawing/2014/main" id="{4336BDCD-0F06-43E8-80B6-148C988A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926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recommendation-3-number">
            <a:extLst xmlns:a="http://schemas.openxmlformats.org/drawingml/2006/main">
              <a:ext uri="{FF2B5EF4-FFF2-40B4-BE49-F238E27FC236}">
                <a16:creationId xmlns:a16="http://schemas.microsoft.com/office/drawing/2014/main" id="{CE1F8879-F740-4285-9023-F5412370A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93916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2" name="recommendation-3-title">
            <a:extLst xmlns:a="http://schemas.openxmlformats.org/drawingml/2006/main">
              <a:ext uri="{FF2B5EF4-FFF2-40B4-BE49-F238E27FC236}">
                <a16:creationId xmlns:a16="http://schemas.microsoft.com/office/drawing/2014/main" id="{4577C170-D0DB-41C6-B703-9740E82E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92487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ENFORCE PARTNER ACCOUNTABILITY</a:t>
            </a:r>
          </a:p>
        </p:txBody>
      </p:sp>
      <p:sp>
        <p:nvSpPr>
          <p:cNvPr id="33" name="recommendation-3-evidence">
            <a:extLst xmlns:a="http://schemas.openxmlformats.org/drawingml/2006/main">
              <a:ext uri="{FF2B5EF4-FFF2-40B4-BE49-F238E27FC236}">
                <a16:creationId xmlns:a16="http://schemas.microsoft.com/office/drawing/2014/main" id="{D3F3FBAF-20B0-4DF7-B719-CB3CB7DF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957262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F6B2A"/>
                </a:solidFill>
              </a:defRPr>
            </a:pPr>
            <a:r>
              <a:rPr sz="1050" b="1">
                <a:solidFill>
                  <a:srgbClr val="3F6B2A"/>
                </a:solidFill>
              </a:rPr>
              <a:t>95.38% supplier  ·  73.35% customer</a:t>
            </a:r>
          </a:p>
        </p:txBody>
      </p:sp>
      <p:sp>
        <p:nvSpPr>
          <p:cNvPr id="34" name="recommendation-3-action">
            <a:extLst xmlns:a="http://schemas.openxmlformats.org/drawingml/2006/main">
              <a:ext uri="{FF2B5EF4-FFF2-40B4-BE49-F238E27FC236}">
                <a16:creationId xmlns:a16="http://schemas.microsoft.com/office/drawing/2014/main" id="{F8D94C6E-B399-4643-ACE8-77F261CD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98964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Run root-cause reviews with high-risk partners, define service-level ownership, and resolve the 737 unknown-supplier records.</a:t>
            </a:r>
          </a:p>
        </p:txBody>
      </p:sp>
      <p:sp>
        <p:nvSpPr>
          <p:cNvPr id="35" name="control-loop-panel">
            <a:extLst xmlns:a="http://schemas.openxmlformats.org/drawingml/2006/main">
              <a:ext uri="{FF2B5EF4-FFF2-40B4-BE49-F238E27FC236}">
                <a16:creationId xmlns:a16="http://schemas.microsoft.com/office/drawing/2014/main" id="{7F55B690-116A-4913-8250-2AE4A3AB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486150"/>
            <a:ext cx="2914650" cy="487680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ntrol-loop-label">
            <a:extLst xmlns:a="http://schemas.openxmlformats.org/drawingml/2006/main">
              <a:ext uri="{FF2B5EF4-FFF2-40B4-BE49-F238E27FC236}">
                <a16:creationId xmlns:a16="http://schemas.microsoft.com/office/drawing/2014/main" id="{36333965-FFC8-4155-BE26-DE13850D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338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7B2A"/>
                </a:solidFill>
              </a:defRPr>
            </a:pPr>
            <a:r>
              <a:rPr sz="1125" b="1">
                <a:solidFill>
                  <a:srgbClr val="F47B2A"/>
                </a:solidFill>
              </a:rPr>
              <a:t>MANAGEMENT CONTROL LOOP</a:t>
            </a:r>
          </a:p>
        </p:txBody>
      </p:sp>
      <p:sp>
        <p:nvSpPr>
          <p:cNvPr id="37" name="loop-0-circle">
            <a:extLst xmlns:a="http://schemas.openxmlformats.org/drawingml/2006/main">
              <a:ext uri="{FF2B5EF4-FFF2-40B4-BE49-F238E27FC236}">
                <a16:creationId xmlns:a16="http://schemas.microsoft.com/office/drawing/2014/main" id="{5E7D9864-EE27-4C34-BAA5-20BAAC03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100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8" name="loop-0-number">
            <a:extLst xmlns:a="http://schemas.openxmlformats.org/drawingml/2006/main">
              <a:ext uri="{FF2B5EF4-FFF2-40B4-BE49-F238E27FC236}">
                <a16:creationId xmlns:a16="http://schemas.microsoft.com/office/drawing/2014/main" id="{25EF2C17-0042-4FA7-A42C-9C12B6B8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719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39" name="loop-0-title">
            <a:extLst xmlns:a="http://schemas.openxmlformats.org/drawingml/2006/main">
              <a:ext uri="{FF2B5EF4-FFF2-40B4-BE49-F238E27FC236}">
                <a16:creationId xmlns:a16="http://schemas.microsoft.com/office/drawing/2014/main" id="{BA434A61-1FF7-4708-B674-33E8EE57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2291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MONITOR</a:t>
            </a:r>
          </a:p>
        </p:txBody>
      </p:sp>
      <p:sp>
        <p:nvSpPr>
          <p:cNvPr id="40" name="loop-0-body">
            <a:extLst xmlns:a="http://schemas.openxmlformats.org/drawingml/2006/main">
              <a:ext uri="{FF2B5EF4-FFF2-40B4-BE49-F238E27FC236}">
                <a16:creationId xmlns:a16="http://schemas.microsoft.com/office/drawing/2014/main" id="{49721D7E-F700-4B6B-9C91-D9A0B978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514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Power BI flags changes</a:t>
            </a:r>
          </a:p>
        </p:txBody>
      </p:sp>
      <p:sp>
        <p:nvSpPr>
          <p:cNvPr id="41" name="loop-0-line">
            <a:extLst xmlns:a="http://schemas.openxmlformats.org/drawingml/2006/main">
              <a:ext uri="{FF2B5EF4-FFF2-40B4-BE49-F238E27FC236}">
                <a16:creationId xmlns:a16="http://schemas.microsoft.com/office/drawing/2014/main" id="{1C977006-36BE-4BD3-974F-FF7CD5BD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762500"/>
            <a:ext cx="285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loop-1-circle">
            <a:extLst xmlns:a="http://schemas.openxmlformats.org/drawingml/2006/main">
              <a:ext uri="{FF2B5EF4-FFF2-40B4-BE49-F238E27FC236}">
                <a16:creationId xmlns:a16="http://schemas.microsoft.com/office/drawing/2014/main" id="{FA3251BD-CA02-4B38-8A9D-33433496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1625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3" name="loop-1-number">
            <a:extLst xmlns:a="http://schemas.openxmlformats.org/drawingml/2006/main">
              <a:ext uri="{FF2B5EF4-FFF2-40B4-BE49-F238E27FC236}">
                <a16:creationId xmlns:a16="http://schemas.microsoft.com/office/drawing/2014/main" id="{708CA03D-7592-4F20-9AA5-AE287FC1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3244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4" name="loop-1-title">
            <a:extLst xmlns:a="http://schemas.openxmlformats.org/drawingml/2006/main">
              <a:ext uri="{FF2B5EF4-FFF2-40B4-BE49-F238E27FC236}">
                <a16:creationId xmlns:a16="http://schemas.microsoft.com/office/drawing/2014/main" id="{B9FAF07E-6774-483B-8D20-D288BD42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181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INVESTIGATE</a:t>
            </a:r>
          </a:p>
        </p:txBody>
      </p:sp>
      <p:sp>
        <p:nvSpPr>
          <p:cNvPr id="45" name="loop-1-body">
            <a:extLst xmlns:a="http://schemas.openxmlformats.org/drawingml/2006/main">
              <a:ext uri="{FF2B5EF4-FFF2-40B4-BE49-F238E27FC236}">
                <a16:creationId xmlns:a16="http://schemas.microsoft.com/office/drawing/2014/main" id="{BC957F97-9F1A-4616-9DD9-121F0975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467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SQL traces the driver</a:t>
            </a:r>
          </a:p>
        </p:txBody>
      </p:sp>
      <p:sp>
        <p:nvSpPr>
          <p:cNvPr id="46" name="loop-1-line">
            <a:extLst xmlns:a="http://schemas.openxmlformats.org/drawingml/2006/main">
              <a:ext uri="{FF2B5EF4-FFF2-40B4-BE49-F238E27FC236}">
                <a16:creationId xmlns:a16="http://schemas.microsoft.com/office/drawing/2014/main" id="{92A70714-1702-43EB-A6C3-EA03594BD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715000"/>
            <a:ext cx="285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loop-2-circle">
            <a:extLst xmlns:a="http://schemas.openxmlformats.org/drawingml/2006/main">
              <a:ext uri="{FF2B5EF4-FFF2-40B4-BE49-F238E27FC236}">
                <a16:creationId xmlns:a16="http://schemas.microsoft.com/office/drawing/2014/main" id="{EC092337-1A86-4557-9816-1C8D7062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61150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8" name="loop-2-number">
            <a:extLst xmlns:a="http://schemas.openxmlformats.org/drawingml/2006/main">
              <a:ext uri="{FF2B5EF4-FFF2-40B4-BE49-F238E27FC236}">
                <a16:creationId xmlns:a16="http://schemas.microsoft.com/office/drawing/2014/main" id="{90D43172-F35D-424C-B04B-94F31CAE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62769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49" name="loop-2-title">
            <a:extLst xmlns:a="http://schemas.openxmlformats.org/drawingml/2006/main">
              <a:ext uri="{FF2B5EF4-FFF2-40B4-BE49-F238E27FC236}">
                <a16:creationId xmlns:a16="http://schemas.microsoft.com/office/drawing/2014/main" id="{C541E75E-F0C7-4A6A-AA7B-3652078F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1341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ACT</a:t>
            </a:r>
          </a:p>
        </p:txBody>
      </p:sp>
      <p:sp>
        <p:nvSpPr>
          <p:cNvPr id="50" name="loop-2-body">
            <a:extLst xmlns:a="http://schemas.openxmlformats.org/drawingml/2006/main">
              <a:ext uri="{FF2B5EF4-FFF2-40B4-BE49-F238E27FC236}">
                <a16:creationId xmlns:a16="http://schemas.microsoft.com/office/drawing/2014/main" id="{74094739-80FC-46AA-855E-3542A403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419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Operations owns response</a:t>
            </a:r>
          </a:p>
        </p:txBody>
      </p:sp>
      <p:sp>
        <p:nvSpPr>
          <p:cNvPr id="51" name="loop-2-line">
            <a:extLst xmlns:a="http://schemas.openxmlformats.org/drawingml/2006/main">
              <a:ext uri="{FF2B5EF4-FFF2-40B4-BE49-F238E27FC236}">
                <a16:creationId xmlns:a16="http://schemas.microsoft.com/office/drawing/2014/main" id="{A91B2309-5EBC-473A-9263-C819E5CA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667500"/>
            <a:ext cx="285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loop-3-circle">
            <a:extLst xmlns:a="http://schemas.openxmlformats.org/drawingml/2006/main">
              <a:ext uri="{FF2B5EF4-FFF2-40B4-BE49-F238E27FC236}">
                <a16:creationId xmlns:a16="http://schemas.microsoft.com/office/drawing/2014/main" id="{E7E95B5E-615E-4CD1-A91B-3AA0A37F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70675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3" name="loop-3-number">
            <a:extLst xmlns:a="http://schemas.openxmlformats.org/drawingml/2006/main">
              <a:ext uri="{FF2B5EF4-FFF2-40B4-BE49-F238E27FC236}">
                <a16:creationId xmlns:a16="http://schemas.microsoft.com/office/drawing/2014/main" id="{B8BD7ECB-0A2E-4949-AC13-2A998237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72294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54" name="loop-3-title">
            <a:extLst xmlns:a="http://schemas.openxmlformats.org/drawingml/2006/main">
              <a:ext uri="{FF2B5EF4-FFF2-40B4-BE49-F238E27FC236}">
                <a16:creationId xmlns:a16="http://schemas.microsoft.com/office/drawing/2014/main" id="{16627254-6260-4A5B-8E4D-F678B1FBE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7086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55" name="loop-3-body">
            <a:extLst xmlns:a="http://schemas.openxmlformats.org/drawingml/2006/main">
              <a:ext uri="{FF2B5EF4-FFF2-40B4-BE49-F238E27FC236}">
                <a16:creationId xmlns:a16="http://schemas.microsoft.com/office/drawing/2014/main" id="{64D8BA7C-1603-4913-9370-E7338770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7372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KPIs confirm movement</a:t>
            </a:r>
          </a:p>
        </p:txBody>
      </p:sp>
      <p:sp>
        <p:nvSpPr>
          <p:cNvPr id="56" name="success-panel">
            <a:extLst xmlns:a="http://schemas.openxmlformats.org/drawingml/2006/main">
              <a:ext uri="{FF2B5EF4-FFF2-40B4-BE49-F238E27FC236}">
                <a16:creationId xmlns:a16="http://schemas.microsoft.com/office/drawing/2014/main" id="{68125757-1513-4E81-A21B-F8A3550D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8610600"/>
            <a:ext cx="29146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57" name="success-title">
            <a:extLst xmlns:a="http://schemas.openxmlformats.org/drawingml/2006/main">
              <a:ext uri="{FF2B5EF4-FFF2-40B4-BE49-F238E27FC236}">
                <a16:creationId xmlns:a16="http://schemas.microsoft.com/office/drawing/2014/main" id="{02CBDD59-24A4-4850-B4B6-2E8AD8CB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883920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WHAT SUCCESS LOOKS LIKE</a:t>
            </a:r>
          </a:p>
        </p:txBody>
      </p:sp>
      <p:sp>
        <p:nvSpPr>
          <p:cNvPr id="58" name="success-0-check">
            <a:extLst xmlns:a="http://schemas.openxmlformats.org/drawingml/2006/main">
              <a:ext uri="{FF2B5EF4-FFF2-40B4-BE49-F238E27FC236}">
                <a16:creationId xmlns:a16="http://schemas.microsoft.com/office/drawing/2014/main" id="{79CDE568-CEEF-4935-85DC-1C8765D2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2868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success-0-mark">
            <a:extLst xmlns:a="http://schemas.openxmlformats.org/drawingml/2006/main">
              <a:ext uri="{FF2B5EF4-FFF2-40B4-BE49-F238E27FC236}">
                <a16:creationId xmlns:a16="http://schemas.microsoft.com/office/drawing/2014/main" id="{5CDD8D0A-8E02-445A-8B05-E119ADFA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29640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0" name="success-0-text">
            <a:extLst xmlns:a="http://schemas.openxmlformats.org/drawingml/2006/main">
              <a:ext uri="{FF2B5EF4-FFF2-40B4-BE49-F238E27FC236}">
                <a16:creationId xmlns:a16="http://schemas.microsoft.com/office/drawing/2014/main" id="{5917C1E8-202F-492A-AC19-37206C42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92773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Lower delay rate</a:t>
            </a:r>
          </a:p>
        </p:txBody>
      </p:sp>
      <p:sp>
        <p:nvSpPr>
          <p:cNvPr id="61" name="success-1-check">
            <a:extLst xmlns:a="http://schemas.openxmlformats.org/drawingml/2006/main">
              <a:ext uri="{FF2B5EF4-FFF2-40B4-BE49-F238E27FC236}">
                <a16:creationId xmlns:a16="http://schemas.microsoft.com/office/drawing/2014/main" id="{00428C8A-DCE0-4682-902F-28857129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6488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success-1-mark">
            <a:extLst xmlns:a="http://schemas.openxmlformats.org/drawingml/2006/main">
              <a:ext uri="{FF2B5EF4-FFF2-40B4-BE49-F238E27FC236}">
                <a16:creationId xmlns:a16="http://schemas.microsoft.com/office/drawing/2014/main" id="{6F8D0A4A-F946-4380-9C94-F4D7103C5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65835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3" name="success-1-text">
            <a:extLst xmlns:a="http://schemas.openxmlformats.org/drawingml/2006/main">
              <a:ext uri="{FF2B5EF4-FFF2-40B4-BE49-F238E27FC236}">
                <a16:creationId xmlns:a16="http://schemas.microsoft.com/office/drawing/2014/main" id="{BC9668CA-1679-4576-8B0B-7623D92B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96393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Higher on-time rate</a:t>
            </a:r>
          </a:p>
        </p:txBody>
      </p:sp>
      <p:sp>
        <p:nvSpPr>
          <p:cNvPr id="64" name="success-2-check">
            <a:extLst xmlns:a="http://schemas.openxmlformats.org/drawingml/2006/main">
              <a:ext uri="{FF2B5EF4-FFF2-40B4-BE49-F238E27FC236}">
                <a16:creationId xmlns:a16="http://schemas.microsoft.com/office/drawing/2014/main" id="{F92BDC09-112F-4A40-A12F-422CED41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0107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success-2-mark">
            <a:extLst xmlns:a="http://schemas.openxmlformats.org/drawingml/2006/main">
              <a:ext uri="{FF2B5EF4-FFF2-40B4-BE49-F238E27FC236}">
                <a16:creationId xmlns:a16="http://schemas.microsoft.com/office/drawing/2014/main" id="{B1651372-4E81-4160-A36F-094A961F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02030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6" name="success-2-text">
            <a:extLst xmlns:a="http://schemas.openxmlformats.org/drawingml/2006/main">
              <a:ext uri="{FF2B5EF4-FFF2-40B4-BE49-F238E27FC236}">
                <a16:creationId xmlns:a16="http://schemas.microsoft.com/office/drawing/2014/main" id="{5BB8174A-B9C7-42A5-BB0B-D5E2E8D8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00012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Cleaner GPS and supplier data</a:t>
            </a:r>
          </a:p>
        </p:txBody>
      </p:sp>
      <p:sp>
        <p:nvSpPr>
          <p:cNvPr id="67" name="success-3-check">
            <a:extLst xmlns:a="http://schemas.openxmlformats.org/drawingml/2006/main">
              <a:ext uri="{FF2B5EF4-FFF2-40B4-BE49-F238E27FC236}">
                <a16:creationId xmlns:a16="http://schemas.microsoft.com/office/drawing/2014/main" id="{A40F5057-FD29-4EB8-9299-B0333ECB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3727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success-3-mark">
            <a:extLst xmlns:a="http://schemas.openxmlformats.org/drawingml/2006/main">
              <a:ext uri="{FF2B5EF4-FFF2-40B4-BE49-F238E27FC236}">
                <a16:creationId xmlns:a16="http://schemas.microsoft.com/office/drawing/2014/main" id="{24B87EC7-52D7-41C0-8522-1CE8926AF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38225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9" name="success-3-text">
            <a:extLst xmlns:a="http://schemas.openxmlformats.org/drawingml/2006/main">
              <a:ext uri="{FF2B5EF4-FFF2-40B4-BE49-F238E27FC236}">
                <a16:creationId xmlns:a16="http://schemas.microsoft.com/office/drawing/2014/main" id="{0E5CB5CD-317C-4757-9B44-6F356980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03632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Fewer failed or stuck shipments</a:t>
            </a:r>
          </a:p>
        </p:txBody>
      </p:sp>
      <p:sp>
        <p:nvSpPr>
          <p:cNvPr id="70" name="slide-07-principle-band">
            <a:extLst xmlns:a="http://schemas.openxmlformats.org/drawingml/2006/main">
              <a:ext uri="{FF2B5EF4-FFF2-40B4-BE49-F238E27FC236}">
                <a16:creationId xmlns:a16="http://schemas.microsoft.com/office/drawing/2014/main" id="{491F6505-1174-4B30-8877-099E01B7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10900"/>
            <a:ext cx="89154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2F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71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3BED6271-4CBA-496A-96AC-99820E9B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1823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54A3"/>
                </a:solidFill>
              </a:defRPr>
            </a:pPr>
            <a:r>
              <a:rPr sz="1050" b="1">
                <a:solidFill>
                  <a:srgbClr val="1554A3"/>
                </a:solidFill>
              </a:rPr>
              <a:t>OPERATING PRINCIPLE</a:t>
            </a:r>
          </a:p>
        </p:txBody>
      </p:sp>
      <p:sp>
        <p:nvSpPr>
          <p:cNvPr id="72" name="principle-copy">
            <a:extLst xmlns:a="http://schemas.openxmlformats.org/drawingml/2006/main">
              <a:ext uri="{FF2B5EF4-FFF2-40B4-BE49-F238E27FC236}">
                <a16:creationId xmlns:a16="http://schemas.microsoft.com/office/drawing/2014/main" id="{C2741F9D-2413-4B28-ACF3-EC8E66CD0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1163300"/>
            <a:ext cx="638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2653"/>
                </a:solidFill>
              </a:defRPr>
            </a:pPr>
            <a:r>
              <a:rPr sz="1275" b="1">
                <a:solidFill>
                  <a:srgbClr val="082653"/>
                </a:solidFill>
              </a:rPr>
              <a:t>Use the dashboard as a recurring management system, not a one-time report.</a:t>
            </a:r>
          </a:p>
        </p:txBody>
      </p:sp>
      <p:sp>
        <p:nvSpPr>
          <p:cNvPr id="73" name="slide-07-footer-left">
            <a:extLst xmlns:a="http://schemas.openxmlformats.org/drawingml/2006/main">
              <a:ext uri="{FF2B5EF4-FFF2-40B4-BE49-F238E27FC236}">
                <a16:creationId xmlns:a16="http://schemas.microsoft.com/office/drawing/2014/main" id="{63B4F83A-DB26-462E-B8D9-61C9068C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74" name="slide-07-footer-right">
            <a:extLst xmlns:a="http://schemas.openxmlformats.org/drawingml/2006/main">
              <a:ext uri="{FF2B5EF4-FFF2-40B4-BE49-F238E27FC236}">
                <a16:creationId xmlns:a16="http://schemas.microsoft.com/office/drawing/2014/main" id="{46735316-8137-4BA4-B51F-D0B510E6F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3789639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slide-08-top-accent">
            <a:extLst xmlns:a="http://schemas.openxmlformats.org/drawingml/2006/main">
              <a:ext uri="{FF2B5EF4-FFF2-40B4-BE49-F238E27FC236}">
                <a16:creationId xmlns:a16="http://schemas.microsoft.com/office/drawing/2014/main" id="{AE04E0A5-23C3-4C03-976E-FEE6599A7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8-eyebrow">
            <a:extLst xmlns:a="http://schemas.openxmlformats.org/drawingml/2006/main">
              <a:ext uri="{FF2B5EF4-FFF2-40B4-BE49-F238E27FC236}">
                <a16:creationId xmlns:a16="http://schemas.microsoft.com/office/drawing/2014/main" id="{510DD124-5B43-4DAC-BAA7-5D973539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PROJECT REPOSITORY</a:t>
            </a:r>
          </a:p>
        </p:txBody>
      </p:sp>
      <p:sp>
        <p:nvSpPr>
          <p:cNvPr id="3" name="slide-08-number">
            <a:extLst xmlns:a="http://schemas.openxmlformats.org/drawingml/2006/main">
              <a:ext uri="{FF2B5EF4-FFF2-40B4-BE49-F238E27FC236}">
                <a16:creationId xmlns:a16="http://schemas.microsoft.com/office/drawing/2014/main" id="{55939F8F-95BB-45DB-8BAA-686F00B9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08 / 08</a:t>
            </a:r>
          </a:p>
        </p:txBody>
      </p:sp>
      <p:sp>
        <p:nvSpPr>
          <p:cNvPr id="4" name="slide-08-title">
            <a:extLst xmlns:a="http://schemas.openxmlformats.org/drawingml/2006/main">
              <a:ext uri="{FF2B5EF4-FFF2-40B4-BE49-F238E27FC236}">
                <a16:creationId xmlns:a16="http://schemas.microsoft.com/office/drawing/2014/main" id="{554B6A39-5580-46EF-A455-D67A24A3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082653"/>
                </a:solidFill>
              </a:defRPr>
            </a:pPr>
            <a:r>
              <a:rPr sz="3525" b="1">
                <a:solidFill>
                  <a:srgbClr val="082653"/>
                </a:solidFill>
              </a:rPr>
              <a:t>EXPLORE THE FULL</a:t>
            </a:r>
          </a:p>
          <a:p xmlns:a="http://schemas.openxmlformats.org/drawingml/2006/main">
            <a:pPr>
              <a:defRPr sz="3525" b="1">
                <a:solidFill>
                  <a:srgbClr val="082653"/>
                </a:solidFill>
              </a:defRPr>
            </a:pPr>
            <a:r>
              <a:rPr sz="3525" b="1">
                <a:solidFill>
                  <a:srgbClr val="082653"/>
                </a:solidFill>
              </a:rPr>
              <a:t>END-TO-END PROJECT</a:t>
            </a:r>
          </a:p>
        </p:txBody>
      </p:sp>
      <p:sp>
        <p:nvSpPr>
          <p:cNvPr id="5" name="slide-08-subtitle">
            <a:extLst xmlns:a="http://schemas.openxmlformats.org/drawingml/2006/main">
              <a:ext uri="{FF2B5EF4-FFF2-40B4-BE49-F238E27FC236}">
                <a16:creationId xmlns:a16="http://schemas.microsoft.com/office/drawing/2014/main" id="{1D1B8AF7-AD6B-4555-B419-020749D64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From raw logistics data to business recommendations, the complete analytical workflow is structured for GitHub.</a:t>
            </a:r>
          </a:p>
        </p:txBody>
      </p:sp>
      <p:sp>
        <p:nvSpPr>
          <p:cNvPr id="6" name="repository-hero">
            <a:extLst xmlns:a="http://schemas.openxmlformats.org/drawingml/2006/main">
              <a:ext uri="{FF2B5EF4-FFF2-40B4-BE49-F238E27FC236}">
                <a16:creationId xmlns:a16="http://schemas.microsoft.com/office/drawing/2014/main" id="{1BA3ECC8-AA99-4D3B-BE14-8F0D0D7D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8915400" cy="3467100"/>
          </a:xfrm>
          <a:prstGeom xmlns:a="http://schemas.openxmlformats.org/drawingml/2006/main" prst="roundRect">
            <a:avLst>
              <a:gd name="adj" fmla="val 2198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pository-icon-bg">
            <a:extLst xmlns:a="http://schemas.openxmlformats.org/drawingml/2006/main">
              <a:ext uri="{FF2B5EF4-FFF2-40B4-BE49-F238E27FC236}">
                <a16:creationId xmlns:a16="http://schemas.microsoft.com/office/drawing/2014/main" id="{392B83D3-3381-4BC4-856B-7ABC3B3D4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62400"/>
            <a:ext cx="1638300" cy="1638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2F80ED"/>
            </a:solidFill>
            <a:prstDash val="solid"/>
          </a:ln>
        </p:spPr>
      </p:sp>
      <p:sp>
        <p:nvSpPr>
          <p:cNvPr id="8" name="repository-icon">
            <a:extLst xmlns:a="http://schemas.openxmlformats.org/drawingml/2006/main">
              <a:ext uri="{FF2B5EF4-FFF2-40B4-BE49-F238E27FC236}">
                <a16:creationId xmlns:a16="http://schemas.microsoft.com/office/drawing/2014/main" id="{5D355682-6EB9-4AE5-80E9-916F4DC4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00550"/>
            <a:ext cx="1638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082653"/>
                </a:solidFill>
              </a:defRPr>
            </a:pPr>
            <a:r>
              <a:rPr sz="3600" b="1">
                <a:solidFill>
                  <a:srgbClr val="082653"/>
                </a:solidFill>
              </a:rPr>
              <a:t>&lt;/&gt;</a:t>
            </a:r>
          </a:p>
        </p:txBody>
      </p:sp>
      <p:sp>
        <p:nvSpPr>
          <p:cNvPr id="9" name="repository-platform">
            <a:extLst xmlns:a="http://schemas.openxmlformats.org/drawingml/2006/main">
              <a:ext uri="{FF2B5EF4-FFF2-40B4-BE49-F238E27FC236}">
                <a16:creationId xmlns:a16="http://schemas.microsoft.com/office/drawing/2014/main" id="{F7AADA68-EC4C-4CA5-92C3-FF171D99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54A3"/>
                </a:solidFill>
              </a:defRPr>
            </a:pPr>
            <a:r>
              <a:rPr sz="1200" b="1">
                <a:solidFill>
                  <a:srgbClr val="1554A3"/>
                </a:solidFill>
              </a:rPr>
              <a:t>GITHUB</a:t>
            </a:r>
          </a:p>
        </p:txBody>
      </p:sp>
      <p:sp>
        <p:nvSpPr>
          <p:cNvPr id="10" name="repository-owner">
            <a:extLst xmlns:a="http://schemas.openxmlformats.org/drawingml/2006/main">
              <a:ext uri="{FF2B5EF4-FFF2-40B4-BE49-F238E27FC236}">
                <a16:creationId xmlns:a16="http://schemas.microsoft.com/office/drawing/2014/main" id="{39B806C2-A51C-40B6-9714-CA86826C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8862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9FB9DF"/>
                </a:solidFill>
              </a:defRPr>
            </a:pPr>
            <a:r>
              <a:rPr sz="1200" b="1">
                <a:solidFill>
                  <a:srgbClr val="9FB9DF"/>
                </a:solidFill>
              </a:rPr>
              <a:t>MOHAMEDTAREK00212  /</a:t>
            </a:r>
          </a:p>
        </p:txBody>
      </p:sp>
      <p:sp>
        <p:nvSpPr>
          <p:cNvPr id="11" name="repository-name">
            <a:extLst xmlns:a="http://schemas.openxmlformats.org/drawingml/2006/main">
              <a:ext uri="{FF2B5EF4-FFF2-40B4-BE49-F238E27FC236}">
                <a16:creationId xmlns:a16="http://schemas.microsoft.com/office/drawing/2014/main" id="{D071F788-5A68-44B6-AD71-E5A4D509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21005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Transportation-Logistics</a:t>
            </a:r>
          </a:p>
        </p:txBody>
      </p:sp>
      <p:sp>
        <p:nvSpPr>
          <p:cNvPr id="12" name="repository-description">
            <a:extLst xmlns:a="http://schemas.openxmlformats.org/drawingml/2006/main">
              <a:ext uri="{FF2B5EF4-FFF2-40B4-BE49-F238E27FC236}">
                <a16:creationId xmlns:a16="http://schemas.microsoft.com/office/drawing/2014/main" id="{3B8461B9-82E0-4F84-82AE-7D9EFB70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819650"/>
            <a:ext cx="581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DE8F8"/>
                </a:solidFill>
              </a:defRPr>
            </a:pPr>
            <a:r>
              <a:rPr sz="1500">
                <a:solidFill>
                  <a:srgbClr val="DDE8F8"/>
                </a:solidFill>
              </a:rPr>
              <a:t>Transportation &amp; Logistics Analytics</a:t>
            </a:r>
          </a:p>
          <a:p xmlns:a="http://schemas.openxmlformats.org/drawingml/2006/main">
            <a:pPr>
              <a:defRPr sz="1500">
                <a:solidFill>
                  <a:srgbClr val="DDE8F8"/>
                </a:solidFill>
              </a:defRPr>
            </a:pPr>
            <a:r>
              <a:rPr sz="1500">
                <a:solidFill>
                  <a:srgbClr val="DDE8F8"/>
                </a:solidFill>
              </a:rPr>
              <a:t>End-to-End Data Analytics and BI Case Study</a:t>
            </a:r>
          </a:p>
        </p:txBody>
      </p:sp>
      <p:sp>
        <p:nvSpPr>
          <p:cNvPr id="13" name="repository-link-bg">
            <a:extLst xmlns:a="http://schemas.openxmlformats.org/drawingml/2006/main">
              <a:ext uri="{FF2B5EF4-FFF2-40B4-BE49-F238E27FC236}">
                <a16:creationId xmlns:a16="http://schemas.microsoft.com/office/drawing/2014/main" id="{2163F4A9-1FB2-4162-BE8B-1EA377870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791200"/>
            <a:ext cx="5810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epository-link-label">
            <a:extLst xmlns:a="http://schemas.openxmlformats.org/drawingml/2006/main">
              <a:ext uri="{FF2B5EF4-FFF2-40B4-BE49-F238E27FC236}">
                <a16:creationId xmlns:a16="http://schemas.microsoft.com/office/drawing/2014/main" id="{22846D93-E707-4FD6-8E75-8550F65E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9055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VIEW THE PROJECT</a:t>
            </a:r>
          </a:p>
        </p:txBody>
      </p:sp>
      <p:sp>
        <p:nvSpPr>
          <p:cNvPr id="15" name="repository-link">
            <a:extLst xmlns:a="http://schemas.openxmlformats.org/drawingml/2006/main">
              <a:ext uri="{FF2B5EF4-FFF2-40B4-BE49-F238E27FC236}">
                <a16:creationId xmlns:a16="http://schemas.microsoft.com/office/drawing/2014/main" id="{98B5113C-5AFA-43C7-9969-E202FFB7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6172200"/>
            <a:ext cx="539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github.com/Mohamedtarek00212/Transportation-Logistics</a:t>
            </a:r>
          </a:p>
        </p:txBody>
      </p:sp>
      <p:sp>
        <p:nvSpPr>
          <p:cNvPr id="16" name="linkedin-link">
            <a:extLst xmlns:a="http://schemas.openxmlformats.org/drawingml/2006/main">
              <a:ext uri="{FF2B5EF4-FFF2-40B4-BE49-F238E27FC236}">
                <a16:creationId xmlns:a16="http://schemas.microsoft.com/office/drawing/2014/main" id="{55754416-8CA2-4CCC-AECD-9763DE5A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6619875"/>
            <a:ext cx="539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9E7F7"/>
                </a:solidFill>
              </a:defRPr>
            </a:pPr>
            <a:r>
              <a:rPr sz="1050" b="1">
                <a:solidFill>
                  <a:srgbClr val="D9E7F7"/>
                </a:solidFill>
              </a:rPr>
              <a:t>LINKEDIN  |  linkedin.com/in/mohamedtarek-aboelkhir</a:t>
            </a:r>
          </a:p>
        </p:txBody>
      </p:sp>
      <p:sp>
        <p:nvSpPr>
          <p:cNvPr id="17" name="scope-label">
            <a:extLst xmlns:a="http://schemas.openxmlformats.org/drawingml/2006/main">
              <a:ext uri="{FF2B5EF4-FFF2-40B4-BE49-F238E27FC236}">
                <a16:creationId xmlns:a16="http://schemas.microsoft.com/office/drawing/2014/main" id="{28F42EAB-9984-491C-9E62-934DD9A5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3425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554A3"/>
                </a:solidFill>
              </a:defRPr>
            </a:pPr>
            <a:r>
              <a:rPr sz="1275" b="1">
                <a:solidFill>
                  <a:srgbClr val="1554A3"/>
                </a:solidFill>
              </a:rPr>
              <a:t>END-TO-END PROJECT SCOPE</a:t>
            </a:r>
          </a:p>
        </p:txBody>
      </p:sp>
      <p:sp>
        <p:nvSpPr>
          <p:cNvPr id="18" name="scope-0">
            <a:extLst xmlns:a="http://schemas.openxmlformats.org/drawingml/2006/main">
              <a:ext uri="{FF2B5EF4-FFF2-40B4-BE49-F238E27FC236}">
                <a16:creationId xmlns:a16="http://schemas.microsoft.com/office/drawing/2014/main" id="{8572C1F0-491F-45D6-9D27-4C9B3667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19" name="scope-0-number-bg">
            <a:extLst xmlns:a="http://schemas.openxmlformats.org/drawingml/2006/main">
              <a:ext uri="{FF2B5EF4-FFF2-40B4-BE49-F238E27FC236}">
                <a16:creationId xmlns:a16="http://schemas.microsoft.com/office/drawing/2014/main" id="{5B10B984-64CD-4338-AF28-FA47D0F0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8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scope-0-number">
            <a:extLst xmlns:a="http://schemas.openxmlformats.org/drawingml/2006/main">
              <a:ext uri="{FF2B5EF4-FFF2-40B4-BE49-F238E27FC236}">
                <a16:creationId xmlns:a16="http://schemas.microsoft.com/office/drawing/2014/main" id="{0F6BCDD9-8EFD-450F-B4F6-A64E8A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086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21" name="scope-0-title">
            <a:extLst xmlns:a="http://schemas.openxmlformats.org/drawingml/2006/main">
              <a:ext uri="{FF2B5EF4-FFF2-40B4-BE49-F238E27FC236}">
                <a16:creationId xmlns:a16="http://schemas.microsoft.com/office/drawing/2014/main" id="{D9763755-B362-44E8-B808-DC8DD2CF8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79819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CLEANED DATASET</a:t>
            </a:r>
          </a:p>
        </p:txBody>
      </p:sp>
      <p:sp>
        <p:nvSpPr>
          <p:cNvPr id="22" name="scope-0-body">
            <a:extLst xmlns:a="http://schemas.openxmlformats.org/drawingml/2006/main">
              <a:ext uri="{FF2B5EF4-FFF2-40B4-BE49-F238E27FC236}">
                <a16:creationId xmlns:a16="http://schemas.microsoft.com/office/drawing/2014/main" id="{778D0B83-80B3-4AC9-B299-5A6792867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82867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Validated analysis-ready records</a:t>
            </a:r>
          </a:p>
        </p:txBody>
      </p:sp>
      <p:sp>
        <p:nvSpPr>
          <p:cNvPr id="23" name="scope-1">
            <a:extLst xmlns:a="http://schemas.openxmlformats.org/drawingml/2006/main">
              <a:ext uri="{FF2B5EF4-FFF2-40B4-BE49-F238E27FC236}">
                <a16:creationId xmlns:a16="http://schemas.microsoft.com/office/drawing/2014/main" id="{2A7120F8-7D6F-45D6-AA57-28417E7F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78105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4" name="scope-1-number-bg">
            <a:extLst xmlns:a="http://schemas.openxmlformats.org/drawingml/2006/main">
              <a:ext uri="{FF2B5EF4-FFF2-40B4-BE49-F238E27FC236}">
                <a16:creationId xmlns:a16="http://schemas.microsoft.com/office/drawing/2014/main" id="{53FCC9FF-CF28-4A3F-8E28-A5AE9FA9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798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cope-1-number">
            <a:extLst xmlns:a="http://schemas.openxmlformats.org/drawingml/2006/main">
              <a:ext uri="{FF2B5EF4-FFF2-40B4-BE49-F238E27FC236}">
                <a16:creationId xmlns:a16="http://schemas.microsoft.com/office/drawing/2014/main" id="{29D22DDF-2999-44D0-AF40-D29DB336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8086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6" name="scope-1-title">
            <a:extLst xmlns:a="http://schemas.openxmlformats.org/drawingml/2006/main">
              <a:ext uri="{FF2B5EF4-FFF2-40B4-BE49-F238E27FC236}">
                <a16:creationId xmlns:a16="http://schemas.microsoft.com/office/drawing/2014/main" id="{012F735B-122E-4FC6-906A-31EC9919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79819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EDA NOTEBOOK</a:t>
            </a:r>
          </a:p>
        </p:txBody>
      </p:sp>
      <p:sp>
        <p:nvSpPr>
          <p:cNvPr id="27" name="scope-1-body">
            <a:extLst xmlns:a="http://schemas.openxmlformats.org/drawingml/2006/main">
              <a:ext uri="{FF2B5EF4-FFF2-40B4-BE49-F238E27FC236}">
                <a16:creationId xmlns:a16="http://schemas.microsoft.com/office/drawing/2014/main" id="{ECF8C75C-14F8-4DE7-90A2-EB49DD5F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82867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Cleaning, exploration, and findings</a:t>
            </a:r>
          </a:p>
        </p:txBody>
      </p:sp>
      <p:sp>
        <p:nvSpPr>
          <p:cNvPr id="28" name="scope-2">
            <a:extLst xmlns:a="http://schemas.openxmlformats.org/drawingml/2006/main">
              <a:ext uri="{FF2B5EF4-FFF2-40B4-BE49-F238E27FC236}">
                <a16:creationId xmlns:a16="http://schemas.microsoft.com/office/drawing/2014/main" id="{AB007498-584D-4BBE-8BEA-8B9561FB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78105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9" name="scope-2-number-bg">
            <a:extLst xmlns:a="http://schemas.openxmlformats.org/drawingml/2006/main">
              <a:ext uri="{FF2B5EF4-FFF2-40B4-BE49-F238E27FC236}">
                <a16:creationId xmlns:a16="http://schemas.microsoft.com/office/drawing/2014/main" id="{C0607C43-AD17-47AA-88D4-1A45B818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798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scope-2-number">
            <a:extLst xmlns:a="http://schemas.openxmlformats.org/drawingml/2006/main">
              <a:ext uri="{FF2B5EF4-FFF2-40B4-BE49-F238E27FC236}">
                <a16:creationId xmlns:a16="http://schemas.microsoft.com/office/drawing/2014/main" id="{EC01428C-65BD-4AEA-A9DC-F1BC6D506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8086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31" name="scope-2-title">
            <a:extLst xmlns:a="http://schemas.openxmlformats.org/drawingml/2006/main">
              <a:ext uri="{FF2B5EF4-FFF2-40B4-BE49-F238E27FC236}">
                <a16:creationId xmlns:a16="http://schemas.microsoft.com/office/drawing/2014/main" id="{BA5EC5DA-67AA-4045-B6D9-09B1F3AB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79819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SQL DATABASE</a:t>
            </a:r>
          </a:p>
        </p:txBody>
      </p:sp>
      <p:sp>
        <p:nvSpPr>
          <p:cNvPr id="32" name="scope-2-body">
            <a:extLst xmlns:a="http://schemas.openxmlformats.org/drawingml/2006/main">
              <a:ext uri="{FF2B5EF4-FFF2-40B4-BE49-F238E27FC236}">
                <a16:creationId xmlns:a16="http://schemas.microsoft.com/office/drawing/2014/main" id="{270FA212-22FB-4FC7-8974-51E26B78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82867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ERD, 13 tables, and 10 queries</a:t>
            </a:r>
          </a:p>
        </p:txBody>
      </p:sp>
      <p:sp>
        <p:nvSpPr>
          <p:cNvPr id="33" name="scope-3">
            <a:extLst xmlns:a="http://schemas.openxmlformats.org/drawingml/2006/main">
              <a:ext uri="{FF2B5EF4-FFF2-40B4-BE49-F238E27FC236}">
                <a16:creationId xmlns:a16="http://schemas.microsoft.com/office/drawing/2014/main" id="{FE81D0AF-FBDF-406E-912E-72D30737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678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34" name="scope-3-number-bg">
            <a:extLst xmlns:a="http://schemas.openxmlformats.org/drawingml/2006/main">
              <a:ext uri="{FF2B5EF4-FFF2-40B4-BE49-F238E27FC236}">
                <a16:creationId xmlns:a16="http://schemas.microsoft.com/office/drawing/2014/main" id="{A22E3830-E1AB-4E12-B9D4-CF07A42F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239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3B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scope-3-number">
            <a:extLst xmlns:a="http://schemas.openxmlformats.org/drawingml/2006/main">
              <a:ext uri="{FF2B5EF4-FFF2-40B4-BE49-F238E27FC236}">
                <a16:creationId xmlns:a16="http://schemas.microsoft.com/office/drawing/2014/main" id="{30539A6C-DDF8-4C21-AD2C-B65D2E80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3440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6" name="scope-3-title">
            <a:extLst xmlns:a="http://schemas.openxmlformats.org/drawingml/2006/main">
              <a:ext uri="{FF2B5EF4-FFF2-40B4-BE49-F238E27FC236}">
                <a16:creationId xmlns:a16="http://schemas.microsoft.com/office/drawing/2014/main" id="{007D8AF1-62FA-4A43-B88D-28E0D361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92392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QUERY OUTPUTS</a:t>
            </a:r>
          </a:p>
        </p:txBody>
      </p:sp>
      <p:sp>
        <p:nvSpPr>
          <p:cNvPr id="37" name="scope-3-body">
            <a:extLst xmlns:a="http://schemas.openxmlformats.org/drawingml/2006/main">
              <a:ext uri="{FF2B5EF4-FFF2-40B4-BE49-F238E27FC236}">
                <a16:creationId xmlns:a16="http://schemas.microsoft.com/office/drawing/2014/main" id="{15CE8BDD-6668-416D-964E-92F19D2D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95440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Evidence from analytical SQL</a:t>
            </a:r>
          </a:p>
        </p:txBody>
      </p:sp>
      <p:sp>
        <p:nvSpPr>
          <p:cNvPr id="38" name="scope-4">
            <a:extLst xmlns:a="http://schemas.openxmlformats.org/drawingml/2006/main">
              <a:ext uri="{FF2B5EF4-FFF2-40B4-BE49-F238E27FC236}">
                <a16:creationId xmlns:a16="http://schemas.microsoft.com/office/drawing/2014/main" id="{B4D3A563-BB58-45FA-9657-46666A661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90678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39" name="scope-4-number-bg">
            <a:extLst xmlns:a="http://schemas.openxmlformats.org/drawingml/2006/main">
              <a:ext uri="{FF2B5EF4-FFF2-40B4-BE49-F238E27FC236}">
                <a16:creationId xmlns:a16="http://schemas.microsoft.com/office/drawing/2014/main" id="{11858B22-8E1E-46F5-9A8C-9BA47F89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9239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scope-4-number">
            <a:extLst xmlns:a="http://schemas.openxmlformats.org/drawingml/2006/main">
              <a:ext uri="{FF2B5EF4-FFF2-40B4-BE49-F238E27FC236}">
                <a16:creationId xmlns:a16="http://schemas.microsoft.com/office/drawing/2014/main" id="{4AF648B6-62B9-47B4-B468-7E995481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93440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41" name="scope-4-title">
            <a:extLst xmlns:a="http://schemas.openxmlformats.org/drawingml/2006/main">
              <a:ext uri="{FF2B5EF4-FFF2-40B4-BE49-F238E27FC236}">
                <a16:creationId xmlns:a16="http://schemas.microsoft.com/office/drawing/2014/main" id="{519054BA-495F-44FB-863B-02DB906AE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92392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POWER BI</a:t>
            </a:r>
          </a:p>
        </p:txBody>
      </p:sp>
      <p:sp>
        <p:nvSpPr>
          <p:cNvPr id="42" name="scope-4-body">
            <a:extLst xmlns:a="http://schemas.openxmlformats.org/drawingml/2006/main">
              <a:ext uri="{FF2B5EF4-FFF2-40B4-BE49-F238E27FC236}">
                <a16:creationId xmlns:a16="http://schemas.microsoft.com/office/drawing/2014/main" id="{3F7389F1-0ABF-4B52-A36B-30ED3E7D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95440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Three interactive dashboard views</a:t>
            </a:r>
          </a:p>
        </p:txBody>
      </p:sp>
      <p:sp>
        <p:nvSpPr>
          <p:cNvPr id="43" name="scope-5">
            <a:extLst xmlns:a="http://schemas.openxmlformats.org/drawingml/2006/main">
              <a:ext uri="{FF2B5EF4-FFF2-40B4-BE49-F238E27FC236}">
                <a16:creationId xmlns:a16="http://schemas.microsoft.com/office/drawing/2014/main" id="{CCDA4F43-84ED-439A-BF70-7C6BD89E3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90678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44" name="scope-5-number-bg">
            <a:extLst xmlns:a="http://schemas.openxmlformats.org/drawingml/2006/main">
              <a:ext uri="{FF2B5EF4-FFF2-40B4-BE49-F238E27FC236}">
                <a16:creationId xmlns:a16="http://schemas.microsoft.com/office/drawing/2014/main" id="{5C69223C-4744-4992-B459-7A7B777B9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9239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scope-5-number">
            <a:extLst xmlns:a="http://schemas.openxmlformats.org/drawingml/2006/main">
              <a:ext uri="{FF2B5EF4-FFF2-40B4-BE49-F238E27FC236}">
                <a16:creationId xmlns:a16="http://schemas.microsoft.com/office/drawing/2014/main" id="{CF533168-8280-447A-82FB-F0E7EE80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93440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46" name="scope-5-title">
            <a:extLst xmlns:a="http://schemas.openxmlformats.org/drawingml/2006/main">
              <a:ext uri="{FF2B5EF4-FFF2-40B4-BE49-F238E27FC236}">
                <a16:creationId xmlns:a16="http://schemas.microsoft.com/office/drawing/2014/main" id="{939EE2D0-FF1F-4D23-9BC7-15210119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92392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REPORT &amp; STORY</a:t>
            </a:r>
          </a:p>
        </p:txBody>
      </p:sp>
      <p:sp>
        <p:nvSpPr>
          <p:cNvPr id="47" name="scope-5-body">
            <a:extLst xmlns:a="http://schemas.openxmlformats.org/drawingml/2006/main">
              <a:ext uri="{FF2B5EF4-FFF2-40B4-BE49-F238E27FC236}">
                <a16:creationId xmlns:a16="http://schemas.microsoft.com/office/drawing/2014/main" id="{14D6D741-F0C0-47DE-BF96-B96D360D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95440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Arabic report and business narrative</a:t>
            </a:r>
          </a:p>
        </p:txBody>
      </p:sp>
      <p:sp>
        <p:nvSpPr>
          <p:cNvPr id="48" name="project-pipeline">
            <a:extLst xmlns:a="http://schemas.openxmlformats.org/drawingml/2006/main">
              <a:ext uri="{FF2B5EF4-FFF2-40B4-BE49-F238E27FC236}">
                <a16:creationId xmlns:a16="http://schemas.microsoft.com/office/drawing/2014/main" id="{9FB4980C-993D-477C-93B4-16D67C67D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0"/>
            <a:ext cx="8915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49" name="pipeline-label">
            <a:extLst xmlns:a="http://schemas.openxmlformats.org/drawingml/2006/main">
              <a:ext uri="{FF2B5EF4-FFF2-40B4-BE49-F238E27FC236}">
                <a16:creationId xmlns:a16="http://schemas.microsoft.com/office/drawing/2014/main" id="{76D8915B-4EF7-47A6-9D17-589738D9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6489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54A3"/>
                </a:solidFill>
              </a:defRPr>
            </a:pPr>
            <a:r>
              <a:rPr sz="1050" b="1">
                <a:solidFill>
                  <a:srgbClr val="1554A3"/>
                </a:solidFill>
              </a:rPr>
              <a:t>PROJECT JOURNEY</a:t>
            </a:r>
          </a:p>
        </p:txBody>
      </p:sp>
      <p:sp>
        <p:nvSpPr>
          <p:cNvPr id="50" name="pipeline-step-0">
            <a:extLst xmlns:a="http://schemas.openxmlformats.org/drawingml/2006/main">
              <a:ext uri="{FF2B5EF4-FFF2-40B4-BE49-F238E27FC236}">
                <a16:creationId xmlns:a16="http://schemas.microsoft.com/office/drawing/2014/main" id="{CF983221-A164-4DB2-B045-55E8667F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pipeline-step-0-text">
            <a:extLst xmlns:a="http://schemas.openxmlformats.org/drawingml/2006/main">
              <a:ext uri="{FF2B5EF4-FFF2-40B4-BE49-F238E27FC236}">
                <a16:creationId xmlns:a16="http://schemas.microsoft.com/office/drawing/2014/main" id="{466CF7C7-F65F-4D1C-A901-CE60D0264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52" name="pipeline-arrow-0">
            <a:extLst xmlns:a="http://schemas.openxmlformats.org/drawingml/2006/main">
              <a:ext uri="{FF2B5EF4-FFF2-40B4-BE49-F238E27FC236}">
                <a16:creationId xmlns:a16="http://schemas.microsoft.com/office/drawing/2014/main" id="{8B3309AF-EBCD-440A-97B3-364F48BC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53" name="pipeline-step-1">
            <a:extLst xmlns:a="http://schemas.openxmlformats.org/drawingml/2006/main">
              <a:ext uri="{FF2B5EF4-FFF2-40B4-BE49-F238E27FC236}">
                <a16:creationId xmlns:a16="http://schemas.microsoft.com/office/drawing/2014/main" id="{732C56CE-3055-4F9A-9A18-DB28E7F6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pipeline-step-1-text">
            <a:extLst xmlns:a="http://schemas.openxmlformats.org/drawingml/2006/main">
              <a:ext uri="{FF2B5EF4-FFF2-40B4-BE49-F238E27FC236}">
                <a16:creationId xmlns:a16="http://schemas.microsoft.com/office/drawing/2014/main" id="{77EC07B8-8697-453E-BE23-B8D61A22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EDA</a:t>
            </a:r>
          </a:p>
        </p:txBody>
      </p:sp>
      <p:sp>
        <p:nvSpPr>
          <p:cNvPr id="55" name="pipeline-arrow-1">
            <a:extLst xmlns:a="http://schemas.openxmlformats.org/drawingml/2006/main">
              <a:ext uri="{FF2B5EF4-FFF2-40B4-BE49-F238E27FC236}">
                <a16:creationId xmlns:a16="http://schemas.microsoft.com/office/drawing/2014/main" id="{5D5FD44F-963C-4A84-8A4A-52AE5D9A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56" name="pipeline-step-2">
            <a:extLst xmlns:a="http://schemas.openxmlformats.org/drawingml/2006/main">
              <a:ext uri="{FF2B5EF4-FFF2-40B4-BE49-F238E27FC236}">
                <a16:creationId xmlns:a16="http://schemas.microsoft.com/office/drawing/2014/main" id="{9630FBE6-3D13-4D0A-B889-BF80D237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pipeline-step-2-text">
            <a:extLst xmlns:a="http://schemas.openxmlformats.org/drawingml/2006/main">
              <a:ext uri="{FF2B5EF4-FFF2-40B4-BE49-F238E27FC236}">
                <a16:creationId xmlns:a16="http://schemas.microsoft.com/office/drawing/2014/main" id="{4E64A8E2-FD96-4205-BC1A-24A34899D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SQL</a:t>
            </a:r>
          </a:p>
        </p:txBody>
      </p:sp>
      <p:sp>
        <p:nvSpPr>
          <p:cNvPr id="58" name="pipeline-arrow-2">
            <a:extLst xmlns:a="http://schemas.openxmlformats.org/drawingml/2006/main">
              <a:ext uri="{FF2B5EF4-FFF2-40B4-BE49-F238E27FC236}">
                <a16:creationId xmlns:a16="http://schemas.microsoft.com/office/drawing/2014/main" id="{3904CE4B-320C-424A-8658-3A423501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59" name="pipeline-step-3">
            <a:extLst xmlns:a="http://schemas.openxmlformats.org/drawingml/2006/main">
              <a:ext uri="{FF2B5EF4-FFF2-40B4-BE49-F238E27FC236}">
                <a16:creationId xmlns:a16="http://schemas.microsoft.com/office/drawing/2014/main" id="{BC9BEFBA-979D-464A-97D2-4CDD585FC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pipeline-step-3-text">
            <a:extLst xmlns:a="http://schemas.openxmlformats.org/drawingml/2006/main">
              <a:ext uri="{FF2B5EF4-FFF2-40B4-BE49-F238E27FC236}">
                <a16:creationId xmlns:a16="http://schemas.microsoft.com/office/drawing/2014/main" id="{8248D930-E421-4A0F-88EB-D43E871F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POWER BI</a:t>
            </a:r>
          </a:p>
        </p:txBody>
      </p:sp>
      <p:sp>
        <p:nvSpPr>
          <p:cNvPr id="61" name="pipeline-arrow-3">
            <a:extLst xmlns:a="http://schemas.openxmlformats.org/drawingml/2006/main">
              <a:ext uri="{FF2B5EF4-FFF2-40B4-BE49-F238E27FC236}">
                <a16:creationId xmlns:a16="http://schemas.microsoft.com/office/drawing/2014/main" id="{7397CB1B-BCB5-4B31-BD4E-99F6EBED7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62" name="pipeline-step-4">
            <a:extLst xmlns:a="http://schemas.openxmlformats.org/drawingml/2006/main">
              <a:ext uri="{FF2B5EF4-FFF2-40B4-BE49-F238E27FC236}">
                <a16:creationId xmlns:a16="http://schemas.microsoft.com/office/drawing/2014/main" id="{602DF567-D15C-4070-B62F-266CC931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pipeline-step-4-text">
            <a:extLst xmlns:a="http://schemas.openxmlformats.org/drawingml/2006/main">
              <a:ext uri="{FF2B5EF4-FFF2-40B4-BE49-F238E27FC236}">
                <a16:creationId xmlns:a16="http://schemas.microsoft.com/office/drawing/2014/main" id="{2F050AA4-1F90-4578-90CB-B70DEFCE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DECISIONS</a:t>
            </a:r>
          </a:p>
        </p:txBody>
      </p:sp>
      <p:sp>
        <p:nvSpPr>
          <p:cNvPr id="64" name="slide-08-footer-left">
            <a:extLst xmlns:a="http://schemas.openxmlformats.org/drawingml/2006/main">
              <a:ext uri="{FF2B5EF4-FFF2-40B4-BE49-F238E27FC236}">
                <a16:creationId xmlns:a16="http://schemas.microsoft.com/office/drawing/2014/main" id="{5C4867F2-0131-4554-8A5F-0A6CCC59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65" name="slide-08-footer-right">
            <a:extLst xmlns:a="http://schemas.openxmlformats.org/drawingml/2006/main">
              <a:ext uri="{FF2B5EF4-FFF2-40B4-BE49-F238E27FC236}">
                <a16:creationId xmlns:a16="http://schemas.microsoft.com/office/drawing/2014/main" id="{877432D8-9475-499A-81D3-E0816612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6910776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2026-08-31T14:10:41.2500000Z</dcterms:created>
  <dcterms:modified xsi:type="dcterms:W3CDTF">2026-08-31T14:10:41.2500000Z</dcterms:modified>
</coreProperties>
</file>